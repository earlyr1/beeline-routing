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0"/>
  </p:notesMasterIdLst>
  <p:handoutMasterIdLst>
    <p:handoutMasterId r:id="rId21"/>
  </p:handoutMasterIdLst>
  <p:sldIdLst>
    <p:sldId id="365" r:id="rId2"/>
    <p:sldId id="366" r:id="rId3"/>
    <p:sldId id="362" r:id="rId4"/>
    <p:sldId id="364" r:id="rId5"/>
    <p:sldId id="375" r:id="rId6"/>
    <p:sldId id="376" r:id="rId7"/>
    <p:sldId id="377" r:id="rId8"/>
    <p:sldId id="378" r:id="rId9"/>
    <p:sldId id="379" r:id="rId10"/>
    <p:sldId id="380" r:id="rId11"/>
    <p:sldId id="381" r:id="rId12"/>
    <p:sldId id="382" r:id="rId13"/>
    <p:sldId id="383" r:id="rId14"/>
    <p:sldId id="384" r:id="rId15"/>
    <p:sldId id="385" r:id="rId16"/>
    <p:sldId id="386" r:id="rId17"/>
    <p:sldId id="387" r:id="rId18"/>
    <p:sldId id="388" r:id="rId19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 xmlns="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 xmlns="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 xmlns="">
          <a:srgbClr val="FF0000"/>
        </p14:laserClr>
      </p:ext>
      <p:ext uri="{2FDB2607-1784-4EEB-B798-7EB5836EED8A}">
        <p14:showMediaCtrls xmlns:p14="http://schemas.microsoft.com/office/powerpoint/2010/main" xmlns="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6583" autoAdjust="0"/>
    <p:restoredTop sz="95839"/>
  </p:normalViewPr>
  <p:slideViewPr>
    <p:cSldViewPr snapToGrid="0" showGuides="1">
      <p:cViewPr varScale="1">
        <p:scale>
          <a:sx n="111" d="100"/>
          <a:sy n="111" d="100"/>
        </p:scale>
        <p:origin x="-462" y="-90"/>
      </p:cViewPr>
      <p:guideLst>
        <p:guide orient="horz" pos="2160"/>
        <p:guide pos="597"/>
        <p:guide pos="3591"/>
        <p:guide pos="5496"/>
        <p:guide pos="4112"/>
        <p:guide pos="393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3736200" cy="7373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_____Microsoft_Office_Excel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_____Microsoft_Office_Excel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_____Microsoft_Office_Excel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_____Microsoft_Office_Excel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_____Microsoft_Office_Excel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lang val="ru-RU"/>
  <c:chart>
    <c:autoTitleDeleted val="1"/>
    <c:plotArea>
      <c:layout>
        <c:manualLayout>
          <c:layoutTarget val="inner"/>
          <c:xMode val="edge"/>
          <c:yMode val="edge"/>
          <c:x val="5.1688300241682347E-2"/>
          <c:y val="0.12693525390367638"/>
          <c:w val="0.92608602339057577"/>
          <c:h val="0.66747142271661164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Базовый вариант из ТЗ</c:v>
                </c:pt>
              </c:strCache>
            </c:strRef>
          </c:tx>
          <c:spPr>
            <a:solidFill>
              <a:srgbClr val="A1A1A1"/>
            </a:solidFill>
            <a:ln w="63500">
              <a:noFill/>
            </a:ln>
            <a:effectLst/>
          </c:spPr>
          <c:dLbls>
            <c:numFmt formatCode="0" sourceLinked="0"/>
            <c:txPr>
              <a:bodyPr/>
              <a:lstStyle/>
              <a:p>
                <a:pPr>
                  <a:defRPr sz="1800" b="1">
                    <a:solidFill>
                      <a:srgbClr val="141414"/>
                    </a:solidFill>
                    <a:latin typeface="Montserrat"/>
                  </a:defRPr>
                </a:pPr>
                <a:endParaRPr lang="ru-RU"/>
              </a:p>
            </c:txPr>
            <c:dLblPos val="outEnd"/>
            <c:showVal val="1"/>
          </c:dLbls>
          <c:cat>
            <c:strRef>
              <c:f>Sheet1!$A$2:$A$4</c:f>
              <c:strCache>
                <c:ptCount val="3"/>
                <c:pt idx="0">
                  <c:v>Восток
66 заявок</c:v>
                </c:pt>
                <c:pt idx="1">
                  <c:v>Юго-восток
83 заявки</c:v>
                </c:pt>
                <c:pt idx="2">
                  <c:v>Югоцентр
56 заявок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12</c:v>
                </c:pt>
                <c:pt idx="1">
                  <c:v>12</c:v>
                </c:pt>
                <c:pt idx="2">
                  <c:v>11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Диспетчеры Билайна</c:v>
                </c:pt>
              </c:strCache>
            </c:strRef>
          </c:tx>
          <c:spPr>
            <a:solidFill>
              <a:srgbClr val="141414"/>
            </a:solidFill>
            <a:ln w="63500">
              <a:noFill/>
            </a:ln>
            <a:effectLst/>
          </c:spPr>
          <c:dLbls>
            <c:numFmt formatCode="0" sourceLinked="0"/>
            <c:txPr>
              <a:bodyPr/>
              <a:lstStyle/>
              <a:p>
                <a:pPr>
                  <a:defRPr sz="1800" b="1">
                    <a:solidFill>
                      <a:srgbClr val="141414"/>
                    </a:solidFill>
                    <a:latin typeface="Montserrat"/>
                  </a:defRPr>
                </a:pPr>
                <a:endParaRPr lang="ru-RU"/>
              </a:p>
            </c:txPr>
            <c:dLblPos val="outEnd"/>
            <c:showVal val="1"/>
          </c:dLbls>
          <c:cat>
            <c:strRef>
              <c:f>Sheet1!$A$2:$A$4</c:f>
              <c:strCache>
                <c:ptCount val="3"/>
                <c:pt idx="0">
                  <c:v>Восток
66 заявок</c:v>
                </c:pt>
                <c:pt idx="1">
                  <c:v>Юго-восток
83 заявки</c:v>
                </c:pt>
                <c:pt idx="2">
                  <c:v>Югоцентр
56 заявок</c:v>
                </c:pt>
              </c:strCache>
            </c:strRef>
          </c:cat>
          <c:val>
            <c:numRef>
              <c:f>Sheet1!$C$2:$C$4</c:f>
              <c:numCache>
                <c:formatCode>0.0</c:formatCode>
                <c:ptCount val="3"/>
                <c:pt idx="0">
                  <c:v>12</c:v>
                </c:pt>
                <c:pt idx="1">
                  <c:v>12</c:v>
                </c:pt>
                <c:pt idx="2">
                  <c:v>11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1-AE86-41F6-8A85-7879D9C60F8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Наш план</c:v>
                </c:pt>
              </c:strCache>
            </c:strRef>
          </c:tx>
          <c:spPr>
            <a:solidFill>
              <a:srgbClr val="FFC800"/>
            </a:solidFill>
            <a:ln w="63500">
              <a:noFill/>
            </a:ln>
            <a:effectLst/>
          </c:spPr>
          <c:dLbls>
            <c:numFmt formatCode="0" sourceLinked="0"/>
            <c:txPr>
              <a:bodyPr/>
              <a:lstStyle/>
              <a:p>
                <a:pPr>
                  <a:defRPr sz="1800" b="1">
                    <a:solidFill>
                      <a:srgbClr val="141414"/>
                    </a:solidFill>
                    <a:latin typeface="Montserrat"/>
                  </a:defRPr>
                </a:pPr>
                <a:endParaRPr lang="ru-RU"/>
              </a:p>
            </c:txPr>
            <c:dLblPos val="outEnd"/>
            <c:showVal val="1"/>
          </c:dLbls>
          <c:cat>
            <c:strRef>
              <c:f>Sheet1!$A$2:$A$4</c:f>
              <c:strCache>
                <c:ptCount val="3"/>
                <c:pt idx="0">
                  <c:v>Восток
66 заявок</c:v>
                </c:pt>
                <c:pt idx="1">
                  <c:v>Юго-восток
83 заявки</c:v>
                </c:pt>
                <c:pt idx="2">
                  <c:v>Югоцентр
56 заявок</c:v>
                </c:pt>
              </c:strCache>
            </c:strRef>
          </c:cat>
          <c:val>
            <c:numRef>
              <c:f>Sheet1!$D$2:$D$4</c:f>
              <c:numCache>
                <c:formatCode>0.0</c:formatCode>
                <c:ptCount val="3"/>
                <c:pt idx="0">
                  <c:v>8</c:v>
                </c:pt>
                <c:pt idx="1">
                  <c:v>10</c:v>
                </c:pt>
                <c:pt idx="2">
                  <c:v>6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1-AE86-41F6-8A85-7879D9C60F88}"/>
            </c:ext>
          </c:extLst>
        </c:ser>
        <c:dLbls>
          <c:showVal val="1"/>
        </c:dLbls>
        <c:gapWidth val="80"/>
        <c:overlap val="-15"/>
        <c:axId val="145644544"/>
        <c:axId val="157525888"/>
      </c:barChart>
      <c:catAx>
        <c:axId val="145644544"/>
        <c:scaling>
          <c:orientation val="minMax"/>
        </c:scaling>
        <c:axPos val="b"/>
        <c:numFmt formatCode="General" sourceLinked="1"/>
        <c:majorTickMark val="none"/>
        <c:tickLblPos val="nextTo"/>
        <c:spPr>
          <a:noFill/>
          <a:ln w="9525" cap="flat" cmpd="sng" algn="ctr">
            <a:solidFill>
              <a:srgbClr val="D9D9D9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1" i="0" u="none" strike="noStrike" kern="1200" baseline="0">
                <a:solidFill>
                  <a:srgbClr val="141414"/>
                </a:solidFill>
                <a:latin typeface="Montserrat"/>
                <a:ea typeface="+mn-ea"/>
                <a:cs typeface="+mn-cs"/>
              </a:defRPr>
            </a:pPr>
            <a:endParaRPr lang="ru-RU"/>
          </a:p>
        </c:txPr>
        <c:crossAx val="157525888"/>
        <c:crosses val="autoZero"/>
        <c:auto val="1"/>
        <c:lblAlgn val="ctr"/>
        <c:lblOffset val="100"/>
      </c:catAx>
      <c:valAx>
        <c:axId val="157525888"/>
        <c:scaling>
          <c:orientation val="minMax"/>
          <c:max val="14"/>
          <c:min val="0"/>
        </c:scaling>
        <c:delete val="1"/>
        <c:axPos val="l"/>
        <c:numFmt formatCode="0.0" sourceLinked="1"/>
        <c:majorTickMark val="none"/>
        <c:tickLblPos val="none"/>
        <c:crossAx val="145644544"/>
        <c:crosses val="autoZero"/>
        <c:crossBetween val="between"/>
      </c:valAx>
      <c:spPr>
        <a:noFill/>
        <a:ln w="25400">
          <a:noFill/>
        </a:ln>
        <a:effectLst/>
      </c:spPr>
    </c:plotArea>
    <c:legend>
      <c:legendPos val="b"/>
      <c:layout>
        <c:manualLayout>
          <c:xMode val="edge"/>
          <c:yMode val="edge"/>
          <c:x val="3.0340673321854045E-2"/>
          <c:y val="0.93820074285734656"/>
          <c:w val="0.94740055839426551"/>
          <c:h val="6.179925714265315E-2"/>
        </c:manualLayout>
      </c:layout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rgbClr val="141414"/>
              </a:solidFill>
              <a:latin typeface="Montserra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 xmlns:c16r2="http://schemas.microsoft.com/office/drawing/2015/06/chart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>
          <a:solidFill>
            <a:srgbClr val="141414"/>
          </a:solidFill>
          <a:latin typeface="Montserrat"/>
        </a:defRPr>
      </a:pPr>
      <a:endParaRPr lang="ru-RU"/>
    </a:p>
  </c:txPr>
  <c:externalData r:id="rId1"/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lang val="ru-RU"/>
  <c:chart>
    <c:autoTitleDeleted val="1"/>
    <c:plotArea>
      <c:layout/>
      <c:barChart>
        <c:barDir val="bar"/>
        <c:grouping val="clustered"/>
        <c:ser>
          <c:idx val="1"/>
          <c:order val="0"/>
          <c:tx>
            <c:strRef>
              <c:f>Sheet1!$B$1</c:f>
              <c:strCache>
                <c:ptCount val="1"/>
                <c:pt idx="0">
                  <c:v>Базовый вариант из ТЗ</c:v>
                </c:pt>
              </c:strCache>
            </c:strRef>
          </c:tx>
          <c:spPr>
            <a:solidFill>
              <a:srgbClr val="A1A1A1"/>
            </a:solidFill>
            <a:ln w="9525">
              <a:noFill/>
            </a:ln>
            <a:effectLst/>
          </c:spPr>
          <c:dLbls>
            <c:numFmt formatCode="0" sourceLinked="0"/>
            <c:dLblPos val="outEnd"/>
            <c:showVal val="1"/>
          </c:dLbls>
          <c:cat>
            <c:strRef>
              <c:f>Sheet1!$A$2:$A$4</c:f>
              <c:strCache>
                <c:ptCount val="3"/>
                <c:pt idx="0">
                  <c:v>Восток</c:v>
                </c:pt>
                <c:pt idx="1">
                  <c:v>Юго-восток</c:v>
                </c:pt>
                <c:pt idx="2">
                  <c:v>Югоцентр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359.57</c:v>
                </c:pt>
                <c:pt idx="1">
                  <c:v>1006.69</c:v>
                </c:pt>
                <c:pt idx="2">
                  <c:v>303.78999999999985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ser>
          <c:idx val="2"/>
          <c:order val="1"/>
          <c:tx>
            <c:strRef>
              <c:f>Sheet1!$C$1</c:f>
              <c:strCache>
                <c:ptCount val="1"/>
                <c:pt idx="0">
                  <c:v>Диспетчеры Билайна</c:v>
                </c:pt>
              </c:strCache>
            </c:strRef>
          </c:tx>
          <c:spPr>
            <a:solidFill>
              <a:srgbClr val="141414"/>
            </a:solidFill>
            <a:ln w="63500">
              <a:noFill/>
            </a:ln>
            <a:effectLst/>
          </c:spPr>
          <c:dLbls>
            <c:numFmt formatCode="0" sourceLinked="0"/>
            <c:dLblPos val="outEnd"/>
            <c:showVal val="1"/>
          </c:dLbls>
          <c:cat>
            <c:strRef>
              <c:f>Sheet1!$A$2:$A$4</c:f>
              <c:strCache>
                <c:ptCount val="3"/>
                <c:pt idx="0">
                  <c:v>Восток</c:v>
                </c:pt>
                <c:pt idx="1">
                  <c:v>Юго-восток</c:v>
                </c:pt>
                <c:pt idx="2">
                  <c:v>Югоцентр</c:v>
                </c:pt>
              </c:strCache>
            </c:strRef>
          </c:cat>
          <c:val>
            <c:numRef>
              <c:f>Sheet1!$C$2:$C$4</c:f>
              <c:numCache>
                <c:formatCode>0.0</c:formatCode>
                <c:ptCount val="3"/>
                <c:pt idx="0">
                  <c:v>282.04000000000002</c:v>
                </c:pt>
                <c:pt idx="1">
                  <c:v>342.92999999999984</c:v>
                </c:pt>
                <c:pt idx="2">
                  <c:v>231.73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ser>
          <c:idx val="3"/>
          <c:order val="2"/>
          <c:tx>
            <c:strRef>
              <c:f>Sheet1!$D$1</c:f>
              <c:strCache>
                <c:ptCount val="1"/>
                <c:pt idx="0">
                  <c:v>Наш план</c:v>
                </c:pt>
              </c:strCache>
            </c:strRef>
          </c:tx>
          <c:spPr>
            <a:solidFill>
              <a:srgbClr val="FFC800"/>
            </a:solidFill>
            <a:ln w="63500">
              <a:noFill/>
            </a:ln>
            <a:effectLst/>
          </c:spPr>
          <c:dLbls>
            <c:numFmt formatCode="0" sourceLinked="0"/>
            <c:dLblPos val="outEnd"/>
            <c:showVal val="1"/>
          </c:dLbls>
          <c:cat>
            <c:strRef>
              <c:f>Sheet1!$A$2:$A$4</c:f>
              <c:strCache>
                <c:ptCount val="3"/>
                <c:pt idx="0">
                  <c:v>Восток</c:v>
                </c:pt>
                <c:pt idx="1">
                  <c:v>Юго-восток</c:v>
                </c:pt>
                <c:pt idx="2">
                  <c:v>Югоцентр</c:v>
                </c:pt>
              </c:strCache>
            </c:strRef>
          </c:cat>
          <c:val>
            <c:numRef>
              <c:f>Sheet1!$D$2:$D$4</c:f>
              <c:numCache>
                <c:formatCode>0.0</c:formatCode>
                <c:ptCount val="3"/>
                <c:pt idx="0">
                  <c:v>241.8</c:v>
                </c:pt>
                <c:pt idx="1">
                  <c:v>361.87</c:v>
                </c:pt>
                <c:pt idx="2">
                  <c:v>171.79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showVal val="1"/>
        </c:dLbls>
        <c:gapWidth val="60"/>
        <c:overlap val="-10"/>
        <c:axId val="183964416"/>
        <c:axId val="185482624"/>
      </c:barChart>
      <c:catAx>
        <c:axId val="183964416"/>
        <c:scaling>
          <c:orientation val="maxMin"/>
        </c:scaling>
        <c:axPos val="l"/>
        <c:numFmt formatCode="General" sourceLinked="1"/>
        <c:majorTickMark val="none"/>
        <c:tickLblPos val="nextTo"/>
        <c:spPr>
          <a:noFill/>
          <a:ln w="9525" cap="flat" cmpd="sng" algn="ctr">
            <a:solidFill>
              <a:srgbClr val="D9D9D9"/>
            </a:solidFill>
            <a:round/>
          </a:ln>
          <a:effectLst/>
        </c:spPr>
        <c:txPr>
          <a:bodyPr rot="-60000000" vert="horz"/>
          <a:lstStyle/>
          <a:p>
            <a:pPr>
              <a:defRPr/>
            </a:pPr>
            <a:endParaRPr lang="ru-RU"/>
          </a:p>
        </c:txPr>
        <c:crossAx val="185482624"/>
        <c:crosses val="autoZero"/>
        <c:auto val="1"/>
        <c:lblAlgn val="ctr"/>
        <c:lblOffset val="100"/>
      </c:catAx>
      <c:valAx>
        <c:axId val="185482624"/>
        <c:scaling>
          <c:orientation val="minMax"/>
          <c:max val="1180"/>
          <c:min val="0"/>
        </c:scaling>
        <c:delete val="1"/>
        <c:axPos val="t"/>
        <c:numFmt formatCode="0.0" sourceLinked="1"/>
        <c:majorTickMark val="none"/>
        <c:tickLblPos val="none"/>
        <c:crossAx val="18396441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</c:legend>
    <c:plotVisOnly val="1"/>
    <c:dispBlanksAs val="gap"/>
    <c:extLst xmlns:c16r2="http://schemas.microsoft.com/office/drawing/2015/06/chart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>
          <a:solidFill>
            <a:srgbClr val="141414"/>
          </a:solidFill>
          <a:latin typeface="Montserrat"/>
        </a:defRPr>
      </a:pPr>
      <a:endParaRPr lang="ru-RU"/>
    </a:p>
  </c:txPr>
  <c:externalData r:id="rId1"/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lang val="ru-RU"/>
  <c:chart>
    <c:autoTitleDeleted val="1"/>
    <c:plotArea>
      <c:layout>
        <c:manualLayout>
          <c:layoutTarget val="inner"/>
          <c:xMode val="edge"/>
          <c:yMode val="edge"/>
          <c:x val="4.0000000000000022E-2"/>
          <c:y val="4.0000000000000022E-2"/>
          <c:w val="0.92"/>
          <c:h val="0.92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Базовый вариант из ТЗ</c:v>
                </c:pt>
              </c:strCache>
            </c:strRef>
          </c:tx>
          <c:spPr>
            <a:ln w="63500"/>
          </c:spPr>
          <c:dPt>
            <c:idx val="0"/>
            <c:spPr>
              <a:solidFill>
                <a:srgbClr val="FFC800"/>
              </a:solidFill>
              <a:ln w="63500" cap="rnd">
                <a:solidFill>
                  <a:srgbClr val="FFC800"/>
                </a:solidFill>
              </a:ln>
            </c:spPr>
          </c:dPt>
          <c:dPt>
            <c:idx val="1"/>
            <c:spPr>
              <a:solidFill>
                <a:srgbClr val="141414"/>
              </a:solidFill>
              <a:ln>
                <a:noFill/>
              </a:ln>
            </c:spPr>
          </c:dPt>
          <c:dPt>
            <c:idx val="2"/>
            <c:spPr>
              <a:solidFill>
                <a:srgbClr val="A1A1A1"/>
              </a:solidFill>
              <a:ln w="63500" cap="rnd">
                <a:solidFill>
                  <a:srgbClr val="A1A1A1"/>
                </a:solidFill>
              </a:ln>
            </c:spPr>
          </c:dPt>
          <c:dLbls>
            <c:dLbl>
              <c:idx val="0"/>
              <c:numFmt formatCode="0%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200" b="1">
                      <a:solidFill>
                        <a:srgbClr val="141414"/>
                      </a:solidFill>
                      <a:latin typeface="Montserrat"/>
                    </a:defRPr>
                  </a:pPr>
                  <a:endParaRPr lang="ru-RU"/>
                </a:p>
              </c:txPr>
            </c:dLbl>
            <c:dLbl>
              <c:idx val="1"/>
              <c:delete val="1"/>
            </c:dLbl>
            <c:dLbl>
              <c:idx val="2"/>
              <c:numFmt formatCode="0%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200" b="1">
                      <a:solidFill>
                        <a:srgbClr val="141414"/>
                      </a:solidFill>
                      <a:latin typeface="Montserrat"/>
                    </a:defRPr>
                  </a:pPr>
                  <a:endParaRPr lang="ru-RU"/>
                </a:p>
              </c:txPr>
            </c:dLbl>
            <c:numFmt formatCode="0%" sourceLinked="0"/>
            <c:spPr>
              <a:noFill/>
              <a:ln>
                <a:noFill/>
              </a:ln>
            </c:spPr>
            <c:showPercent val="1"/>
          </c:dLbls>
          <c:cat>
            <c:strRef>
              <c:f>Sheet1!$A$2:$A$4</c:f>
              <c:strCache>
                <c:ptCount val="3"/>
                <c:pt idx="0">
                  <c:v>без нарушений</c:v>
                </c:pt>
                <c:pt idx="1">
                  <c:v>с нарушением окна, смены или плеча</c:v>
                </c:pt>
                <c:pt idx="2">
                  <c:v>без исполнителя</c:v>
                </c:pt>
              </c:strCache>
            </c:strRef>
          </c:cat>
          <c:val>
            <c:numRef>
              <c:f>Sheet1!$B$2:$B$4</c:f>
              <c:numCache>
                <c:formatCode>0</c:formatCode>
                <c:ptCount val="3"/>
                <c:pt idx="0">
                  <c:v>144</c:v>
                </c:pt>
                <c:pt idx="1">
                  <c:v>0</c:v>
                </c:pt>
                <c:pt idx="2">
                  <c:v>61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8-0AC9-4320-A20C-3707168A0262}"/>
            </c:ext>
          </c:extLst>
        </c:ser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zero"/>
    <c:extLst xmlns:c16r2="http://schemas.microsoft.com/office/drawing/2015/06/chart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>
          <a:solidFill>
            <a:srgbClr val="141414"/>
          </a:solidFill>
          <a:latin typeface="Montserrat"/>
        </a:defRPr>
      </a:pPr>
      <a:endParaRPr lang="ru-RU"/>
    </a:p>
  </c:txPr>
  <c:externalData r:id="rId1"/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lang val="ru-RU"/>
  <c:chart>
    <c:autoTitleDeleted val="1"/>
    <c:plotArea>
      <c:layout>
        <c:manualLayout>
          <c:layoutTarget val="inner"/>
          <c:xMode val="edge"/>
          <c:yMode val="edge"/>
          <c:x val="4.0000000000000022E-2"/>
          <c:y val="4.0000000000000022E-2"/>
          <c:w val="0.92"/>
          <c:h val="0.92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Диспетчеры Билайна</c:v>
                </c:pt>
              </c:strCache>
            </c:strRef>
          </c:tx>
          <c:spPr>
            <a:ln w="63500"/>
          </c:spPr>
          <c:dPt>
            <c:idx val="0"/>
            <c:spPr>
              <a:solidFill>
                <a:srgbClr val="FFC800"/>
              </a:solidFill>
              <a:ln w="63500" cap="rnd">
                <a:solidFill>
                  <a:srgbClr val="FFC800"/>
                </a:solidFill>
              </a:ln>
            </c:spPr>
          </c:dPt>
          <c:dPt>
            <c:idx val="1"/>
            <c:spPr>
              <a:solidFill>
                <a:srgbClr val="141414"/>
              </a:solidFill>
              <a:ln w="63500" cap="rnd">
                <a:solidFill>
                  <a:srgbClr val="141414"/>
                </a:solidFill>
              </a:ln>
            </c:spPr>
          </c:dPt>
          <c:dPt>
            <c:idx val="2"/>
            <c:spPr>
              <a:solidFill>
                <a:srgbClr val="A1A1A1"/>
              </a:solidFill>
              <a:ln w="63500" cap="rnd">
                <a:solidFill>
                  <a:srgbClr val="A1A1A1"/>
                </a:solidFill>
              </a:ln>
            </c:spPr>
          </c:dPt>
          <c:dLbls>
            <c:dLbl>
              <c:idx val="0"/>
              <c:numFmt formatCode="0%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200" b="1">
                      <a:solidFill>
                        <a:srgbClr val="141414"/>
                      </a:solidFill>
                      <a:latin typeface="Montserrat"/>
                    </a:defRPr>
                  </a:pPr>
                  <a:endParaRPr lang="ru-RU"/>
                </a:p>
              </c:txPr>
            </c:dLbl>
            <c:dLbl>
              <c:idx val="1"/>
              <c:numFmt formatCode="0%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200" b="1">
                      <a:solidFill>
                        <a:srgbClr val="FFFFFF"/>
                      </a:solidFill>
                      <a:latin typeface="Montserrat"/>
                    </a:defRPr>
                  </a:pPr>
                  <a:endParaRPr lang="ru-RU"/>
                </a:p>
              </c:txPr>
            </c:dLbl>
            <c:dLbl>
              <c:idx val="2"/>
              <c:delete val="1"/>
            </c:dLbl>
            <c:numFmt formatCode="0%" sourceLinked="0"/>
            <c:spPr>
              <a:noFill/>
              <a:ln>
                <a:noFill/>
              </a:ln>
            </c:spPr>
            <c:showPercent val="1"/>
          </c:dLbls>
          <c:cat>
            <c:strRef>
              <c:f>Sheet1!$A$2:$A$4</c:f>
              <c:strCache>
                <c:ptCount val="3"/>
                <c:pt idx="0">
                  <c:v>без нарушений</c:v>
                </c:pt>
                <c:pt idx="1">
                  <c:v>с нарушением окна, смены или плеча</c:v>
                </c:pt>
                <c:pt idx="2">
                  <c:v>без исполнителя</c:v>
                </c:pt>
              </c:strCache>
            </c:strRef>
          </c:cat>
          <c:val>
            <c:numRef>
              <c:f>Sheet1!$B$2:$B$4</c:f>
              <c:numCache>
                <c:formatCode>0</c:formatCode>
                <c:ptCount val="3"/>
                <c:pt idx="0">
                  <c:v>170</c:v>
                </c:pt>
                <c:pt idx="1">
                  <c:v>33</c:v>
                </c:pt>
                <c:pt idx="2">
                  <c:v>2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8-0AC9-4320-A20C-3707168A0262}"/>
            </c:ext>
          </c:extLst>
        </c:ser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zero"/>
    <c:extLst xmlns:c16r2="http://schemas.microsoft.com/office/drawing/2015/06/chart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>
          <a:solidFill>
            <a:srgbClr val="141414"/>
          </a:solidFill>
          <a:latin typeface="Montserrat"/>
        </a:defRPr>
      </a:pPr>
      <a:endParaRPr lang="ru-RU"/>
    </a:p>
  </c:txPr>
  <c:externalData r:id="rId1"/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lang val="ru-RU"/>
  <c:chart>
    <c:autoTitleDeleted val="1"/>
    <c:plotArea>
      <c:layout>
        <c:manualLayout>
          <c:layoutTarget val="inner"/>
          <c:xMode val="edge"/>
          <c:yMode val="edge"/>
          <c:x val="4.0000000000000022E-2"/>
          <c:y val="4.0000000000000022E-2"/>
          <c:w val="0.92"/>
          <c:h val="0.92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Наш план</c:v>
                </c:pt>
              </c:strCache>
            </c:strRef>
          </c:tx>
          <c:spPr>
            <a:ln w="63500"/>
          </c:spPr>
          <c:dPt>
            <c:idx val="0"/>
            <c:spPr>
              <a:solidFill>
                <a:srgbClr val="FFC800"/>
              </a:solidFill>
              <a:ln w="63500" cap="rnd">
                <a:solidFill>
                  <a:srgbClr val="FFC800"/>
                </a:solidFill>
              </a:ln>
            </c:spPr>
          </c:dPt>
          <c:dPt>
            <c:idx val="1"/>
            <c:spPr>
              <a:solidFill>
                <a:srgbClr val="141414"/>
              </a:solidFill>
              <a:ln>
                <a:noFill/>
              </a:ln>
            </c:spPr>
          </c:dPt>
          <c:dPt>
            <c:idx val="2"/>
            <c:spPr>
              <a:solidFill>
                <a:srgbClr val="A1A1A1"/>
              </a:solidFill>
              <a:ln>
                <a:noFill/>
              </a:ln>
            </c:spPr>
          </c:dPt>
          <c:dLbls>
            <c:dLbl>
              <c:idx val="0"/>
              <c:numFmt formatCode="0%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200" b="1">
                      <a:solidFill>
                        <a:srgbClr val="141414"/>
                      </a:solidFill>
                      <a:latin typeface="Montserrat"/>
                    </a:defRPr>
                  </a:pPr>
                  <a:endParaRPr lang="ru-RU"/>
                </a:p>
              </c:txPr>
            </c:dLbl>
            <c:dLbl>
              <c:idx val="1"/>
              <c:delete val="1"/>
            </c:dLbl>
            <c:dLbl>
              <c:idx val="2"/>
              <c:delete val="1"/>
            </c:dLbl>
            <c:numFmt formatCode="0%" sourceLinked="0"/>
            <c:spPr>
              <a:noFill/>
              <a:ln>
                <a:noFill/>
              </a:ln>
            </c:spPr>
            <c:showPercent val="1"/>
          </c:dLbls>
          <c:cat>
            <c:strRef>
              <c:f>Sheet1!$A$2:$A$4</c:f>
              <c:strCache>
                <c:ptCount val="3"/>
                <c:pt idx="0">
                  <c:v>без нарушений</c:v>
                </c:pt>
                <c:pt idx="1">
                  <c:v>с нарушением окна, смены или плеча</c:v>
                </c:pt>
                <c:pt idx="2">
                  <c:v>без исполнителя</c:v>
                </c:pt>
              </c:strCache>
            </c:strRef>
          </c:cat>
          <c:val>
            <c:numRef>
              <c:f>Sheet1!$B$2:$B$4</c:f>
              <c:numCache>
                <c:formatCode>0</c:formatCode>
                <c:ptCount val="3"/>
                <c:pt idx="0">
                  <c:v>205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8-0AC9-4320-A20C-3707168A0262}"/>
            </c:ext>
          </c:extLst>
        </c:ser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zero"/>
    <c:extLst xmlns:c16r2="http://schemas.microsoft.com/office/drawing/2015/06/chart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>
          <a:solidFill>
            <a:srgbClr val="141414"/>
          </a:solidFill>
          <a:latin typeface="Montserrat"/>
        </a:defRPr>
      </a:pPr>
      <a:endParaRPr lang="ru-RU"/>
    </a:p>
  </c:txPr>
  <c:externalData r:id="rId1"/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xmlns="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xmlns="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pPr/>
              <a:t>27.09.2026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xmlns="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xmlns="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pPr/>
              <a:t>27.09.2026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xmlns="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xmlns="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xmlns="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pPr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xmlns="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xmlns="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xmlns="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pPr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xmlns="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xmlns="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xmlns="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xmlns="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xmlns="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xmlns="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xmlns="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xmlns="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xmlns="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xmlns="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xmlns="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xmlns="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xmlns="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xmlns="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xmlns="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xmlns="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xmlns="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xmlns="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xmlns="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xmlns="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xmlns="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xmlns="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xmlns="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xmlns="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xmlns="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xmlns="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xmlns="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xmlns="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xmlns="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xmlns="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xmlns="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xmlns="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xmlns="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xmlns="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xmlns="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xmlns="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xmlns="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xmlns="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xmlns="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xmlns="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xmlns="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xmlns="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xmlns="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xmlns="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xmlns="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xmlns="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xmlns="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xmlns="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xmlns="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xmlns="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xmlns="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xmlns="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xmlns="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xmlns="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xmlns="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xmlns="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xmlns="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xmlns="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xmlns="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xmlns="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xmlns="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xmlns="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xmlns="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xmlns="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xmlns="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xmlns="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xmlns="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xmlns="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xmlns="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xmlns="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xmlns="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xmlns="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xmlns="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xmlns="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xmlns="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xmlns="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xmlns="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xmlns="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xmlns="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xmlns="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xmlns="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xmlns="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xmlns="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xmlns="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xmlns="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xmlns="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xmlns="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xmlns="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xmlns="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xmlns="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xmlns="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xmlns="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xmlns="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xmlns="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xmlns="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xmlns="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xmlns="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xmlns="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xmlns="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xmlns="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xmlns="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xmlns="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xmlns="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xmlns="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xmlns="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xmlns="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xmlns="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xmlns="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xmlns="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xmlns="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xmlns="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xmlns="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xmlns="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xmlns="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xmlns="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xmlns="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xmlns="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xmlns="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xmlns="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xmlns="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xmlns="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xmlns="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xmlns="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xmlns="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xmlns="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xmlns="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xmlns="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xmlns="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xmlns="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xmlns="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xmlns="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xmlns="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xmlns="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xmlns="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xmlns="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xmlns="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xmlns="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xmlns="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xmlns="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xmlns="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xmlns="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xmlns="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xmlns="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xmlns="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xmlns="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xmlns="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xmlns="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xmlns="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xmlns="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xmlns="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xmlns="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xmlns="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xmlns="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xmlns="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xmlns="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xmlns="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xmlns="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xmlns="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xmlns="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xmlns="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xmlns="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xmlns="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xmlns="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xmlns="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xmlns="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xmlns="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xmlns="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xmlns="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xmlns="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xmlns="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xmlns="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xmlns="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xmlns="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xmlns="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xmlns="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xmlns="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xmlns="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xmlns="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xmlns="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xmlns="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xmlns="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xmlns="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xmlns="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xmlns="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xmlns="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xmlns="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xmlns="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xmlns="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xmlns="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xmlns="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xmlns="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xmlns="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xmlns="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xmlns="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xmlns="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xmlns="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xmlns="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xmlns="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xmlns="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xmlns="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xmlns="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 xmlns="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6.jpeg"/><Relationship Id="rId5" Type="http://schemas.openxmlformats.org/officeDocument/2006/relationships/image" Target="../media/image7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BrandLogos" Type="http://schemas.openxmlformats.org/officeDocument/2006/relationships/image" Target="../media/image63.png"/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BrandLogos" Type="http://schemas.openxmlformats.org/officeDocument/2006/relationships/image" Target="../media/image63.png"/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BrandLogos" Type="http://schemas.openxmlformats.org/officeDocument/2006/relationships/image" Target="../media/image63.png"/><Relationship Id="rId1" Type="http://schemas.openxmlformats.org/officeDocument/2006/relationships/slideLayout" Target="../slideLayouts/slideLayout14.xml"/><Relationship Id="rId2" Type="http://schemas.openxmlformats.org/officeDocument/2006/relationships/chart" Target="../charts/chart1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7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BrandLogos" Type="http://schemas.openxmlformats.org/officeDocument/2006/relationships/image" Target="../media/image63.png"/><Relationship Id="rId1" Type="http://schemas.openxmlformats.org/officeDocument/2006/relationships/slideLayout" Target="../slideLayouts/slideLayout16.xml"/><Relationship Id="rId2" Type="http://schemas.openxmlformats.org/officeDocument/2006/relationships/chart" Target="../charts/chart2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/Relationships>
</file>

<file path=ppt/slides/_rels/slide10.xml.rels><?xml version='1.0' encoding='UTF-8' standalone='yes'?>
<Relationships xmlns="http://schemas.openxmlformats.org/package/2006/relationships"><Relationship Id="rIdBrandLogos" Type="http://schemas.openxmlformats.org/officeDocument/2006/relationships/image" Target="../media/image63.png"/><Relationship Id="rId1" Type="http://schemas.openxmlformats.org/officeDocument/2006/relationships/slideLayout" Target="../slideLayouts/slideLayout15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Relationship Id="rId5" Type="http://schemas.openxmlformats.org/officeDocument/2006/relationships/image" Target="../media/image23.png"/></Relationships>
</file>

<file path=ppt/slides/_rels/slide11.xml.rels><?xml version='1.0' encoding='UTF-8' standalone='yes'?>
<Relationships xmlns="http://schemas.openxmlformats.org/package/2006/relationships"><Relationship Id="rIdBrandLogos" Type="http://schemas.openxmlformats.org/officeDocument/2006/relationships/image" Target="../media/image63.png"/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/Relationships>
</file>

<file path=ppt/slides/_rels/slide12.xml.rels><?xml version='1.0' encoding='UTF-8' standalone='yes'?>
<Relationships xmlns="http://schemas.openxmlformats.org/package/2006/relationships"><Relationship Id="rIdBrandLogos" Type="http://schemas.openxmlformats.org/officeDocument/2006/relationships/image" Target="../media/image63.png"/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image" Target="../media/image36.png"/></Relationships>
</file>

<file path=ppt/slides/_rels/slide13.xml.rels><?xml version='1.0' encoding='UTF-8' standalone='yes'?>
<Relationships xmlns="http://schemas.openxmlformats.org/package/2006/relationships"><Relationship Id="rIdBrandLogos" Type="http://schemas.openxmlformats.org/officeDocument/2006/relationships/image" Target="../media/image64.png"/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/Relationships>
</file>

<file path=ppt/slides/_rels/slide14.xml.rels><?xml version='1.0' encoding='UTF-8' standalone='yes'?>
<Relationships xmlns="http://schemas.openxmlformats.org/package/2006/relationships"><Relationship Id="rIdBrandLogos" Type="http://schemas.openxmlformats.org/officeDocument/2006/relationships/image" Target="../media/image63.png"/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mage45.png"/><Relationship Id="rId7" Type="http://schemas.openxmlformats.org/officeDocument/2006/relationships/image" Target="../media/image46.png"/></Relationships>
</file>

<file path=ppt/slides/_rels/slide15.xml.rels><?xml version='1.0' encoding='UTF-8' standalone='yes'?>
<Relationships xmlns="http://schemas.openxmlformats.org/package/2006/relationships"><Relationship Id="rIdBrandLogos" Type="http://schemas.openxmlformats.org/officeDocument/2006/relationships/image" Target="../media/image63.png"/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Relationship Id="rId4" Type="http://schemas.openxmlformats.org/officeDocument/2006/relationships/image" Target="../media/image49.png"/></Relationships>
</file>

<file path=ppt/slides/_rels/slide16.xml.rels><?xml version='1.0' encoding='UTF-8' standalone='yes'?>
<Relationships xmlns="http://schemas.openxmlformats.org/package/2006/relationships"><Relationship Id="rIdBrandLogos" Type="http://schemas.openxmlformats.org/officeDocument/2006/relationships/image" Target="../media/image63.png"/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/Relationships>
</file>

<file path=ppt/slides/_rels/slide17.xml.rels><?xml version='1.0' encoding='UTF-8' standalone='yes'?>
<Relationships xmlns="http://schemas.openxmlformats.org/package/2006/relationships"><Relationship Id="rIdBrandLogos" Type="http://schemas.openxmlformats.org/officeDocument/2006/relationships/image" Target="../media/image64.png"/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Relationship Id="rId7" Type="http://schemas.openxmlformats.org/officeDocument/2006/relationships/image" Target="../media/image57.png"/></Relationships>
</file>

<file path=ppt/slides/_rels/slide18.xml.rels><?xml version='1.0' encoding='UTF-8' standalone='yes'?>
<Relationships xmlns="http://schemas.openxmlformats.org/package/2006/relationships"><Relationship Id="rIdBrandLogos" Type="http://schemas.openxmlformats.org/officeDocument/2006/relationships/image" Target="../media/image63.png"/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image" Target="../media/image61.png"/><Relationship Id="rId6" Type="http://schemas.openxmlformats.org/officeDocument/2006/relationships/image" Target="../media/image6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xmlns="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 sz="4000" dirty="0" smtClean="0"/>
              <a:t>Двое из ларца</a:t>
            </a:r>
            <a:endParaRPr lang="ru-RU" sz="400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xmlns="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>
            <a:normAutofit/>
          </a:bodyPr>
          <a:lstStyle/>
          <a:p>
            <a:pPr indent="268288"/>
            <a:r>
              <a:rPr lang="ru-RU" sz="1400" dirty="0" smtClean="0"/>
              <a:t>Задача бизнеса №3 </a:t>
            </a:r>
            <a:r>
              <a:rPr lang="en-US" sz="1400" dirty="0" smtClean="0"/>
              <a:t>- </a:t>
            </a:r>
            <a:r>
              <a:rPr lang="ru-RU" sz="1400" dirty="0" smtClean="0"/>
              <a:t>Интеллектуальный сервис планирования рабочих маршрутов для инженеров с учетом временных окон и сложности проводимых </a:t>
            </a:r>
            <a:r>
              <a:rPr lang="ru-RU" sz="1400" dirty="0" smtClean="0"/>
              <a:t>работ</a:t>
            </a:r>
            <a:endParaRPr lang="ru-RU" sz="1400" dirty="0" smtClean="0"/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xmlns="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8" name="Image 18" descr=" ">
            <a:extLst>
              <a:ext uri="{FF2B5EF4-FFF2-40B4-BE49-F238E27FC236}">
                <a16:creationId xmlns:a16="http://schemas.microsoft.com/office/drawing/2014/main" xmlns="" id="{C2BC9203-CF6F-6C1A-1FE4-63D3D384EF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7298" y="429398"/>
            <a:ext cx="2573227" cy="819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19806660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xmlns="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pic>
        <p:nvPicPr>
          <p:cNvPr id="20" name="Рисунок 19" descr="Снимок.JPG"/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t="12305" b="12305"/>
          <a:stretch>
            <a:fillRect/>
          </a:stretch>
        </p:blipFill>
        <p:spPr>
          <a:xfrm>
            <a:off x="0" y="334963"/>
            <a:ext cx="6456363" cy="2971800"/>
          </a:xfrm>
        </p:spPr>
      </p:pic>
      <p:sp>
        <p:nvSpPr>
          <p:cNvPr id="6" name="Текст 8">
            <a:extLst>
              <a:ext uri="{FF2B5EF4-FFF2-40B4-BE49-F238E27FC236}">
                <a16:creationId xmlns:a16="http://schemas.microsoft.com/office/drawing/2014/main" xmlns="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xmlns="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Tx/>
              <a:buChar char="-"/>
            </a:pPr>
            <a:r>
              <a:rPr lang="ru-RU" sz="1000" dirty="0" smtClean="0">
                <a:solidFill>
                  <a:schemeClr val="tx1"/>
                </a:solidFill>
              </a:rPr>
              <a:t> Каждое решение объяснено</a:t>
            </a:r>
            <a:r>
              <a:rPr lang="en-US" sz="1000" dirty="0" smtClean="0">
                <a:solidFill>
                  <a:schemeClr val="tx1"/>
                </a:solidFill>
              </a:rPr>
              <a:t>: </a:t>
            </a:r>
            <a:r>
              <a:rPr lang="ru-RU" sz="1000" dirty="0" smtClean="0">
                <a:solidFill>
                  <a:schemeClr val="tx1"/>
                </a:solidFill>
              </a:rPr>
              <a:t>приведены причины выбора той или иной бригады на заявку</a:t>
            </a:r>
          </a:p>
          <a:p>
            <a:pPr marL="0" indent="0">
              <a:lnSpc>
                <a:spcPct val="100000"/>
              </a:lnSpc>
              <a:buFontTx/>
              <a:buChar char="-"/>
            </a:pPr>
            <a:r>
              <a:rPr lang="ru-RU" sz="1000" dirty="0" smtClean="0">
                <a:solidFill>
                  <a:schemeClr val="tx1"/>
                </a:solidFill>
              </a:rPr>
              <a:t> </a:t>
            </a:r>
            <a:r>
              <a:rPr lang="ru-RU" sz="1000" dirty="0" smtClean="0">
                <a:solidFill>
                  <a:schemeClr val="tx1"/>
                </a:solidFill>
              </a:rPr>
              <a:t>Присутствует </a:t>
            </a:r>
            <a:r>
              <a:rPr lang="en-US" sz="1000" dirty="0" smtClean="0">
                <a:solidFill>
                  <a:schemeClr val="tx1"/>
                </a:solidFill>
              </a:rPr>
              <a:t>AI</a:t>
            </a:r>
            <a:r>
              <a:rPr lang="en-US" sz="1000" dirty="0" smtClean="0">
                <a:solidFill>
                  <a:schemeClr val="tx1"/>
                </a:solidFill>
              </a:rPr>
              <a:t>-</a:t>
            </a:r>
            <a:r>
              <a:rPr lang="ru-RU" sz="1000" dirty="0" smtClean="0">
                <a:solidFill>
                  <a:schemeClr val="tx1"/>
                </a:solidFill>
              </a:rPr>
              <a:t>помощник – переводит естественный язык в события на временной шкале</a:t>
            </a:r>
            <a:endParaRPr lang="en-US" sz="1000" dirty="0" smtClean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FontTx/>
              <a:buChar char="-"/>
            </a:pPr>
            <a:r>
              <a:rPr lang="ru-RU" sz="1000" dirty="0" smtClean="0">
                <a:solidFill>
                  <a:schemeClr val="tx1"/>
                </a:solidFill>
              </a:rPr>
              <a:t>Диспетчер может выбрать способ перераспределения бригад в результате события</a:t>
            </a:r>
            <a:r>
              <a:rPr lang="en-US" sz="1000" dirty="0" smtClean="0">
                <a:solidFill>
                  <a:schemeClr val="tx1"/>
                </a:solidFill>
              </a:rPr>
              <a:t>, </a:t>
            </a:r>
            <a:r>
              <a:rPr lang="ru-RU" sz="1000" dirty="0" smtClean="0">
                <a:solidFill>
                  <a:schemeClr val="tx1"/>
                </a:solidFill>
              </a:rPr>
              <a:t>либо вручную отдать заявку нужной бригаде</a:t>
            </a:r>
          </a:p>
          <a:p>
            <a:pPr marL="0" indent="0">
              <a:lnSpc>
                <a:spcPct val="100000"/>
              </a:lnSpc>
              <a:buFontTx/>
              <a:buChar char="-"/>
            </a:pPr>
            <a:r>
              <a:rPr lang="ru-RU" sz="1000" dirty="0" smtClean="0">
                <a:solidFill>
                  <a:schemeClr val="tx1"/>
                </a:solidFill>
              </a:rPr>
              <a:t> </a:t>
            </a:r>
            <a:r>
              <a:rPr lang="ru-RU" sz="1000" dirty="0" smtClean="0">
                <a:solidFill>
                  <a:schemeClr val="tx1"/>
                </a:solidFill>
              </a:rPr>
              <a:t>Возможность выбора уровня загрузки инженеров, а также переключение обеда в течение дня</a:t>
            </a:r>
          </a:p>
          <a:p>
            <a:pPr marL="0" indent="0">
              <a:lnSpc>
                <a:spcPct val="100000"/>
              </a:lnSpc>
              <a:buFontTx/>
              <a:buChar char="-"/>
            </a:pPr>
            <a:endParaRPr lang="ru-RU" sz="1000" dirty="0">
              <a:solidFill>
                <a:schemeClr val="tx1"/>
              </a:solidFill>
            </a:endParaRP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xmlns="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 smtClean="0">
                <a:solidFill>
                  <a:schemeClr val="tx1"/>
                </a:solidFill>
              </a:rPr>
              <a:t>Радченко Руслан Дмитриевич</a:t>
            </a:r>
            <a:r>
              <a:rPr lang="en-US" dirty="0" smtClean="0">
                <a:solidFill>
                  <a:schemeClr val="tx1"/>
                </a:solidFill>
              </a:rPr>
              <a:t>, backend+</a:t>
            </a:r>
            <a:r>
              <a:rPr lang="ru-RU" dirty="0" smtClean="0">
                <a:solidFill>
                  <a:schemeClr val="tx1"/>
                </a:solidFill>
              </a:rPr>
              <a:t>алгоритмы</a:t>
            </a:r>
            <a:endParaRPr lang="ru-RU" dirty="0">
              <a:solidFill>
                <a:schemeClr val="tx1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 smtClean="0">
                <a:solidFill>
                  <a:schemeClr val="tx1"/>
                </a:solidFill>
              </a:rPr>
              <a:t>2 человека</a:t>
            </a:r>
            <a:endParaRPr lang="ru-RU" dirty="0">
              <a:solidFill>
                <a:schemeClr val="tx1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 smtClean="0">
                <a:solidFill>
                  <a:schemeClr val="tx1"/>
                </a:solidFill>
              </a:rPr>
              <a:t>Познакомились в чате по </a:t>
            </a:r>
            <a:r>
              <a:rPr lang="en-US" i="1" dirty="0" smtClean="0">
                <a:solidFill>
                  <a:schemeClr val="tx1"/>
                </a:solidFill>
              </a:rPr>
              <a:t>Python</a:t>
            </a:r>
            <a:r>
              <a:rPr lang="ru-RU" i="1" dirty="0" smtClean="0">
                <a:solidFill>
                  <a:schemeClr val="tx1"/>
                </a:solidFill>
              </a:rPr>
              <a:t> </a:t>
            </a:r>
            <a:endParaRPr lang="ru-RU" i="1" dirty="0">
              <a:solidFill>
                <a:schemeClr val="tx1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 smtClean="0">
                <a:solidFill>
                  <a:schemeClr val="tx1"/>
                </a:solidFill>
              </a:rPr>
              <a:t>Руслан работает на </a:t>
            </a:r>
            <a:r>
              <a:rPr lang="ru-RU" i="1" dirty="0" err="1" smtClean="0">
                <a:solidFill>
                  <a:schemeClr val="tx1"/>
                </a:solidFill>
              </a:rPr>
              <a:t>фрилансе</a:t>
            </a:r>
            <a:r>
              <a:rPr lang="en-US" i="1" dirty="0" smtClean="0">
                <a:solidFill>
                  <a:schemeClr val="tx1"/>
                </a:solidFill>
              </a:rPr>
              <a:t>, </a:t>
            </a:r>
            <a:r>
              <a:rPr lang="ru-RU" i="1" dirty="0" smtClean="0">
                <a:solidFill>
                  <a:schemeClr val="tx1"/>
                </a:solidFill>
              </a:rPr>
              <a:t>Мария работает не в </a:t>
            </a:r>
            <a:r>
              <a:rPr lang="en-US" i="1" dirty="0" smtClean="0">
                <a:solidFill>
                  <a:schemeClr val="tx1"/>
                </a:solidFill>
              </a:rPr>
              <a:t>IT</a:t>
            </a:r>
            <a:endParaRPr lang="ru-RU" i="1" dirty="0">
              <a:solidFill>
                <a:schemeClr val="tx1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</a:t>
            </a:r>
            <a:r>
              <a:rPr lang="ru-RU" b="1" dirty="0" smtClean="0">
                <a:solidFill>
                  <a:schemeClr val="tx1"/>
                </a:solidFill>
              </a:rPr>
              <a:t>: </a:t>
            </a:r>
            <a:r>
              <a:rPr lang="ru-RU" dirty="0" smtClean="0">
                <a:solidFill>
                  <a:schemeClr val="tx1"/>
                </a:solidFill>
              </a:rPr>
              <a:t>Москва</a:t>
            </a:r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xmlns="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xmlns="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 lang="ru-RU" sz="2400" dirty="0" smtClean="0">
                <a:solidFill>
                  <a:schemeClr val="accent5"/>
                </a:solidFill>
                <a:latin typeface="+mn-lt"/>
              </a:rPr>
              <a:t>КОМАНДА </a:t>
            </a:r>
            <a:r>
              <a:rPr lang="en-US" sz="2400" dirty="0" smtClean="0">
                <a:solidFill>
                  <a:schemeClr val="accent5"/>
                </a:solidFill>
                <a:latin typeface="+mn-lt"/>
              </a:rPr>
              <a:t>“</a:t>
            </a:r>
            <a:r>
              <a:rPr lang="ru-RU" sz="2400" dirty="0" smtClean="0">
                <a:solidFill>
                  <a:schemeClr val="accent5"/>
                </a:solidFill>
                <a:latin typeface="+mn-lt"/>
              </a:rPr>
              <a:t>ДВОЕ ИЗ ЛАРЦА</a:t>
            </a:r>
            <a:r>
              <a:rPr lang="en-US" sz="2400" dirty="0" smtClean="0">
                <a:solidFill>
                  <a:schemeClr val="accent5"/>
                </a:solidFill>
                <a:latin typeface="+mn-lt"/>
              </a:rPr>
              <a:t>”</a:t>
            </a:r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xmlns="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xmlns="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xmlns="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xmlns="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xmlns="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Tx/>
              <a:buChar char="-"/>
            </a:pPr>
            <a:r>
              <a:rPr lang="ru-RU" sz="1000" dirty="0" smtClean="0">
                <a:solidFill>
                  <a:schemeClr val="tx1"/>
                </a:solidFill>
              </a:rPr>
              <a:t>Решающий алгоритм на </a:t>
            </a:r>
            <a:r>
              <a:rPr lang="en-US" sz="1000" dirty="0" smtClean="0">
                <a:solidFill>
                  <a:schemeClr val="tx1"/>
                </a:solidFill>
              </a:rPr>
              <a:t>OR-tools, </a:t>
            </a:r>
            <a:r>
              <a:rPr lang="ru-RU" sz="1000" dirty="0" smtClean="0">
                <a:solidFill>
                  <a:schemeClr val="tx1"/>
                </a:solidFill>
              </a:rPr>
              <a:t>стек – </a:t>
            </a:r>
            <a:r>
              <a:rPr lang="en-US" sz="1000" dirty="0" smtClean="0">
                <a:solidFill>
                  <a:schemeClr val="tx1"/>
                </a:solidFill>
              </a:rPr>
              <a:t>Python</a:t>
            </a:r>
            <a:r>
              <a:rPr lang="en-US" sz="1000" dirty="0" smtClean="0">
                <a:solidFill>
                  <a:schemeClr val="tx1"/>
                </a:solidFill>
              </a:rPr>
              <a:t>, </a:t>
            </a:r>
            <a:r>
              <a:rPr lang="en-US" sz="1000" dirty="0" err="1" smtClean="0">
                <a:solidFill>
                  <a:schemeClr val="tx1"/>
                </a:solidFill>
              </a:rPr>
              <a:t>FastAPI</a:t>
            </a:r>
            <a:r>
              <a:rPr lang="en-US" sz="1000" dirty="0" smtClean="0">
                <a:solidFill>
                  <a:schemeClr val="tx1"/>
                </a:solidFill>
              </a:rPr>
              <a:t>, </a:t>
            </a:r>
            <a:r>
              <a:rPr lang="en-US" sz="1000" dirty="0" err="1" smtClean="0">
                <a:solidFill>
                  <a:schemeClr val="tx1"/>
                </a:solidFill>
              </a:rPr>
              <a:t>Postgres</a:t>
            </a:r>
            <a:r>
              <a:rPr lang="en-US" sz="1000" dirty="0" smtClean="0">
                <a:solidFill>
                  <a:schemeClr val="tx1"/>
                </a:solidFill>
              </a:rPr>
              <a:t>, </a:t>
            </a:r>
            <a:r>
              <a:rPr lang="en-US" sz="1000" dirty="0" smtClean="0">
                <a:solidFill>
                  <a:schemeClr val="tx1"/>
                </a:solidFill>
              </a:rPr>
              <a:t>React</a:t>
            </a:r>
            <a:r>
              <a:rPr lang="ru-RU" sz="1000" dirty="0" smtClean="0">
                <a:solidFill>
                  <a:schemeClr val="tx1"/>
                </a:solidFill>
              </a:rPr>
              <a:t>, использовали</a:t>
            </a:r>
            <a:r>
              <a:rPr lang="en-US" sz="1000" dirty="0" smtClean="0">
                <a:solidFill>
                  <a:schemeClr val="tx1"/>
                </a:solidFill>
              </a:rPr>
              <a:t> </a:t>
            </a:r>
            <a:r>
              <a:rPr lang="en-US" sz="1000" dirty="0" smtClean="0">
                <a:solidFill>
                  <a:schemeClr val="tx1"/>
                </a:solidFill>
              </a:rPr>
              <a:t>Claude Code </a:t>
            </a:r>
            <a:endParaRPr lang="ru-RU" sz="1000" dirty="0" smtClean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FontTx/>
              <a:buChar char="-"/>
            </a:pPr>
            <a:r>
              <a:rPr lang="ru-RU" sz="1000" dirty="0" smtClean="0">
                <a:solidFill>
                  <a:schemeClr val="tx1"/>
                </a:solidFill>
              </a:rPr>
              <a:t> </a:t>
            </a:r>
            <a:r>
              <a:rPr lang="ru-RU" sz="1000" dirty="0" smtClean="0">
                <a:solidFill>
                  <a:schemeClr val="tx1"/>
                </a:solidFill>
              </a:rPr>
              <a:t>Есть временная шкала с ползунком, показывающая состояние на любой момент времени</a:t>
            </a:r>
          </a:p>
          <a:p>
            <a:pPr marL="0" indent="0">
              <a:lnSpc>
                <a:spcPct val="100000"/>
              </a:lnSpc>
              <a:buFontTx/>
              <a:buChar char="-"/>
            </a:pPr>
            <a:r>
              <a:rPr lang="ru-RU" sz="1000" dirty="0" smtClean="0">
                <a:solidFill>
                  <a:schemeClr val="tx1"/>
                </a:solidFill>
              </a:rPr>
              <a:t> </a:t>
            </a:r>
            <a:r>
              <a:rPr lang="ru-RU" sz="1000" dirty="0" smtClean="0">
                <a:solidFill>
                  <a:schemeClr val="tx1"/>
                </a:solidFill>
              </a:rPr>
              <a:t>Поддерживается множество типов</a:t>
            </a:r>
            <a:r>
              <a:rPr lang="en-US" sz="1000" dirty="0" smtClean="0">
                <a:solidFill>
                  <a:schemeClr val="tx1"/>
                </a:solidFill>
              </a:rPr>
              <a:t> </a:t>
            </a:r>
            <a:r>
              <a:rPr lang="ru-RU" sz="1000" dirty="0" smtClean="0">
                <a:solidFill>
                  <a:schemeClr val="tx1"/>
                </a:solidFill>
              </a:rPr>
              <a:t>событий</a:t>
            </a:r>
            <a:r>
              <a:rPr lang="en-US" sz="1000" dirty="0" smtClean="0">
                <a:solidFill>
                  <a:schemeClr val="tx1"/>
                </a:solidFill>
              </a:rPr>
              <a:t>,</a:t>
            </a:r>
            <a:r>
              <a:rPr lang="ru-RU" sz="1000" dirty="0" smtClean="0">
                <a:solidFill>
                  <a:schemeClr val="tx1"/>
                </a:solidFill>
              </a:rPr>
              <a:t> ломающих расписание</a:t>
            </a:r>
            <a:r>
              <a:rPr lang="en-US" sz="1000" dirty="0" smtClean="0">
                <a:solidFill>
                  <a:schemeClr val="tx1"/>
                </a:solidFill>
              </a:rPr>
              <a:t>: </a:t>
            </a:r>
            <a:r>
              <a:rPr lang="ru-RU" sz="1000" dirty="0" smtClean="0">
                <a:solidFill>
                  <a:schemeClr val="tx1"/>
                </a:solidFill>
              </a:rPr>
              <a:t>поломка транспорта, недоступность инженера, срочная авария</a:t>
            </a:r>
            <a:r>
              <a:rPr lang="en-US" sz="1000" dirty="0" smtClean="0">
                <a:solidFill>
                  <a:schemeClr val="tx1"/>
                </a:solidFill>
              </a:rPr>
              <a:t>, …</a:t>
            </a:r>
          </a:p>
          <a:p>
            <a:pPr marL="0" indent="0">
              <a:lnSpc>
                <a:spcPct val="100000"/>
              </a:lnSpc>
              <a:buFontTx/>
              <a:buChar char="-"/>
            </a:pPr>
            <a:r>
              <a:rPr lang="en-US" sz="1000" dirty="0" smtClean="0">
                <a:solidFill>
                  <a:schemeClr val="tx1"/>
                </a:solidFill>
              </a:rPr>
              <a:t> </a:t>
            </a:r>
            <a:r>
              <a:rPr lang="ru-RU" sz="1000" dirty="0" smtClean="0">
                <a:solidFill>
                  <a:schemeClr val="tx1"/>
                </a:solidFill>
              </a:rPr>
              <a:t>Подробная визуализация происходящего на карте Москвы и области</a:t>
            </a:r>
            <a:endParaRPr lang="ru-RU" sz="1000" dirty="0">
              <a:solidFill>
                <a:schemeClr val="tx1"/>
              </a:solidFill>
            </a:endParaRP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xmlns="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2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35397789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xmlns="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xmlns="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200" dirty="0" smtClean="0">
                <a:solidFill>
                  <a:schemeClr val="tx1"/>
                </a:solidFill>
              </a:rPr>
              <a:t>UX, product design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200" dirty="0" err="1" smtClean="0">
                <a:solidFill>
                  <a:schemeClr val="tx1"/>
                </a:solidFill>
              </a:rPr>
              <a:t>tg</a:t>
            </a:r>
            <a:r>
              <a:rPr lang="en-US" sz="1200" dirty="0" smtClean="0">
                <a:solidFill>
                  <a:schemeClr val="tx1"/>
                </a:solidFill>
              </a:rPr>
              <a:t> @</a:t>
            </a:r>
            <a:r>
              <a:rPr lang="en-US" sz="1200" dirty="0" err="1" smtClean="0">
                <a:solidFill>
                  <a:schemeClr val="tx1"/>
                </a:solidFill>
              </a:rPr>
              <a:t>polessshhh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200" dirty="0" smtClean="0">
                <a:solidFill>
                  <a:schemeClr val="tx1"/>
                </a:solidFill>
              </a:rPr>
              <a:t>+79777196837</a:t>
            </a:r>
            <a:endParaRPr lang="en-US" sz="1200" dirty="0" smtClean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 smtClean="0">
                <a:solidFill>
                  <a:schemeClr val="tx1"/>
                </a:solidFill>
              </a:rPr>
              <a:t>Работает не в </a:t>
            </a:r>
            <a:r>
              <a:rPr lang="en-US" sz="1200" dirty="0" smtClean="0">
                <a:solidFill>
                  <a:schemeClr val="tx1"/>
                </a:solidFill>
              </a:rPr>
              <a:t>IT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xmlns="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 smtClean="0">
                <a:solidFill>
                  <a:schemeClr val="accent5"/>
                </a:solidFill>
              </a:rPr>
              <a:t>Мария </a:t>
            </a:r>
            <a:r>
              <a:rPr lang="ru-RU" sz="1600" b="1" dirty="0" err="1" smtClean="0">
                <a:solidFill>
                  <a:schemeClr val="accent5"/>
                </a:solidFill>
              </a:rPr>
              <a:t>Выштак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xmlns="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xmlns="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xmlns="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3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25" name="Рисунок 24" descr="ЯЯЯЯ.JPG"/>
          <p:cNvPicPr>
            <a:picLocks noGrp="1" noChangeAspect="1"/>
          </p:cNvPicPr>
          <p:nvPr>
            <p:ph type="pic" sz="quarter" idx="4294967295"/>
          </p:nvPr>
        </p:nvPicPr>
        <p:blipFill>
          <a:blip r:embed="rId4"/>
          <a:srcRect t="5914" b="5914"/>
          <a:stretch>
            <a:fillRect/>
          </a:stretch>
        </p:blipFill>
        <p:spPr>
          <a:xfrm>
            <a:off x="581025" y="1816100"/>
            <a:ext cx="1722438" cy="1552575"/>
          </a:xfrm>
        </p:spPr>
      </p:pic>
      <p:pic>
        <p:nvPicPr>
          <p:cNvPr id="26" name="Рисунок 25" descr="МАРИЯ ХАКАТОН.JPG"/>
          <p:cNvPicPr>
            <a:picLocks noGrp="1" noChangeAspect="1"/>
          </p:cNvPicPr>
          <p:nvPr>
            <p:ph type="pic" sz="quarter" idx="4294967295"/>
          </p:nvPr>
        </p:nvPicPr>
        <p:blipFill>
          <a:blip r:embed="rId5"/>
          <a:srcRect t="5960" b="5960"/>
          <a:stretch>
            <a:fillRect/>
          </a:stretch>
        </p:blipFill>
        <p:spPr>
          <a:xfrm>
            <a:off x="2886075" y="1827213"/>
            <a:ext cx="1722438" cy="1541462"/>
          </a:xfrm>
        </p:spPr>
      </p:pic>
      <p:sp>
        <p:nvSpPr>
          <p:cNvPr id="7" name="Заголовок 6">
            <a:extLst>
              <a:ext uri="{FF2B5EF4-FFF2-40B4-BE49-F238E27FC236}">
                <a16:creationId xmlns:a16="http://schemas.microsoft.com/office/drawing/2014/main" xmlns="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rPr lang="ru-RU" sz="1800" dirty="0" smtClean="0">
                <a:latin typeface="+mn-lt"/>
              </a:rPr>
              <a:t>КОМАНДА </a:t>
            </a:r>
            <a:r>
              <a:rPr lang="en-US" sz="1800" dirty="0" smtClean="0">
                <a:latin typeface="+mn-lt"/>
              </a:rPr>
              <a:t>“</a:t>
            </a:r>
            <a:r>
              <a:rPr lang="ru-RU" sz="1800" dirty="0" smtClean="0">
                <a:latin typeface="+mn-lt"/>
              </a:rPr>
              <a:t>ДВОЕ ИЗ ЛАРЦА</a:t>
            </a:r>
            <a:r>
              <a:rPr lang="en-US" sz="1800" dirty="0" smtClean="0">
                <a:latin typeface="+mn-lt"/>
              </a:rPr>
              <a:t>”</a:t>
            </a:r>
            <a:endParaRPr lang="ru-RU" sz="1800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xmlns="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 err="1" smtClean="0">
                <a:solidFill>
                  <a:schemeClr val="tx1"/>
                </a:solidFill>
              </a:rPr>
              <a:t>Бэкенд+алгоритмы</a:t>
            </a: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 err="1" smtClean="0">
                <a:solidFill>
                  <a:schemeClr val="tx1"/>
                </a:solidFill>
              </a:rPr>
              <a:t>tg</a:t>
            </a:r>
            <a:r>
              <a:rPr lang="en-US" sz="1200" dirty="0" smtClean="0">
                <a:solidFill>
                  <a:schemeClr val="tx1"/>
                </a:solidFill>
              </a:rPr>
              <a:t> @</a:t>
            </a:r>
            <a:r>
              <a:rPr lang="en-US" sz="1200" dirty="0" err="1" smtClean="0">
                <a:solidFill>
                  <a:schemeClr val="tx1"/>
                </a:solidFill>
              </a:rPr>
              <a:t>kfkfkfo</a:t>
            </a: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 smtClean="0">
                <a:solidFill>
                  <a:schemeClr val="tx1"/>
                </a:solidFill>
              </a:rPr>
              <a:t>+79167758044</a:t>
            </a: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 err="1" smtClean="0">
                <a:solidFill>
                  <a:schemeClr val="tx1"/>
                </a:solidFill>
              </a:rPr>
              <a:t>Фриланс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xmlns="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 smtClean="0">
                <a:solidFill>
                  <a:schemeClr val="accent5"/>
                </a:solidFill>
              </a:rPr>
              <a:t>Радченко Руслан</a:t>
            </a:r>
            <a:endParaRPr lang="ru-RU" sz="1600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9221470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xmlns="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xmlns="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xmlns="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rPr lang="ru-RU" sz="1800" dirty="0" smtClean="0"/>
              <a:t>КОМАНДА </a:t>
            </a:r>
            <a:r>
              <a:rPr lang="en-US" sz="1800" dirty="0" smtClean="0"/>
              <a:t>“</a:t>
            </a:r>
            <a:r>
              <a:rPr lang="ru-RU" sz="1800" dirty="0" smtClean="0"/>
              <a:t>ДВОЕ ИЗ ЛАРЦА</a:t>
            </a:r>
            <a:r>
              <a:rPr lang="en-US" sz="1800" dirty="0" smtClean="0"/>
              <a:t>”</a:t>
            </a:r>
            <a:endParaRPr lang="ru-RU" sz="1800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xmlns="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 smtClean="0">
                <a:solidFill>
                  <a:schemeClr val="tx1"/>
                </a:solidFill>
              </a:rPr>
              <a:t>Познакомились в чате по </a:t>
            </a:r>
            <a:r>
              <a:rPr lang="en-US" dirty="0" smtClean="0">
                <a:solidFill>
                  <a:schemeClr val="tx1"/>
                </a:solidFill>
              </a:rPr>
              <a:t>Python, </a:t>
            </a:r>
            <a:r>
              <a:rPr lang="ru-RU" dirty="0" smtClean="0">
                <a:solidFill>
                  <a:schemeClr val="tx1"/>
                </a:solidFill>
              </a:rPr>
              <a:t>это наш первый совместный </a:t>
            </a:r>
            <a:r>
              <a:rPr lang="ru-RU" dirty="0" err="1" smtClean="0">
                <a:solidFill>
                  <a:schemeClr val="tx1"/>
                </a:solidFill>
              </a:rPr>
              <a:t>хакатон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xmlns="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xmlns="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chemeClr val="accent1"/>
              </a:buClr>
            </a:pPr>
            <a:r>
              <a:rPr lang="ru-RU" sz="1000" dirty="0" smtClean="0">
                <a:solidFill>
                  <a:srgbClr val="1C1D22"/>
                </a:solidFill>
              </a:rPr>
              <a:t>Выбор алгоритма. Перебрали варианты и остановились на поиске с временными окнами, а потом добирали качество: до четырёх стратегий поиска в отдельных процессах за тот же лимит времени.</a:t>
            </a:r>
          </a:p>
          <a:p>
            <a:pPr>
              <a:buClr>
                <a:schemeClr val="accent1"/>
              </a:buClr>
            </a:pPr>
            <a:r>
              <a:rPr lang="ru-RU" sz="1000" dirty="0" smtClean="0">
                <a:solidFill>
                  <a:srgbClr val="1C1D22"/>
                </a:solidFill>
              </a:rPr>
              <a:t>Подбор </a:t>
            </a:r>
            <a:r>
              <a:rPr lang="ru-RU" sz="1000" dirty="0" err="1" smtClean="0">
                <a:solidFill>
                  <a:srgbClr val="1C1D22"/>
                </a:solidFill>
              </a:rPr>
              <a:t>киллер-фич</a:t>
            </a:r>
            <a:r>
              <a:rPr lang="ru-RU" sz="1000" dirty="0" smtClean="0">
                <a:solidFill>
                  <a:srgbClr val="1C1D22"/>
                </a:solidFill>
              </a:rPr>
              <a:t>. Решали, что из задуманного действительно нужно диспетчеру: так появились варианты исправления с ценой решения, объяснения и шкала дня.</a:t>
            </a:r>
          </a:p>
          <a:p>
            <a:pPr>
              <a:buClr>
                <a:schemeClr val="accent1"/>
              </a:buClr>
            </a:pPr>
            <a:r>
              <a:rPr lang="ru-RU" sz="1000" dirty="0" smtClean="0">
                <a:solidFill>
                  <a:srgbClr val="1C1D22"/>
                </a:solidFill>
              </a:rPr>
              <a:t>В данных не было ни инженеров, ни длительностей, ни координат. Восстанавливали их по контрольному распределению и нормативам организаторов и описали каждое допущение.</a:t>
            </a:r>
          </a:p>
          <a:p>
            <a:pPr>
              <a:buClr>
                <a:schemeClr val="accent1"/>
              </a:buClr>
            </a:pPr>
            <a:r>
              <a:rPr lang="ru-RU" sz="1000" dirty="0" smtClean="0">
                <a:solidFill>
                  <a:srgbClr val="1C1D22"/>
                </a:solidFill>
              </a:rPr>
              <a:t>Адреса из выгрузки </a:t>
            </a:r>
            <a:r>
              <a:rPr lang="ru-RU" sz="1000" dirty="0" err="1" smtClean="0">
                <a:solidFill>
                  <a:srgbClr val="1C1D22"/>
                </a:solidFill>
              </a:rPr>
              <a:t>геокодер</a:t>
            </a:r>
            <a:r>
              <a:rPr lang="ru-RU" sz="1000" dirty="0" smtClean="0">
                <a:solidFill>
                  <a:srgbClr val="1C1D22"/>
                </a:solidFill>
              </a:rPr>
              <a:t> понимал через раз — написали свой разбор адреса и </a:t>
            </a:r>
            <a:r>
              <a:rPr lang="ru-RU" sz="1000" dirty="0" err="1" smtClean="0">
                <a:solidFill>
                  <a:srgbClr val="1C1D22"/>
                </a:solidFill>
              </a:rPr>
              <a:t>закэшировали</a:t>
            </a:r>
            <a:r>
              <a:rPr lang="ru-RU" sz="1000" dirty="0" smtClean="0">
                <a:solidFill>
                  <a:srgbClr val="1C1D22"/>
                </a:solidFill>
              </a:rPr>
              <a:t> результаты.</a:t>
            </a:r>
            <a:endParaRPr lang="ru-RU" sz="1000" dirty="0">
              <a:solidFill>
                <a:srgbClr val="1C1D22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xmlns="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xmlns="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 smtClean="0">
                <a:solidFill>
                  <a:srgbClr val="1C1D22"/>
                </a:solidFill>
              </a:rPr>
              <a:t>Задачу выбрали потому, что у неё есть проверяемый ответ: в данных лежит распределение живых диспетчеров, и с ним можно честно сравниться.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xmlns="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xmlns="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xmlns="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xmlns="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xmlns="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xmlns="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xmlns="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xmlns="" val="20355111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xmlns="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xmlns="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xmlns="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xmlns="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5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xmlns="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pPr>
              <a:buClr>
                <a:schemeClr val="accent1"/>
              </a:buClr>
            </a:pPr>
            <a:r>
              <a:rPr lang="ru-RU" sz="1400" dirty="0" smtClean="0">
                <a:solidFill>
                  <a:srgbClr val="1C1D22"/>
                </a:solidFill>
              </a:rPr>
              <a:t>Задача маршрутизации с окнами в </a:t>
            </a:r>
            <a:r>
              <a:rPr lang="ru-RU" sz="1400" dirty="0" err="1" smtClean="0">
                <a:solidFill>
                  <a:srgbClr val="1C1D22"/>
                </a:solidFill>
              </a:rPr>
              <a:t>OR-Tools</a:t>
            </a:r>
            <a:r>
              <a:rPr lang="ru-RU" sz="1400" dirty="0" smtClean="0">
                <a:solidFill>
                  <a:srgbClr val="1C1D22"/>
                </a:solidFill>
              </a:rPr>
              <a:t>: навыки, окна, смены, транспорт и оборудование; до четырёх стратегий поиска разом.</a:t>
            </a:r>
          </a:p>
          <a:p>
            <a:pPr>
              <a:buClr>
                <a:schemeClr val="accent1"/>
              </a:buClr>
            </a:pPr>
            <a:r>
              <a:rPr lang="ru-RU" sz="1400" dirty="0" smtClean="0">
                <a:solidFill>
                  <a:srgbClr val="1C1D22"/>
                </a:solidFill>
              </a:rPr>
              <a:t>Время и пробег по дорогам: OSRM с графом Москвы и области, общественный транспорт — </a:t>
            </a:r>
            <a:r>
              <a:rPr lang="ru-RU" sz="1400" dirty="0" smtClean="0">
                <a:solidFill>
                  <a:srgbClr val="1C1D22"/>
                </a:solidFill>
              </a:rPr>
              <a:t>данные из открытого </a:t>
            </a:r>
            <a:r>
              <a:rPr lang="en-US" sz="1400" dirty="0" smtClean="0">
                <a:solidFill>
                  <a:srgbClr val="1C1D22"/>
                </a:solidFill>
              </a:rPr>
              <a:t>API</a:t>
            </a:r>
            <a:r>
              <a:rPr lang="ru-RU" sz="1400" dirty="0" smtClean="0">
                <a:solidFill>
                  <a:srgbClr val="1C1D22"/>
                </a:solidFill>
              </a:rPr>
              <a:t>.</a:t>
            </a:r>
            <a:endParaRPr lang="ru-RU" sz="1400" dirty="0" smtClean="0">
              <a:solidFill>
                <a:srgbClr val="1C1D22"/>
              </a:solidFill>
            </a:endParaRPr>
          </a:p>
          <a:p>
            <a:pPr>
              <a:buClr>
                <a:schemeClr val="accent1"/>
              </a:buClr>
            </a:pPr>
            <a:r>
              <a:rPr lang="ru-RU" sz="1400" dirty="0" smtClean="0">
                <a:solidFill>
                  <a:srgbClr val="1C1D22"/>
                </a:solidFill>
              </a:rPr>
              <a:t>Утренний план ищется </a:t>
            </a:r>
            <a:r>
              <a:rPr lang="ru-RU" sz="1400" dirty="0" smtClean="0">
                <a:solidFill>
                  <a:srgbClr val="1C1D22"/>
                </a:solidFill>
              </a:rPr>
              <a:t>заранее, </a:t>
            </a:r>
            <a:r>
              <a:rPr lang="ru-RU" sz="1400" dirty="0" smtClean="0">
                <a:solidFill>
                  <a:srgbClr val="1C1D22"/>
                </a:solidFill>
              </a:rPr>
              <a:t>событие дня пересчитывается за секунды: начатые визиты закреплены, остаток дня решается заново.</a:t>
            </a:r>
          </a:p>
          <a:p>
            <a:pPr>
              <a:buClr>
                <a:schemeClr val="accent1"/>
              </a:buClr>
            </a:pPr>
            <a:r>
              <a:rPr lang="ru-RU" sz="1400" dirty="0" err="1" smtClean="0">
                <a:solidFill>
                  <a:srgbClr val="1C1D22"/>
                </a:solidFill>
              </a:rPr>
              <a:t>FastAPI</a:t>
            </a:r>
            <a:r>
              <a:rPr lang="ru-RU" sz="1400" dirty="0" smtClean="0">
                <a:solidFill>
                  <a:srgbClr val="1C1D22"/>
                </a:solidFill>
              </a:rPr>
              <a:t> и </a:t>
            </a:r>
            <a:r>
              <a:rPr lang="ru-RU" sz="1400" dirty="0" err="1" smtClean="0">
                <a:solidFill>
                  <a:srgbClr val="1C1D22"/>
                </a:solidFill>
              </a:rPr>
              <a:t>React</a:t>
            </a:r>
            <a:r>
              <a:rPr lang="ru-RU" sz="1400" dirty="0" smtClean="0">
                <a:solidFill>
                  <a:srgbClr val="1C1D22"/>
                </a:solidFill>
              </a:rPr>
              <a:t>, </a:t>
            </a:r>
            <a:r>
              <a:rPr lang="ru-RU" sz="1400" dirty="0" err="1" smtClean="0">
                <a:solidFill>
                  <a:srgbClr val="1C1D22"/>
                </a:solidFill>
              </a:rPr>
              <a:t>Postgres</a:t>
            </a:r>
            <a:r>
              <a:rPr lang="ru-RU" sz="1400" dirty="0" smtClean="0">
                <a:solidFill>
                  <a:srgbClr val="1C1D22"/>
                </a:solidFill>
              </a:rPr>
              <a:t>, </a:t>
            </a:r>
            <a:r>
              <a:rPr lang="ru-RU" sz="1400" dirty="0" err="1" smtClean="0">
                <a:solidFill>
                  <a:srgbClr val="1C1D22"/>
                </a:solidFill>
              </a:rPr>
              <a:t>Docker</a:t>
            </a:r>
            <a:r>
              <a:rPr lang="ru-RU" sz="1400" dirty="0" smtClean="0">
                <a:solidFill>
                  <a:srgbClr val="1C1D22"/>
                </a:solidFill>
              </a:rPr>
              <a:t>. Помощник на LLM только предлагает события — план меняет диспетчер.</a:t>
            </a:r>
            <a:endParaRPr lang="ru-RU" sz="1400" dirty="0">
              <a:solidFill>
                <a:srgbClr val="1C1D22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xmlns="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>
              <a:buClr>
                <a:schemeClr val="accent1"/>
              </a:buClr>
            </a:pPr>
            <a:r>
              <a:rPr lang="ru-RU" sz="1400" dirty="0" smtClean="0">
                <a:solidFill>
                  <a:srgbClr val="1C1D22"/>
                </a:solidFill>
              </a:rPr>
              <a:t>−11 бригад в день на трёх регионах и −81 км </a:t>
            </a:r>
            <a:r>
              <a:rPr lang="ru-RU" sz="1400" dirty="0" smtClean="0">
                <a:solidFill>
                  <a:srgbClr val="1C1D22"/>
                </a:solidFill>
              </a:rPr>
              <a:t>по сравнению с  диспетчерами: </a:t>
            </a:r>
            <a:r>
              <a:rPr lang="ru-RU" sz="1400" dirty="0" smtClean="0">
                <a:solidFill>
                  <a:srgbClr val="1C1D22"/>
                </a:solidFill>
              </a:rPr>
              <a:t>освободившиеся смены — запас на аварии и новые заявки.</a:t>
            </a:r>
          </a:p>
          <a:p>
            <a:pPr>
              <a:buClr>
                <a:schemeClr val="accent1"/>
              </a:buClr>
            </a:pPr>
            <a:r>
              <a:rPr lang="ru-RU" sz="1400" dirty="0" smtClean="0">
                <a:solidFill>
                  <a:srgbClr val="1C1D22"/>
                </a:solidFill>
              </a:rPr>
              <a:t>Диспетчер видит, почему заявка у этой бригады, кому из клиентов позвонить и итоги дня.</a:t>
            </a:r>
          </a:p>
          <a:p>
            <a:pPr>
              <a:buClr>
                <a:schemeClr val="accent1"/>
              </a:buClr>
            </a:pPr>
            <a:r>
              <a:rPr lang="ru-RU" sz="1400" dirty="0" smtClean="0">
                <a:solidFill>
                  <a:srgbClr val="1C1D22"/>
                </a:solidFill>
              </a:rPr>
              <a:t>Развитие: модель помощника внутри контура </a:t>
            </a:r>
            <a:r>
              <a:rPr lang="ru-RU" sz="1400" dirty="0" err="1" smtClean="0">
                <a:solidFill>
                  <a:srgbClr val="1C1D22"/>
                </a:solidFill>
              </a:rPr>
              <a:t>Билайна</a:t>
            </a:r>
            <a:r>
              <a:rPr lang="ru-RU" sz="1400" dirty="0" smtClean="0">
                <a:solidFill>
                  <a:srgbClr val="1C1D22"/>
                </a:solidFill>
              </a:rPr>
              <a:t>, события от самих инженеров, пробки по моменту выезда, несколько регионов сразу</a:t>
            </a:r>
            <a:r>
              <a:rPr lang="ru-RU" sz="1400" dirty="0" smtClean="0">
                <a:solidFill>
                  <a:srgbClr val="1C1D22"/>
                </a:solidFill>
              </a:rPr>
              <a:t>. Расчет графа </a:t>
            </a:r>
            <a:r>
              <a:rPr lang="en-US" sz="1400" dirty="0" smtClean="0">
                <a:solidFill>
                  <a:srgbClr val="1C1D22"/>
                </a:solidFill>
              </a:rPr>
              <a:t>OSRM</a:t>
            </a:r>
            <a:r>
              <a:rPr lang="ru-RU" sz="1400" dirty="0" smtClean="0">
                <a:solidFill>
                  <a:srgbClr val="1C1D22"/>
                </a:solidFill>
              </a:rPr>
              <a:t> и маршрутов ночью</a:t>
            </a:r>
            <a:r>
              <a:rPr lang="en-US" sz="1400" dirty="0" smtClean="0">
                <a:solidFill>
                  <a:srgbClr val="1C1D22"/>
                </a:solidFill>
              </a:rPr>
              <a:t>. </a:t>
            </a:r>
            <a:r>
              <a:rPr lang="ru-RU" sz="1400" dirty="0" smtClean="0">
                <a:solidFill>
                  <a:srgbClr val="1C1D22"/>
                </a:solidFill>
              </a:rPr>
              <a:t>Исследование возможности динамического расчета времени в пути и планирования с учетом этого</a:t>
            </a:r>
            <a:r>
              <a:rPr lang="en-US" sz="1400" dirty="0" smtClean="0">
                <a:solidFill>
                  <a:srgbClr val="1C1D22"/>
                </a:solidFill>
              </a:rPr>
              <a:t>. </a:t>
            </a:r>
            <a:endParaRPr lang="ru-RU" sz="1400" dirty="0" smtClean="0">
              <a:solidFill>
                <a:srgbClr val="1C1D22"/>
              </a:solidFill>
            </a:endParaRPr>
          </a:p>
          <a:p>
            <a:pPr marL="0" indent="0">
              <a:buNone/>
            </a:pPr>
            <a:endParaRPr lang="ru-RU" sz="1400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xmlns="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sz="2000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xmlns="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xmlns="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39987764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Логотипы организаторов"/>
          <p:cNvPicPr>
            <a:picLocks noChangeAspect="1"/>
          </p:cNvPicPr>
          <p:nvPr/>
        </p:nvPicPr>
        <p:blipFill>
          <a:blip r:embed="rIdBrandLogos"/>
          <a:stretch>
            <a:fillRect/>
          </a:stretch>
        </p:blipFill>
        <p:spPr>
          <a:xfrm>
            <a:off x="6966826" y="307571"/>
            <a:ext cx="4938235" cy="390698"/>
          </a:xfrm>
          <a:prstGeom prst="rect">
            <a:avLst/>
          </a:prstGeom>
        </p:spPr>
      </p:pic>
      <p:sp>
        <p:nvSpPr>
          <p:cNvPr id="15" name="Номер слайда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141414"/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6</a:t>
            </a:fld>
            <a:endParaRPr lang="ru-RU" dirty="0"/>
          </a:p>
        </p:txBody>
      </p:sp>
      <p:sp>
        <p:nvSpPr>
          <p:cNvPr id="16" name="Карточка pill"/>
          <p:cNvSpPr/>
          <p:nvPr/>
        </p:nvSpPr>
        <p:spPr>
          <a:xfrm>
            <a:off x="347472" y="320040"/>
            <a:ext cx="3835908" cy="621792"/>
          </a:xfrm>
          <a:prstGeom prst="roundRect">
            <a:avLst>
              <a:gd name="adj" fmla="val 20588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wrap="square" lIns="182880" tIns="0" rIns="73152" bIns="0" rtlCol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+mj-lt"/>
              </a:rPr>
              <a:t>ПРОБЛЕМА И РЕШЕНИЕ</a:t>
            </a:r>
          </a:p>
        </p:txBody>
      </p:sp>
      <p:sp>
        <p:nvSpPr>
          <p:cNvPr id="17" name="Карточка"/>
          <p:cNvSpPr/>
          <p:nvPr/>
        </p:nvSpPr>
        <p:spPr>
          <a:xfrm>
            <a:off x="548640" y="1325880"/>
            <a:ext cx="3566160" cy="4846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1247" y="1600200"/>
            <a:ext cx="137160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400" b="1">
                <a:solidFill>
                  <a:srgbClr val="141414"/>
                </a:solidFill>
                <a:latin typeface="Montserrat"/>
              </a:rPr>
              <a:t>01</a:t>
            </a:r>
          </a:p>
        </p:txBody>
      </p:sp>
      <p:sp>
        <p:nvSpPr>
          <p:cNvPr id="32" name="Круг иконки"/>
          <p:cNvSpPr/>
          <p:nvPr/>
        </p:nvSpPr>
        <p:spPr>
          <a:xfrm>
            <a:off x="3047054" y="1607820"/>
            <a:ext cx="762000" cy="762000"/>
          </a:xfrm>
          <a:prstGeom prst="ellipse">
            <a:avLst/>
          </a:prstGeom>
          <a:solidFill>
            <a:srgbClr val="FFC800"/>
          </a:solidFill>
          <a:ln>
            <a:noFill/>
          </a:ln>
          <a:effectLst/>
        </p:spPr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3199454" y="1760220"/>
            <a:ext cx="457200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41247" y="2560320"/>
            <a:ext cx="3017520" cy="37109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100" b="1" smtClean="0">
                <a:solidFill>
                  <a:srgbClr val="141414"/>
                </a:solidFill>
                <a:latin typeface="+mj-lt"/>
              </a:rPr>
              <a:t>Проблема</a:t>
            </a:r>
            <a:endParaRPr sz="2100" b="1">
              <a:solidFill>
                <a:srgbClr val="141414"/>
              </a:solidFill>
              <a:latin typeface="+mj-lt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41247" y="3050286"/>
            <a:ext cx="3017520" cy="3291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0">
                <a:solidFill>
                  <a:srgbClr val="141414"/>
                </a:solidFill>
              </a:rPr>
              <a:t>Диспетчер вручную раскладывает </a:t>
            </a:r>
            <a:r>
              <a:rPr sz="1500" b="1">
                <a:solidFill>
                  <a:srgbClr val="141414"/>
                </a:solidFill>
              </a:rPr>
              <a:t>56–83 заявки</a:t>
            </a:r>
            <a:r>
              <a:rPr sz="1500" b="0">
                <a:solidFill>
                  <a:srgbClr val="141414"/>
                </a:solidFill>
              </a:rPr>
              <a:t> в день на </a:t>
            </a:r>
            <a:r>
              <a:rPr sz="1500" b="1">
                <a:solidFill>
                  <a:srgbClr val="141414"/>
                </a:solidFill>
              </a:rPr>
              <a:t>11–12 бригад</a:t>
            </a:r>
            <a:r>
              <a:rPr sz="1500" b="0">
                <a:solidFill>
                  <a:srgbClr val="141414"/>
                </a:solidFill>
              </a:rPr>
              <a:t>: окна клиентов, навыки, транспорт, смены.</a:t>
            </a:r>
          </a:p>
          <a:p>
            <a:pPr algn="l">
              <a:spcBef>
                <a:spcPts val="1000"/>
              </a:spcBef>
            </a:pPr>
            <a:r>
              <a:rPr sz="1500" b="0">
                <a:solidFill>
                  <a:srgbClr val="141414"/>
                </a:solidFill>
              </a:rPr>
              <a:t>Базовый способ из ТЗ — «первой подходящей бригаде по порядку» — на Юго-востоке оставляет без исполнителя </a:t>
            </a:r>
            <a:r>
              <a:rPr sz="1500" b="1">
                <a:solidFill>
                  <a:srgbClr val="141414"/>
                </a:solidFill>
              </a:rPr>
              <a:t>34 заявки из 83</a:t>
            </a:r>
            <a:r>
              <a:rPr sz="1500" b="0">
                <a:solidFill>
                  <a:srgbClr val="141414"/>
                </a:solidFill>
              </a:rPr>
              <a:t> и гоняет бригады на </a:t>
            </a:r>
            <a:r>
              <a:rPr sz="1500" b="1">
                <a:solidFill>
                  <a:srgbClr val="141414"/>
                </a:solidFill>
              </a:rPr>
              <a:t>1007 км</a:t>
            </a:r>
            <a:r>
              <a:rPr sz="1500" b="0">
                <a:solidFill>
                  <a:srgbClr val="141414"/>
                </a:solidFill>
              </a:rPr>
              <a:t>.</a:t>
            </a:r>
          </a:p>
        </p:txBody>
      </p:sp>
      <p:sp>
        <p:nvSpPr>
          <p:cNvPr id="22" name="Карточка"/>
          <p:cNvSpPr/>
          <p:nvPr/>
        </p:nvSpPr>
        <p:spPr>
          <a:xfrm>
            <a:off x="4361688" y="1325880"/>
            <a:ext cx="3566160" cy="4846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54296" y="1600200"/>
            <a:ext cx="137160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400" b="1">
                <a:solidFill>
                  <a:srgbClr val="141414"/>
                </a:solidFill>
                <a:latin typeface="Montserrat"/>
              </a:rPr>
              <a:t>02</a:t>
            </a:r>
          </a:p>
        </p:txBody>
      </p:sp>
      <p:sp>
        <p:nvSpPr>
          <p:cNvPr id="33" name="Круг иконки"/>
          <p:cNvSpPr/>
          <p:nvPr/>
        </p:nvSpPr>
        <p:spPr>
          <a:xfrm>
            <a:off x="6889458" y="1607820"/>
            <a:ext cx="762000" cy="762000"/>
          </a:xfrm>
          <a:prstGeom prst="ellipse">
            <a:avLst/>
          </a:prstGeom>
          <a:solidFill>
            <a:srgbClr val="FFC800"/>
          </a:solidFill>
          <a:ln>
            <a:noFill/>
          </a:ln>
          <a:effectLst/>
        </p:spPr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7041858" y="1760220"/>
            <a:ext cx="457200" cy="4572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654296" y="2560320"/>
            <a:ext cx="3017520" cy="37109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100" b="1">
                <a:solidFill>
                  <a:srgbClr val="141414"/>
                </a:solidFill>
                <a:latin typeface="+mj-lt"/>
              </a:rPr>
              <a:t>Что есть на рынке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54296" y="3050286"/>
            <a:ext cx="3017520" cy="3291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0">
                <a:solidFill>
                  <a:srgbClr val="141414"/>
                </a:solidFill>
              </a:rPr>
              <a:t>Платформы маршрутизации — Яндекс Маршрутизация, Veeroute, Relog — внешние сервисы: им отдают заявки с адресами клиентов и получают готовые маршруты.</a:t>
            </a:r>
          </a:p>
          <a:p>
            <a:pPr algn="l">
              <a:spcBef>
                <a:spcPts val="1000"/>
              </a:spcBef>
            </a:pPr>
            <a:r>
              <a:rPr sz="1500" b="0">
                <a:solidFill>
                  <a:srgbClr val="141414"/>
                </a:solidFill>
              </a:rPr>
              <a:t>Объяснений решения на языке диспетчера мы у них </a:t>
            </a:r>
            <a:r>
              <a:rPr sz="1500" b="1">
                <a:solidFill>
                  <a:srgbClr val="141414"/>
                </a:solidFill>
              </a:rPr>
              <a:t>не нашли</a:t>
            </a:r>
            <a:r>
              <a:rPr sz="1500" b="0">
                <a:solidFill>
                  <a:srgbClr val="141414"/>
                </a:solidFill>
              </a:rPr>
              <a:t>.</a:t>
            </a:r>
          </a:p>
        </p:txBody>
      </p:sp>
      <p:sp>
        <p:nvSpPr>
          <p:cNvPr id="27" name="Карточка"/>
          <p:cNvSpPr/>
          <p:nvPr/>
        </p:nvSpPr>
        <p:spPr>
          <a:xfrm>
            <a:off x="8174736" y="1325880"/>
            <a:ext cx="3566160" cy="4846320"/>
          </a:xfrm>
          <a:prstGeom prst="roundRect">
            <a:avLst>
              <a:gd name="adj" fmla="val 7000"/>
            </a:avLst>
          </a:prstGeom>
          <a:solidFill>
            <a:srgbClr val="FFC800"/>
          </a:solidFill>
          <a:ln w="22225"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467344" y="1600200"/>
            <a:ext cx="137160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400" b="1">
                <a:solidFill>
                  <a:srgbClr val="141414"/>
                </a:solidFill>
                <a:latin typeface="Montserrat"/>
              </a:rPr>
              <a:t>03</a:t>
            </a:r>
          </a:p>
        </p:txBody>
      </p:sp>
      <p:sp>
        <p:nvSpPr>
          <p:cNvPr id="34" name="Круг иконки"/>
          <p:cNvSpPr/>
          <p:nvPr/>
        </p:nvSpPr>
        <p:spPr>
          <a:xfrm>
            <a:off x="10651236" y="1607820"/>
            <a:ext cx="762000" cy="762000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10803636" y="1760220"/>
            <a:ext cx="457200" cy="4572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467344" y="2560320"/>
            <a:ext cx="3017520" cy="37109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100" b="1">
                <a:solidFill>
                  <a:srgbClr val="141414"/>
                </a:solidFill>
                <a:latin typeface="Montserrat"/>
              </a:rPr>
              <a:t>Наше решение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050286"/>
            <a:ext cx="3017520" cy="3291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0">
                <a:solidFill>
                  <a:srgbClr val="141414"/>
                </a:solidFill>
                <a:latin typeface="Montserrat"/>
              </a:rPr>
              <a:t>Сервис для диспетчера: раскладывает день по бригадам, строит маршруты по дорогам Москвы и области, </a:t>
            </a:r>
            <a:r>
              <a:rPr sz="1500" b="1">
                <a:solidFill>
                  <a:srgbClr val="141414"/>
                </a:solidFill>
                <a:latin typeface="Montserrat"/>
              </a:rPr>
              <a:t>объясняет каждое назначение</a:t>
            </a:r>
            <a:r>
              <a:rPr sz="1500" b="0">
                <a:solidFill>
                  <a:srgbClr val="141414"/>
                </a:solidFill>
                <a:latin typeface="Montserrat"/>
              </a:rPr>
              <a:t> и пересчитывает день на любое событие — </a:t>
            </a:r>
            <a:r>
              <a:rPr sz="1500" b="1">
                <a:solidFill>
                  <a:srgbClr val="141414"/>
                </a:solidFill>
                <a:latin typeface="Montserrat"/>
              </a:rPr>
              <a:t>с вариантами и ценой решения</a:t>
            </a:r>
            <a:r>
              <a:rPr sz="1500" b="0">
                <a:solidFill>
                  <a:srgbClr val="141414"/>
                </a:solidFill>
                <a:latin typeface="Montserrat"/>
              </a:rPr>
              <a:t>.</a:t>
            </a:r>
          </a:p>
          <a:p>
            <a:pPr algn="l">
              <a:spcBef>
                <a:spcPts val="1000"/>
              </a:spcBef>
            </a:pPr>
            <a:r>
              <a:rPr sz="1500" b="1">
                <a:solidFill>
                  <a:srgbClr val="141414"/>
                </a:solidFill>
                <a:latin typeface="Montserrat"/>
              </a:rPr>
              <a:t>Последнее слово — за человеком.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8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Логотипы организаторов"/>
          <p:cNvPicPr>
            <a:picLocks noChangeAspect="1"/>
          </p:cNvPicPr>
          <p:nvPr/>
        </p:nvPicPr>
        <p:blipFill>
          <a:blip r:embed="rIdBrandLogos"/>
          <a:stretch>
            <a:fillRect/>
          </a:stretch>
        </p:blipFill>
        <p:spPr>
          <a:xfrm>
            <a:off x="6966826" y="307571"/>
            <a:ext cx="4938235" cy="390698"/>
          </a:xfrm>
          <a:prstGeom prst="rect">
            <a:avLst/>
          </a:prstGeom>
        </p:spPr>
      </p:pic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141414"/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7</a:t>
            </a:fld>
            <a:endParaRPr lang="ru-RU" dirty="0"/>
          </a:p>
        </p:txBody>
      </p:sp>
      <p:sp>
        <p:nvSpPr>
          <p:cNvPr id="5" name="Панель"/>
          <p:cNvSpPr/>
          <p:nvPr/>
        </p:nvSpPr>
        <p:spPr>
          <a:xfrm>
            <a:off x="0" y="0"/>
            <a:ext cx="6455664" cy="6858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566928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800" b="1">
                <a:solidFill>
                  <a:srgbClr val="FFFFFF"/>
                </a:solidFill>
                <a:latin typeface="+mj-lt"/>
              </a:rPr>
              <a:t>ЭФФЕКТ НА ДАННЫХ БИЛАЙНА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566928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FFFFFF"/>
                </a:solidFill>
                <a:latin typeface="Montserrat"/>
              </a:rPr>
              <a:t>Один день — 17.08.2026, три настоящих региона: Восток, Юго-восток, Югоцентр, 205 заявок. Сравниваем с решениями живых диспетчеров.</a:t>
            </a:r>
          </a:p>
        </p:txBody>
      </p:sp>
      <p:sp>
        <p:nvSpPr>
          <p:cNvPr id="21" name="Круг иконки"/>
          <p:cNvSpPr/>
          <p:nvPr/>
        </p:nvSpPr>
        <p:spPr>
          <a:xfrm>
            <a:off x="558800" y="2401824"/>
            <a:ext cx="609600" cy="609600"/>
          </a:xfrm>
          <a:prstGeom prst="ellipse">
            <a:avLst/>
          </a:prstGeom>
          <a:solidFill>
            <a:srgbClr val="FFC800"/>
          </a:solidFill>
          <a:ln>
            <a:noFill/>
          </a:ln>
          <a:effectLst/>
        </p:spPr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80720" y="2523744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63040" y="2286000"/>
            <a:ext cx="4846320" cy="566928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/>
            <a:r>
              <a:rPr sz="3600" b="1">
                <a:solidFill>
                  <a:srgbClr val="FFC800"/>
                </a:solidFill>
                <a:latin typeface="Montserrat"/>
              </a:rPr>
              <a:t>24</a:t>
            </a:r>
            <a:r>
              <a:rPr sz="1900" b="1">
                <a:solidFill>
                  <a:srgbClr val="FFFFFF"/>
                </a:solidFill>
                <a:latin typeface="Montserrat"/>
              </a:rPr>
              <a:t> бригады вместо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871216"/>
            <a:ext cx="484632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0">
                <a:solidFill>
                  <a:srgbClr val="FFFFFF"/>
                </a:solidFill>
                <a:latin typeface="Montserrat"/>
              </a:rPr>
              <a:t>−11 смен в день: у диспетчеров и базового варианта — все 35</a:t>
            </a:r>
          </a:p>
        </p:txBody>
      </p:sp>
      <p:sp>
        <p:nvSpPr>
          <p:cNvPr id="22" name="Круг иконки"/>
          <p:cNvSpPr/>
          <p:nvPr/>
        </p:nvSpPr>
        <p:spPr>
          <a:xfrm>
            <a:off x="558800" y="3380232"/>
            <a:ext cx="609600" cy="609600"/>
          </a:xfrm>
          <a:prstGeom prst="ellipse">
            <a:avLst/>
          </a:prstGeom>
          <a:solidFill>
            <a:srgbClr val="FFC800"/>
          </a:solidFill>
          <a:ln>
            <a:noFill/>
          </a:ln>
          <a:effectLst/>
        </p:spPr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680720" y="3502152"/>
            <a:ext cx="365760" cy="365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63040" y="3264408"/>
            <a:ext cx="4846320" cy="566928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/>
            <a:r>
              <a:rPr sz="3600" b="1">
                <a:solidFill>
                  <a:srgbClr val="FFC800"/>
                </a:solidFill>
                <a:latin typeface="Montserrat"/>
              </a:rPr>
              <a:t>775,5 км</a:t>
            </a:r>
            <a:r>
              <a:rPr sz="1900" b="1">
                <a:solidFill>
                  <a:srgbClr val="FFFFFF"/>
                </a:solidFill>
                <a:latin typeface="Montserrat"/>
              </a:rPr>
              <a:t> вместо 856,7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849624"/>
            <a:ext cx="484632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0">
                <a:solidFill>
                  <a:srgbClr val="FFFFFF"/>
                </a:solidFill>
                <a:latin typeface="Montserrat"/>
              </a:rPr>
              <a:t>−81 км к диспетчерам, −895 км к базовому варианту</a:t>
            </a:r>
          </a:p>
        </p:txBody>
      </p:sp>
      <p:sp>
        <p:nvSpPr>
          <p:cNvPr id="23" name="Круг иконки"/>
          <p:cNvSpPr/>
          <p:nvPr/>
        </p:nvSpPr>
        <p:spPr>
          <a:xfrm>
            <a:off x="558800" y="4358640"/>
            <a:ext cx="609600" cy="609600"/>
          </a:xfrm>
          <a:prstGeom prst="ellipse">
            <a:avLst/>
          </a:prstGeom>
          <a:solidFill>
            <a:srgbClr val="FFC800"/>
          </a:solidFill>
          <a:ln>
            <a:noFill/>
          </a:ln>
          <a:effectLst/>
        </p:spPr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680720" y="4480560"/>
            <a:ext cx="365760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463040" y="4242816"/>
            <a:ext cx="4846320" cy="566928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/>
            <a:r>
              <a:rPr sz="3600" b="1">
                <a:solidFill>
                  <a:srgbClr val="FFC800"/>
                </a:solidFill>
                <a:latin typeface="Montserrat"/>
              </a:rPr>
              <a:t>205</a:t>
            </a:r>
            <a:r>
              <a:rPr sz="1900" b="1">
                <a:solidFill>
                  <a:srgbClr val="FFFFFF"/>
                </a:solidFill>
                <a:latin typeface="Montserrat"/>
              </a:rPr>
              <a:t> из 205 заявок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4828032"/>
            <a:ext cx="484632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0">
                <a:solidFill>
                  <a:srgbClr val="FFFFFF"/>
                </a:solidFill>
                <a:latin typeface="Montserrat"/>
              </a:rPr>
              <a:t>у диспетчеров — 203, у базового варианта — 144</a:t>
            </a:r>
          </a:p>
        </p:txBody>
      </p:sp>
      <p:sp>
        <p:nvSpPr>
          <p:cNvPr id="24" name="Круг иконки"/>
          <p:cNvSpPr/>
          <p:nvPr/>
        </p:nvSpPr>
        <p:spPr>
          <a:xfrm>
            <a:off x="558800" y="5337048"/>
            <a:ext cx="609600" cy="609600"/>
          </a:xfrm>
          <a:prstGeom prst="ellipse">
            <a:avLst/>
          </a:prstGeom>
          <a:solidFill>
            <a:srgbClr val="FFC800"/>
          </a:solidFill>
          <a:ln>
            <a:noFill/>
          </a:ln>
          <a:effectLst/>
        </p:spPr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680720" y="5458968"/>
            <a:ext cx="365760" cy="3657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463040" y="5221224"/>
            <a:ext cx="4846320" cy="566928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/>
            <a:r>
              <a:rPr sz="3600" b="1">
                <a:solidFill>
                  <a:srgbClr val="FFC800"/>
                </a:solidFill>
                <a:latin typeface="Montserrat"/>
              </a:rPr>
              <a:t>0</a:t>
            </a:r>
            <a:r>
              <a:rPr sz="1900" b="1">
                <a:solidFill>
                  <a:srgbClr val="FFFFFF"/>
                </a:solidFill>
                <a:latin typeface="Montserrat"/>
              </a:rPr>
              <a:t> нарушений окна, смены и плеча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5806440"/>
            <a:ext cx="484632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0">
                <a:solidFill>
                  <a:srgbClr val="FFFFFF"/>
                </a:solidFill>
                <a:latin typeface="Montserrat"/>
              </a:rPr>
              <a:t>у диспетчеров — 35; даже при смене 09:30–23:00 —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199632"/>
            <a:ext cx="576072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FFFFFF"/>
                </a:solidFill>
                <a:latin typeface="Montserrat"/>
              </a:rPr>
              <a:t>Нарушения — по нашей модели времени в пути (дороги OSRM). У диспетчеров назначения — из выгрузки, порядок визитов (в выгрузке его нет) — по концу окна, старт из офиса, без обеда.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Логотипы организаторов"/>
          <p:cNvPicPr>
            <a:picLocks noChangeAspect="1"/>
          </p:cNvPicPr>
          <p:nvPr/>
        </p:nvPicPr>
        <p:blipFill>
          <a:blip r:embed="rIdBrandLogos"/>
          <a:stretch>
            <a:fillRect/>
          </a:stretch>
        </p:blipFill>
        <p:spPr>
          <a:xfrm>
            <a:off x="6966826" y="307571"/>
            <a:ext cx="4938235" cy="390698"/>
          </a:xfrm>
          <a:prstGeom prst="rect">
            <a:avLst/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141414"/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8</a:t>
            </a:fld>
            <a:endParaRPr lang="ru-RU" dirty="0"/>
          </a:p>
        </p:txBody>
      </p:sp>
      <p:sp>
        <p:nvSpPr>
          <p:cNvPr id="4" name="Карточка pill"/>
          <p:cNvSpPr/>
          <p:nvPr/>
        </p:nvSpPr>
        <p:spPr>
          <a:xfrm>
            <a:off x="347472" y="320040"/>
            <a:ext cx="3956558" cy="621792"/>
          </a:xfrm>
          <a:prstGeom prst="roundRect">
            <a:avLst>
              <a:gd name="adj" fmla="val 20588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wrap="square" lIns="182880" tIns="0" rIns="73152" bIns="0" rtlCol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Montserrat"/>
              </a:rPr>
              <a:t>БРИГАДЫ: 24 ВМЕСТО 35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274320" y="1143000"/>
          <a:ext cx="585216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5440680"/>
            <a:ext cx="571500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141414"/>
                </a:solidFill>
                <a:latin typeface="Montserrat"/>
              </a:rPr>
              <a:t>17.08.2026 · бригада = один выездной инженер. Базовый вариант из ТЗ: заявки по порядку — первой подходящей бригаде. Дороги OSRM — у всех планов; у диспетчеров назначения — из выгрузки, порядок визитов — по концу окна. Смен и транспорта в выгрузке нет: смена 10:00–22:00, транспорт — жеребьёвкой по долям (docs/assumptions.md).</a:t>
            </a:r>
          </a:p>
        </p:txBody>
      </p:sp>
      <p:sp>
        <p:nvSpPr>
          <p:cNvPr id="7" name="Карточка"/>
          <p:cNvSpPr/>
          <p:nvPr/>
        </p:nvSpPr>
        <p:spPr>
          <a:xfrm>
            <a:off x="6291072" y="1097280"/>
            <a:ext cx="5568696" cy="1536192"/>
          </a:xfrm>
          <a:prstGeom prst="roundRect">
            <a:avLst>
              <a:gd name="adj" fmla="val 12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6565392" y="1344168"/>
            <a:ext cx="411480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0" y="1298448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Montserrat"/>
              </a:rPr>
              <a:t>−11 бригад в день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847088"/>
            <a:ext cx="5074920" cy="7132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141414"/>
                </a:solidFill>
                <a:latin typeface="Montserrat"/>
              </a:rPr>
              <a:t>24 вместо 35</a:t>
            </a:r>
            <a:r>
              <a:rPr sz="1400" b="0">
                <a:solidFill>
                  <a:srgbClr val="141414"/>
                </a:solidFill>
                <a:latin typeface="Montserrat"/>
              </a:rPr>
              <a:t> на трёх регионах. Свободные смены — запас на аварии и новые заявки.</a:t>
            </a:r>
          </a:p>
        </p:txBody>
      </p:sp>
      <p:sp>
        <p:nvSpPr>
          <p:cNvPr id="11" name="Карточка"/>
          <p:cNvSpPr/>
          <p:nvPr/>
        </p:nvSpPr>
        <p:spPr>
          <a:xfrm>
            <a:off x="6291072" y="2788920"/>
            <a:ext cx="5568696" cy="1536192"/>
          </a:xfrm>
          <a:prstGeom prst="roundRect">
            <a:avLst>
              <a:gd name="adj" fmla="val 12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65392" y="3035808"/>
            <a:ext cx="411480" cy="4114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32320" y="2990088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Montserrat"/>
              </a:rPr>
              <a:t>Нагрузку задаёт диспетчер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65392" y="3538727"/>
            <a:ext cx="5074920" cy="7132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«Спокойный день», «Обычный день» или «На пределе» — сколько бригад выводить, решает человек. </a:t>
            </a:r>
            <a:r>
              <a:rPr sz="1400" b="1">
                <a:solidFill>
                  <a:srgbClr val="141414"/>
                </a:solidFill>
                <a:latin typeface="Montserrat"/>
              </a:rPr>
              <a:t>Обед 45 минут</a:t>
            </a:r>
            <a:r>
              <a:rPr sz="1400" b="0">
                <a:solidFill>
                  <a:srgbClr val="141414"/>
                </a:solidFill>
                <a:latin typeface="Montserrat"/>
              </a:rPr>
              <a:t> — в каждом маршруте.</a:t>
            </a:r>
          </a:p>
        </p:txBody>
      </p:sp>
      <p:sp>
        <p:nvSpPr>
          <p:cNvPr id="15" name="Карточка"/>
          <p:cNvSpPr/>
          <p:nvPr/>
        </p:nvSpPr>
        <p:spPr>
          <a:xfrm>
            <a:off x="6291072" y="4480560"/>
            <a:ext cx="5568696" cy="1536192"/>
          </a:xfrm>
          <a:prstGeom prst="roundRect">
            <a:avLst>
              <a:gd name="adj" fmla="val 12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6565392" y="4727448"/>
            <a:ext cx="411480" cy="4114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132320" y="4681728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Montserrat"/>
              </a:rPr>
              <a:t>Запас включается сам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5230368"/>
            <a:ext cx="5074920" cy="7132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Отдельного резерва нет: свободная бригада выходит в пересчёте, когда </a:t>
            </a:r>
            <a:r>
              <a:rPr sz="1400" b="1">
                <a:solidFill>
                  <a:srgbClr val="141414"/>
                </a:solidFill>
                <a:latin typeface="Montserrat"/>
              </a:rPr>
              <a:t>без неё заявка осталась бы без исполнителя</a:t>
            </a:r>
            <a:r>
              <a:rPr sz="1400" b="0">
                <a:solidFill>
                  <a:srgbClr val="141414"/>
                </a:solidFill>
                <a:latin typeface="Montserrat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Логотипы организаторов"/>
          <p:cNvPicPr>
            <a:picLocks noChangeAspect="1"/>
          </p:cNvPicPr>
          <p:nvPr/>
        </p:nvPicPr>
        <p:blipFill>
          <a:blip r:embed="rIdBrandLogos"/>
          <a:stretch>
            <a:fillRect/>
          </a:stretch>
        </p:blipFill>
        <p:spPr>
          <a:xfrm>
            <a:off x="6966826" y="307571"/>
            <a:ext cx="4938235" cy="390698"/>
          </a:xfrm>
          <a:prstGeom prst="rect">
            <a:avLst/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141414"/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9</a:t>
            </a:fld>
            <a:endParaRPr lang="ru-RU" dirty="0"/>
          </a:p>
        </p:txBody>
      </p:sp>
      <p:sp>
        <p:nvSpPr>
          <p:cNvPr id="4" name="Карточка pill"/>
          <p:cNvSpPr/>
          <p:nvPr/>
        </p:nvSpPr>
        <p:spPr>
          <a:xfrm>
            <a:off x="347472" y="320040"/>
            <a:ext cx="2874518" cy="621792"/>
          </a:xfrm>
          <a:prstGeom prst="roundRect">
            <a:avLst>
              <a:gd name="adj" fmla="val 20588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wrap="square" lIns="182880" tIns="0" rIns="73152" bIns="0" rtlCol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Montserrat"/>
              </a:rPr>
              <a:t>ПРОБЕГ ЗА ДЕНЬ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274320" y="1097280"/>
          <a:ext cx="6126480" cy="5074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6720840" y="1207008"/>
            <a:ext cx="384048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42048" y="1188720"/>
            <a:ext cx="4572000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Montserrat"/>
              </a:rPr>
              <a:t>775,5 км — наш план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42048" y="1645920"/>
            <a:ext cx="461772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Суммарный пробег трёх регионов за день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6720840" y="2423160"/>
            <a:ext cx="384048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42048" y="2404872"/>
            <a:ext cx="4572000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Montserrat"/>
              </a:rPr>
              <a:t>−81 км к диспетчерам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42048" y="2862072"/>
            <a:ext cx="461772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У живых диспетчеров Билайна — 856,7 км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6720840" y="3639312"/>
            <a:ext cx="384048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42048" y="3621024"/>
            <a:ext cx="4572000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Montserrat"/>
              </a:rPr>
              <a:t>В 2,2 раза меньше базового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4078224"/>
            <a:ext cx="461772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У базового варианта из ТЗ — 1670,1 км: −895 км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6720840" y="4855464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242048" y="4837176"/>
            <a:ext cx="4572000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Montserrat"/>
              </a:rPr>
              <a:t>Юго-восток — честно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42048" y="5294376"/>
            <a:ext cx="461772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362 км против 343 у диспетчеров, зато 10 бригад вместо 12 и 0 нарушений против 24 по нашей модели (15 даже при смене 09:30–23:00).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Логотипы организаторов"/>
          <p:cNvPicPr>
            <a:picLocks noChangeAspect="1"/>
          </p:cNvPicPr>
          <p:nvPr/>
        </p:nvPicPr>
        <p:blipFill>
          <a:blip r:embed="rIdBrandLogos"/>
          <a:stretch>
            <a:fillRect/>
          </a:stretch>
        </p:blipFill>
        <p:spPr>
          <a:xfrm>
            <a:off x="6966826" y="307571"/>
            <a:ext cx="4938235" cy="390698"/>
          </a:xfrm>
          <a:prstGeom prst="rect">
            <a:avLst/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141414"/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10</a:t>
            </a:fld>
            <a:endParaRPr lang="ru-RU" dirty="0"/>
          </a:p>
        </p:txBody>
      </p:sp>
      <p:sp>
        <p:nvSpPr>
          <p:cNvPr id="4" name="Карточка pill"/>
          <p:cNvSpPr/>
          <p:nvPr/>
        </p:nvSpPr>
        <p:spPr>
          <a:xfrm>
            <a:off x="347472" y="320040"/>
            <a:ext cx="3157728" cy="621792"/>
          </a:xfrm>
          <a:prstGeom prst="roundRect">
            <a:avLst>
              <a:gd name="adj" fmla="val 20588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wrap="square" lIns="182880" tIns="0" rIns="73152" bIns="0" rtlCol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Montserrat"/>
              </a:rPr>
              <a:t>205 ИЗ 205 ЗАЯВОК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078992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141414"/>
                </a:solidFill>
                <a:latin typeface="Montserrat"/>
              </a:rPr>
              <a:t>Все заявки дня получают исполнителя — и ни одна не выходит за окно клиента, смену инженера или предел плеча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800100" y="1572768"/>
          <a:ext cx="2697480" cy="2697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234440" y="2318004"/>
            <a:ext cx="1828800" cy="566928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ctr"/>
            <a:r>
              <a:rPr sz="3800" b="1">
                <a:solidFill>
                  <a:srgbClr val="141414"/>
                </a:solidFill>
                <a:latin typeface="Montserrat"/>
              </a:rPr>
              <a:t>144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90322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141414"/>
                </a:solidFill>
                <a:latin typeface="Montserrat"/>
              </a:rPr>
              <a:t>без нарушений</a:t>
            </a:r>
          </a:p>
          <a:p>
            <a:pPr algn="ctr"/>
            <a:r>
              <a:rPr sz="1200" b="0">
                <a:solidFill>
                  <a:srgbClr val="141414"/>
                </a:solidFill>
                <a:latin typeface="Montserrat"/>
              </a:rPr>
              <a:t>из 205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407408"/>
            <a:ext cx="3749039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700" b="1">
                <a:solidFill>
                  <a:srgbClr val="141414"/>
                </a:solidFill>
                <a:latin typeface="Montserrat"/>
              </a:rPr>
              <a:t>Базовый вариант из ТЗ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4773168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141414"/>
                </a:solidFill>
                <a:latin typeface="Montserrat"/>
              </a:rPr>
              <a:t>144 розданы</a:t>
            </a:r>
          </a:p>
          <a:p>
            <a:pPr algn="ctr"/>
            <a:r>
              <a:rPr sz="1200" b="0">
                <a:solidFill>
                  <a:srgbClr val="141414"/>
                </a:solidFill>
                <a:latin typeface="Montserrat"/>
              </a:rPr>
              <a:t>61 — без исполнителя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732020" y="1572768"/>
          <a:ext cx="2697480" cy="2697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66360" y="2318004"/>
            <a:ext cx="1828800" cy="566928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ctr"/>
            <a:r>
              <a:rPr sz="3800" b="1">
                <a:solidFill>
                  <a:srgbClr val="141414"/>
                </a:solidFill>
                <a:latin typeface="Montserrat"/>
              </a:rPr>
              <a:t>170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60" y="290322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141414"/>
                </a:solidFill>
                <a:latin typeface="Montserrat"/>
              </a:rPr>
              <a:t>без нарушений</a:t>
            </a:r>
          </a:p>
          <a:p>
            <a:pPr algn="ctr"/>
            <a:r>
              <a:rPr sz="1200" b="0">
                <a:solidFill>
                  <a:srgbClr val="141414"/>
                </a:solidFill>
                <a:latin typeface="Montserrat"/>
              </a:rPr>
              <a:t>из 205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4407408"/>
            <a:ext cx="3749039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700" b="1">
                <a:solidFill>
                  <a:srgbClr val="141414"/>
                </a:solidFill>
                <a:latin typeface="Montserrat"/>
              </a:rPr>
              <a:t>Диспетчеры Билайна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0520" y="4773168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141414"/>
                </a:solidFill>
                <a:latin typeface="Montserrat"/>
              </a:rPr>
              <a:t>203 розданы</a:t>
            </a:r>
          </a:p>
          <a:p>
            <a:pPr algn="ctr"/>
            <a:r>
              <a:rPr sz="1200" b="0">
                <a:solidFill>
                  <a:srgbClr val="141414"/>
                </a:solidFill>
                <a:latin typeface="Montserrat"/>
              </a:rPr>
              <a:t>у 33 — нарушение окна, смены или плеча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8663940" y="1572768"/>
          <a:ext cx="2697480" cy="2697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098280" y="2318004"/>
            <a:ext cx="1828800" cy="566928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ctr"/>
            <a:r>
              <a:rPr sz="3800" b="1">
                <a:solidFill>
                  <a:srgbClr val="141414"/>
                </a:solidFill>
                <a:latin typeface="Montserrat"/>
              </a:rPr>
              <a:t>205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8280" y="290322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141414"/>
                </a:solidFill>
                <a:latin typeface="Montserrat"/>
              </a:rPr>
              <a:t>без нарушений</a:t>
            </a:r>
          </a:p>
          <a:p>
            <a:pPr algn="ctr"/>
            <a:r>
              <a:rPr sz="1200" b="0">
                <a:solidFill>
                  <a:srgbClr val="141414"/>
                </a:solidFill>
                <a:latin typeface="Montserrat"/>
              </a:rPr>
              <a:t>из 205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59" y="4407408"/>
            <a:ext cx="3749039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700" b="1">
                <a:solidFill>
                  <a:srgbClr val="141414"/>
                </a:solidFill>
                <a:latin typeface="Montserrat"/>
              </a:rPr>
              <a:t>Наш план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10678794" y="4389120"/>
            <a:ext cx="411480" cy="28309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092440" y="4773168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141414"/>
                </a:solidFill>
                <a:latin typeface="Montserrat"/>
              </a:rPr>
              <a:t>205 розданы</a:t>
            </a:r>
          </a:p>
          <a:p>
            <a:pPr algn="ctr"/>
            <a:r>
              <a:rPr sz="1200" b="0">
                <a:solidFill>
                  <a:srgbClr val="141414"/>
                </a:solidFill>
                <a:latin typeface="Montserrat"/>
              </a:rPr>
              <a:t>0 нарушений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456029" y="5477256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712061" y="5422392"/>
            <a:ext cx="25679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141414"/>
                </a:solidFill>
                <a:latin typeface="Montserrat"/>
              </a:rPr>
              <a:t>назначены без нарушений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80001" y="5477256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36033" y="5422392"/>
            <a:ext cx="41656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141414"/>
                </a:solidFill>
                <a:latin typeface="Montserrat"/>
              </a:rPr>
              <a:t>с нарушением окна, смены или предела плеча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01633" y="5477256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A1A1A1"/>
          </a:solidFill>
          <a:ln w="6350"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957665" y="5422392"/>
            <a:ext cx="1778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141414"/>
                </a:solidFill>
                <a:latin typeface="Montserrat"/>
              </a:rPr>
              <a:t>без исполнителя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5833872"/>
            <a:ext cx="1090000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141414"/>
                </a:solidFill>
                <a:latin typeface="Montserrat"/>
              </a:rPr>
              <a:t>Нарушения — по нашей модели времени в пути: у диспетчеров 35 записей у 33 из 203 розданных заявок — 21 опоздание к окну (14 больше чем на 10 мин), 12 окончаний работы после 22:00, 2 плеча велобригады длиннее 15 км. Организаторы разрешили смену 09:30–23:00 на дорогу к первой заявке и доработку последней: даже так у диспетчеров 24 записи у 22 заявок, а наш план укладывается в 10:00–22:00. Плечо — один переезд: велосипед до 15 км, общественный транспорт до 25 км.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Логотипы организаторов"/>
          <p:cNvPicPr>
            <a:picLocks noChangeAspect="1"/>
          </p:cNvPicPr>
          <p:nvPr/>
        </p:nvPicPr>
        <p:blipFill>
          <a:blip r:embed="rIdBrandLogos"/>
          <a:stretch>
            <a:fillRect/>
          </a:stretch>
        </p:blipFill>
        <p:spPr>
          <a:xfrm>
            <a:off x="6966826" y="307571"/>
            <a:ext cx="4938235" cy="390698"/>
          </a:xfrm>
          <a:prstGeom prst="rect">
            <a:avLst/>
          </a:prstGeom>
        </p:spPr>
      </p:pic>
      <p:sp>
        <p:nvSpPr>
          <p:cNvPr id="13" name="Номер слайда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141414"/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11</a:t>
            </a:fld>
            <a:endParaRPr lang="ru-RU" dirty="0"/>
          </a:p>
        </p:txBody>
      </p:sp>
      <p:sp>
        <p:nvSpPr>
          <p:cNvPr id="14" name="Карточка pill"/>
          <p:cNvSpPr/>
          <p:nvPr/>
        </p:nvSpPr>
        <p:spPr>
          <a:xfrm>
            <a:off x="347472" y="320040"/>
            <a:ext cx="3548888" cy="621792"/>
          </a:xfrm>
          <a:prstGeom prst="roundRect">
            <a:avLst>
              <a:gd name="adj" fmla="val 20588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wrap="square" lIns="182880" tIns="0" rIns="73152" bIns="0" rtlCol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Montserrat"/>
              </a:rPr>
              <a:t>КАК ПРОХОДИТ ДЕНЬ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63040" y="3712463"/>
            <a:ext cx="9372600" cy="0"/>
          </a:xfrm>
          <a:prstGeom prst="line">
            <a:avLst/>
          </a:prstGeom>
          <a:ln w="22225">
            <a:solidFill>
              <a:srgbClr val="141414"/>
            </a:solidFill>
          </a:ln>
        </p:spPr>
        <p:style>
          <a:lnRef idx="2">
            <a:srgbClr val="141414"/>
          </a:lnRef>
          <a:fillRef idx="0">
            <a:srgbClr val="141414"/>
          </a:fillRef>
          <a:effectRef idx="1">
            <a:srgbClr val="141414"/>
          </a:effectRef>
          <a:fontRef idx="minor">
            <a:srgbClr val="141414"/>
          </a:fontRef>
        </p:style>
      </p:cxnSp>
      <p:cxnSp>
        <p:nvCxnSpPr>
          <p:cNvPr id="16" name="Connector 15"/>
          <p:cNvCxnSpPr/>
          <p:nvPr/>
        </p:nvCxnSpPr>
        <p:spPr>
          <a:xfrm>
            <a:off x="1463040" y="3090672"/>
            <a:ext cx="0" cy="356616"/>
          </a:xfrm>
          <a:prstGeom prst="line">
            <a:avLst/>
          </a:prstGeom>
          <a:ln w="19050">
            <a:solidFill>
              <a:srgbClr val="141414"/>
            </a:solidFill>
          </a:ln>
        </p:spPr>
        <p:style>
          <a:lnRef idx="2">
            <a:srgbClr val="141414"/>
          </a:lnRef>
          <a:fillRef idx="0">
            <a:srgbClr val="141414"/>
          </a:fillRef>
          <a:effectRef idx="1">
            <a:srgbClr val="141414"/>
          </a:effectRef>
          <a:fontRef idx="minor">
            <a:srgbClr val="141414"/>
          </a:fontRef>
        </p:style>
      </p:cxnSp>
      <p:sp>
        <p:nvSpPr>
          <p:cNvPr id="17" name="Карточка"/>
          <p:cNvSpPr/>
          <p:nvPr/>
        </p:nvSpPr>
        <p:spPr>
          <a:xfrm>
            <a:off x="365760" y="1188720"/>
            <a:ext cx="3566160" cy="19019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43000" y="137160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800" b="1">
                <a:solidFill>
                  <a:srgbClr val="141414"/>
                </a:solidFill>
                <a:latin typeface="Montserrat"/>
              </a:rPr>
              <a:t>Ночь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1920240"/>
            <a:ext cx="3154679" cy="11155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141414"/>
                </a:solidFill>
                <a:latin typeface="Montserrat"/>
              </a:rPr>
              <a:t>Сервер считает граф дорог OSRM, время на общественном транспорте через API 2ГИС и поиском OR-Tools — маршруты каждого региона</a:t>
            </a:r>
          </a:p>
        </p:txBody>
      </p:sp>
      <p:sp>
        <p:nvSpPr>
          <p:cNvPr id="21" name="Шаг 1"/>
          <p:cNvSpPr/>
          <p:nvPr/>
        </p:nvSpPr>
        <p:spPr>
          <a:xfrm>
            <a:off x="1133856" y="3447288"/>
            <a:ext cx="658368" cy="530352"/>
          </a:xfrm>
          <a:prstGeom prst="roundRect">
            <a:avLst>
              <a:gd name="adj" fmla="val 18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141414"/>
                </a:solidFill>
                <a:latin typeface="Montserrat"/>
              </a:rPr>
              <a:t>1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337560" y="3977639"/>
            <a:ext cx="0" cy="338329"/>
          </a:xfrm>
          <a:prstGeom prst="line">
            <a:avLst/>
          </a:prstGeom>
          <a:ln w="19050">
            <a:solidFill>
              <a:srgbClr val="141414"/>
            </a:solidFill>
          </a:ln>
        </p:spPr>
        <p:style>
          <a:lnRef idx="2">
            <a:srgbClr val="141414"/>
          </a:lnRef>
          <a:fillRef idx="0">
            <a:srgbClr val="141414"/>
          </a:fillRef>
          <a:effectRef idx="1">
            <a:srgbClr val="141414"/>
          </a:effectRef>
          <a:fontRef idx="minor">
            <a:srgbClr val="141414"/>
          </a:fontRef>
        </p:style>
      </p:cxnSp>
      <p:sp>
        <p:nvSpPr>
          <p:cNvPr id="23" name="Карточка"/>
          <p:cNvSpPr/>
          <p:nvPr/>
        </p:nvSpPr>
        <p:spPr>
          <a:xfrm>
            <a:off x="365760" y="4315968"/>
            <a:ext cx="3566160" cy="19019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143000" y="4498848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800" b="1">
                <a:solidFill>
                  <a:srgbClr val="141414"/>
                </a:solidFill>
                <a:latin typeface="Montserrat"/>
              </a:rPr>
              <a:t>Утро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047488"/>
            <a:ext cx="3154679" cy="11155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141414"/>
                </a:solidFill>
                <a:latin typeface="Montserrat"/>
              </a:rPr>
              <a:t>У диспетчера готов ночной план: маршруты бригад по дорогам, какие заявки взяты, а какие нет — с причиной словами</a:t>
            </a:r>
          </a:p>
        </p:txBody>
      </p:sp>
      <p:sp>
        <p:nvSpPr>
          <p:cNvPr id="27" name="Шаг 2"/>
          <p:cNvSpPr/>
          <p:nvPr/>
        </p:nvSpPr>
        <p:spPr>
          <a:xfrm>
            <a:off x="3008376" y="3447288"/>
            <a:ext cx="658368" cy="530352"/>
          </a:xfrm>
          <a:prstGeom prst="roundRect">
            <a:avLst>
              <a:gd name="adj" fmla="val 18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141414"/>
                </a:solidFill>
                <a:latin typeface="Montserrat"/>
              </a:rPr>
              <a:t>2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212079" y="3090672"/>
            <a:ext cx="0" cy="356616"/>
          </a:xfrm>
          <a:prstGeom prst="line">
            <a:avLst/>
          </a:prstGeom>
          <a:ln w="19050">
            <a:solidFill>
              <a:srgbClr val="141414"/>
            </a:solidFill>
          </a:ln>
        </p:spPr>
        <p:style>
          <a:lnRef idx="2">
            <a:srgbClr val="141414"/>
          </a:lnRef>
          <a:fillRef idx="0">
            <a:srgbClr val="141414"/>
          </a:fillRef>
          <a:effectRef idx="1">
            <a:srgbClr val="141414"/>
          </a:effectRef>
          <a:fontRef idx="minor">
            <a:srgbClr val="141414"/>
          </a:fontRef>
        </p:style>
      </p:cxnSp>
      <p:sp>
        <p:nvSpPr>
          <p:cNvPr id="29" name="Карточка"/>
          <p:cNvSpPr/>
          <p:nvPr/>
        </p:nvSpPr>
        <p:spPr>
          <a:xfrm>
            <a:off x="4206240" y="1188720"/>
            <a:ext cx="3566160" cy="19019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4434840" y="1389888"/>
            <a:ext cx="420624" cy="42062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983479" y="137160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800" b="1">
                <a:solidFill>
                  <a:srgbClr val="141414"/>
                </a:solidFill>
                <a:latin typeface="Montserrat"/>
              </a:rPr>
              <a:t>День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4840" y="1920240"/>
            <a:ext cx="3154679" cy="11155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141414"/>
                </a:solidFill>
                <a:latin typeface="Montserrat"/>
              </a:rPr>
              <a:t>Проигрываем день: бригады едут по маршрутам, у заявок статусы «В пути», «В работе», «Выполнена». Метрики и сравнение с базовым вариантом и диспетчерами</a:t>
            </a:r>
          </a:p>
        </p:txBody>
      </p:sp>
      <p:sp>
        <p:nvSpPr>
          <p:cNvPr id="33" name="Шаг 3"/>
          <p:cNvSpPr/>
          <p:nvPr/>
        </p:nvSpPr>
        <p:spPr>
          <a:xfrm>
            <a:off x="4882895" y="3447288"/>
            <a:ext cx="658368" cy="530352"/>
          </a:xfrm>
          <a:prstGeom prst="roundRect">
            <a:avLst>
              <a:gd name="adj" fmla="val 18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141414"/>
                </a:solidFill>
                <a:latin typeface="Montserrat"/>
              </a:rPr>
              <a:t>3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086600" y="3977639"/>
            <a:ext cx="0" cy="338329"/>
          </a:xfrm>
          <a:prstGeom prst="line">
            <a:avLst/>
          </a:prstGeom>
          <a:ln w="19050">
            <a:solidFill>
              <a:srgbClr val="141414"/>
            </a:solidFill>
          </a:ln>
        </p:spPr>
        <p:style>
          <a:lnRef idx="2">
            <a:srgbClr val="141414"/>
          </a:lnRef>
          <a:fillRef idx="0">
            <a:srgbClr val="141414"/>
          </a:fillRef>
          <a:effectRef idx="1">
            <a:srgbClr val="141414"/>
          </a:effectRef>
          <a:fontRef idx="minor">
            <a:srgbClr val="141414"/>
          </a:fontRef>
        </p:style>
      </p:cxnSp>
      <p:sp>
        <p:nvSpPr>
          <p:cNvPr id="35" name="Карточка"/>
          <p:cNvSpPr/>
          <p:nvPr/>
        </p:nvSpPr>
        <p:spPr>
          <a:xfrm>
            <a:off x="4206240" y="4315968"/>
            <a:ext cx="3566160" cy="19019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434840" y="4517136"/>
            <a:ext cx="420624" cy="420624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983479" y="4498848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800" b="1">
                <a:solidFill>
                  <a:srgbClr val="141414"/>
                </a:solidFill>
                <a:latin typeface="Montserrat"/>
              </a:rPr>
              <a:t>«Почему?»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34840" y="5047488"/>
            <a:ext cx="3154679" cy="11155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141414"/>
                </a:solidFill>
                <a:latin typeface="Montserrat"/>
              </a:rPr>
              <a:t>Какие ограничения проверены, кто ещё мог взять заявку и во сколько км это обошлось бы. У заявки без исполнителя — причина словами</a:t>
            </a:r>
          </a:p>
        </p:txBody>
      </p:sp>
      <p:sp>
        <p:nvSpPr>
          <p:cNvPr id="39" name="Шаг 4"/>
          <p:cNvSpPr/>
          <p:nvPr/>
        </p:nvSpPr>
        <p:spPr>
          <a:xfrm>
            <a:off x="6757416" y="3447288"/>
            <a:ext cx="658368" cy="530352"/>
          </a:xfrm>
          <a:prstGeom prst="roundRect">
            <a:avLst>
              <a:gd name="adj" fmla="val 18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141414"/>
                </a:solidFill>
                <a:latin typeface="Montserrat"/>
              </a:rPr>
              <a:t>4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961119" y="3090672"/>
            <a:ext cx="0" cy="356616"/>
          </a:xfrm>
          <a:prstGeom prst="line">
            <a:avLst/>
          </a:prstGeom>
          <a:ln w="19050">
            <a:solidFill>
              <a:srgbClr val="141414"/>
            </a:solidFill>
          </a:ln>
        </p:spPr>
        <p:style>
          <a:lnRef idx="2">
            <a:srgbClr val="141414"/>
          </a:lnRef>
          <a:fillRef idx="0">
            <a:srgbClr val="141414"/>
          </a:fillRef>
          <a:effectRef idx="1">
            <a:srgbClr val="141414"/>
          </a:effectRef>
          <a:fontRef idx="minor">
            <a:srgbClr val="141414"/>
          </a:fontRef>
        </p:style>
      </p:cxnSp>
      <p:sp>
        <p:nvSpPr>
          <p:cNvPr id="41" name="Карточка"/>
          <p:cNvSpPr/>
          <p:nvPr/>
        </p:nvSpPr>
        <p:spPr>
          <a:xfrm>
            <a:off x="8046720" y="1188720"/>
            <a:ext cx="3566160" cy="19019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8275320" y="1389888"/>
            <a:ext cx="420624" cy="420624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823960" y="137160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800" b="1">
                <a:solidFill>
                  <a:srgbClr val="141414"/>
                </a:solidFill>
                <a:latin typeface="Montserrat"/>
              </a:rPr>
              <a:t>Событие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1920240"/>
            <a:ext cx="3154679" cy="11155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141414"/>
                </a:solidFill>
                <a:latin typeface="Montserrat"/>
              </a:rPr>
              <a:t>8 типов событий одним путём: авария, отмена, правка, болезнь, транспорт, задержка, переназначение, звонок. Часы встают, только когда выбор важен</a:t>
            </a:r>
          </a:p>
        </p:txBody>
      </p:sp>
      <p:sp>
        <p:nvSpPr>
          <p:cNvPr id="45" name="Шаг 5"/>
          <p:cNvSpPr/>
          <p:nvPr/>
        </p:nvSpPr>
        <p:spPr>
          <a:xfrm>
            <a:off x="8631936" y="3447288"/>
            <a:ext cx="658368" cy="530352"/>
          </a:xfrm>
          <a:prstGeom prst="roundRect">
            <a:avLst>
              <a:gd name="adj" fmla="val 18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141414"/>
                </a:solidFill>
                <a:latin typeface="Montserrat"/>
              </a:rPr>
              <a:t>5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0835640" y="3977639"/>
            <a:ext cx="0" cy="338329"/>
          </a:xfrm>
          <a:prstGeom prst="line">
            <a:avLst/>
          </a:prstGeom>
          <a:ln w="19050">
            <a:solidFill>
              <a:srgbClr val="141414"/>
            </a:solidFill>
          </a:ln>
        </p:spPr>
        <p:style>
          <a:lnRef idx="2">
            <a:srgbClr val="141414"/>
          </a:lnRef>
          <a:fillRef idx="0">
            <a:srgbClr val="141414"/>
          </a:fillRef>
          <a:effectRef idx="1">
            <a:srgbClr val="141414"/>
          </a:effectRef>
          <a:fontRef idx="minor">
            <a:srgbClr val="141414"/>
          </a:fontRef>
        </p:style>
      </p:cxnSp>
      <p:sp>
        <p:nvSpPr>
          <p:cNvPr id="47" name="Карточка"/>
          <p:cNvSpPr/>
          <p:nvPr/>
        </p:nvSpPr>
        <p:spPr>
          <a:xfrm>
            <a:off x="8046720" y="4315968"/>
            <a:ext cx="3566160" cy="19019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8275320" y="4517136"/>
            <a:ext cx="420624" cy="42062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823960" y="4498848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800" b="1">
                <a:solidFill>
                  <a:srgbClr val="141414"/>
                </a:solidFill>
                <a:latin typeface="Montserrat"/>
              </a:rPr>
              <a:t>Итоги дня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75320" y="5047488"/>
            <a:ext cx="3154679" cy="11155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141414"/>
                </a:solidFill>
                <a:latin typeface="Montserrat"/>
              </a:rPr>
              <a:t>Утро против итога: бригады, км, назначено, опоздания; события дня и кто из клиентов ещё ждёт звонка</a:t>
            </a:r>
          </a:p>
        </p:txBody>
      </p:sp>
      <p:sp>
        <p:nvSpPr>
          <p:cNvPr id="51" name="Шаг 6"/>
          <p:cNvSpPr/>
          <p:nvPr/>
        </p:nvSpPr>
        <p:spPr>
          <a:xfrm>
            <a:off x="10506456" y="3447288"/>
            <a:ext cx="658368" cy="530352"/>
          </a:xfrm>
          <a:prstGeom prst="roundRect">
            <a:avLst>
              <a:gd name="adj" fmla="val 18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141414"/>
                </a:solidFill>
                <a:latin typeface="Montserrat"/>
              </a:rPr>
              <a:t>6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94360" y="4517136"/>
            <a:ext cx="420624" cy="420624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594360" y="1389888"/>
            <a:ext cx="420624" cy="42062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Логотипы организаторов"/>
          <p:cNvPicPr>
            <a:picLocks noChangeAspect="1"/>
          </p:cNvPicPr>
          <p:nvPr/>
        </p:nvPicPr>
        <p:blipFill>
          <a:blip r:embed="rIdBrandLogos"/>
          <a:stretch>
            <a:fillRect/>
          </a:stretch>
        </p:blipFill>
        <p:spPr>
          <a:xfrm>
            <a:off x="6966826" y="307571"/>
            <a:ext cx="4938235" cy="390698"/>
          </a:xfrm>
          <a:prstGeom prst="rect">
            <a:avLst/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141414"/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4" name="Карточка pill"/>
          <p:cNvSpPr/>
          <p:nvPr/>
        </p:nvSpPr>
        <p:spPr>
          <a:xfrm>
            <a:off x="347472" y="320040"/>
            <a:ext cx="6250000" cy="621792"/>
          </a:xfrm>
          <a:prstGeom prst="roundRect">
            <a:avLst>
              <a:gd name="adj" fmla="val 20588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wrap="square" lIns="182880" tIns="0" rIns="73152" bIns="0" rtlCol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Montserrat"/>
              </a:rPr>
              <a:t>ЛОМАЮЩИЕ СОБЫТИЯ И ЦЕНА РЕШЕНИЯ</a:t>
            </a:r>
          </a:p>
        </p:txBody>
      </p:sp>
      <p:sp>
        <p:nvSpPr>
          <p:cNvPr id="5" name="Карточка"/>
          <p:cNvSpPr/>
          <p:nvPr/>
        </p:nvSpPr>
        <p:spPr>
          <a:xfrm>
            <a:off x="347472" y="1234440"/>
            <a:ext cx="6355080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399032"/>
            <a:ext cx="6025896" cy="2429288"/>
          </a:xfrm>
          <a:prstGeom prst="rect">
            <a:avLst/>
          </a:prstGeom>
          <a:ln w="9525">
            <a:solidFill>
              <a:srgbClr val="A1A1A1"/>
            </a:solidFill>
          </a:ln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576072" y="4139215"/>
            <a:ext cx="457200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16152" y="4102639"/>
            <a:ext cx="5257800" cy="58521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141414"/>
                </a:solidFill>
                <a:latin typeface="Montserrat"/>
              </a:rPr>
              <a:t>Восток, 10:00. Бригада Арташкин задерживается на 120 минут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6152" y="4761007"/>
            <a:ext cx="5257800" cy="14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Часы встают, только если «Ничего не менять» хуже пересчёта, иначе событие применяется само. Молча бросить аварию ради обычной заявки нельзя.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41414"/>
                </a:solidFill>
                <a:latin typeface="Montserrat"/>
              </a:rPr>
              <a:t>Рекомендуем по порядку: клиенты → бригады → переносы → км. Выбирает диспетчер, ползунок вернёт день до события.</a:t>
            </a:r>
          </a:p>
        </p:txBody>
      </p:sp>
      <p:sp>
        <p:nvSpPr>
          <p:cNvPr id="10" name="Чип"/>
          <p:cNvSpPr/>
          <p:nvPr/>
        </p:nvSpPr>
        <p:spPr>
          <a:xfrm>
            <a:off x="6885432" y="1234440"/>
            <a:ext cx="4974336" cy="914400"/>
          </a:xfrm>
          <a:prstGeom prst="roundRect">
            <a:avLst>
              <a:gd name="adj" fmla="val 14000"/>
            </a:avLst>
          </a:prstGeom>
          <a:solidFill>
            <a:srgbClr val="FFC800"/>
          </a:solidFill>
          <a:ln w="19050"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7086600" y="1490472"/>
            <a:ext cx="402336" cy="4023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62672" y="1307592"/>
            <a:ext cx="405993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1">
                <a:solidFill>
                  <a:srgbClr val="141414"/>
                </a:solidFill>
                <a:latin typeface="Montserrat"/>
              </a:rPr>
              <a:t>Оптимально по дню</a:t>
            </a:r>
          </a:p>
        </p:txBody>
      </p:sp>
      <p:sp>
        <p:nvSpPr>
          <p:cNvPr id="13" name="Рекомендуем"/>
          <p:cNvSpPr/>
          <p:nvPr/>
        </p:nvSpPr>
        <p:spPr>
          <a:xfrm>
            <a:off x="9830562" y="1325880"/>
            <a:ext cx="1180846" cy="246888"/>
          </a:xfrm>
          <a:prstGeom prst="roundRect">
            <a:avLst>
              <a:gd name="adj" fmla="val 50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ontserrat"/>
              </a:rPr>
              <a:t>Рекомендуем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62672" y="1618488"/>
            <a:ext cx="4059936" cy="49377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8 бригад · 0 опозданий</a:t>
            </a:r>
          </a:p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7 переносов · 241,8 км</a:t>
            </a:r>
          </a:p>
        </p:txBody>
      </p:sp>
      <p:sp>
        <p:nvSpPr>
          <p:cNvPr id="15" name="Чип"/>
          <p:cNvSpPr/>
          <p:nvPr/>
        </p:nvSpPr>
        <p:spPr>
          <a:xfrm>
            <a:off x="6885432" y="2251710"/>
            <a:ext cx="4974336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7086600" y="2507742"/>
            <a:ext cx="402336" cy="4023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662672" y="2324862"/>
            <a:ext cx="405993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1">
                <a:solidFill>
                  <a:srgbClr val="141414"/>
                </a:solidFill>
                <a:latin typeface="Montserrat"/>
              </a:rPr>
              <a:t>Минимум перестановок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62672" y="2635758"/>
            <a:ext cx="4059936" cy="49377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9 бригад (+1) · 0 опозданий</a:t>
            </a:r>
          </a:p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2 переноса · 244,2 км</a:t>
            </a:r>
          </a:p>
        </p:txBody>
      </p:sp>
      <p:sp>
        <p:nvSpPr>
          <p:cNvPr id="19" name="Чип"/>
          <p:cNvSpPr/>
          <p:nvPr/>
        </p:nvSpPr>
        <p:spPr>
          <a:xfrm>
            <a:off x="6885432" y="3268980"/>
            <a:ext cx="4974336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7086600" y="3525012"/>
            <a:ext cx="402336" cy="40233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662672" y="3342132"/>
            <a:ext cx="405993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1">
                <a:solidFill>
                  <a:srgbClr val="141414"/>
                </a:solidFill>
                <a:latin typeface="Montserrat"/>
              </a:rPr>
              <a:t>Ничего не менять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62672" y="3653028"/>
            <a:ext cx="4059936" cy="49377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8 бригад · </a:t>
            </a:r>
            <a:r>
              <a:rPr sz="1400" b="1">
                <a:solidFill>
                  <a:srgbClr val="141414"/>
                </a:solidFill>
                <a:latin typeface="Montserrat"/>
              </a:rPr>
              <a:t>5 опозданий</a:t>
            </a:r>
          </a:p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0 переносов · 241,8 км</a:t>
            </a:r>
          </a:p>
        </p:txBody>
      </p:sp>
      <p:sp>
        <p:nvSpPr>
          <p:cNvPr id="23" name="Чип"/>
          <p:cNvSpPr/>
          <p:nvPr/>
        </p:nvSpPr>
        <p:spPr>
          <a:xfrm>
            <a:off x="6885432" y="4286250"/>
            <a:ext cx="4974336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7086600" y="4542282"/>
            <a:ext cx="402336" cy="40233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662672" y="4359402"/>
            <a:ext cx="405993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1">
                <a:solidFill>
                  <a:srgbClr val="141414"/>
                </a:solidFill>
                <a:latin typeface="Montserrat"/>
              </a:rPr>
              <a:t>Своя бригада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62672" y="4670298"/>
            <a:ext cx="4059936" cy="49377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Срочную, правку, новое окно — своей бригаде, с ценой против оптимума</a:t>
            </a:r>
          </a:p>
        </p:txBody>
      </p:sp>
      <p:sp>
        <p:nvSpPr>
          <p:cNvPr id="27" name="Чип"/>
          <p:cNvSpPr/>
          <p:nvPr/>
        </p:nvSpPr>
        <p:spPr>
          <a:xfrm>
            <a:off x="6885432" y="5303520"/>
            <a:ext cx="4974336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8" cstate="print"/>
          <a:stretch>
            <a:fillRect/>
          </a:stretch>
        </p:blipFill>
        <p:spPr>
          <a:xfrm>
            <a:off x="7086600" y="5559552"/>
            <a:ext cx="402336" cy="40233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2672" y="5376672"/>
            <a:ext cx="405993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1">
                <a:solidFill>
                  <a:srgbClr val="141414"/>
                </a:solidFill>
                <a:latin typeface="Montserrat"/>
              </a:rPr>
              <a:t>Кому позвонить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62672" y="5687568"/>
            <a:ext cx="4059936" cy="49377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Кому звонить и какой слот назвать; «✓ Согласовано» — план держит окно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Логотипы организаторов"/>
          <p:cNvPicPr>
            <a:picLocks noChangeAspect="1"/>
          </p:cNvPicPr>
          <p:nvPr/>
        </p:nvPicPr>
        <p:blipFill>
          <a:blip r:embed="rIdBrandLogos"/>
          <a:stretch>
            <a:fillRect/>
          </a:stretch>
        </p:blipFill>
        <p:spPr>
          <a:xfrm>
            <a:off x="6966826" y="307571"/>
            <a:ext cx="4938235" cy="390698"/>
          </a:xfrm>
          <a:prstGeom prst="rect">
            <a:avLst/>
          </a:prstGeom>
        </p:spPr>
      </p:pic>
      <p:sp>
        <p:nvSpPr>
          <p:cNvPr id="15" name="Номер слайда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FFFFFF"/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13</a:t>
            </a:fld>
            <a:endParaRPr lang="ru-RU" dirty="0"/>
          </a:p>
        </p:txBody>
      </p:sp>
      <p:sp>
        <p:nvSpPr>
          <p:cNvPr id="16" name="Карточка pill"/>
          <p:cNvSpPr/>
          <p:nvPr/>
        </p:nvSpPr>
        <p:spPr>
          <a:xfrm>
            <a:off x="347472" y="320040"/>
            <a:ext cx="3691127" cy="621792"/>
          </a:xfrm>
          <a:prstGeom prst="roundRect">
            <a:avLst>
              <a:gd name="adj" fmla="val 20588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wrap="square" lIns="182880" tIns="0" rIns="73152" bIns="0" rtlCol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Montserrat"/>
              </a:rPr>
              <a:t>ЧЕМ МЫ ОТЛИЧАЕМСЯ</a:t>
            </a:r>
          </a:p>
        </p:txBody>
      </p:sp>
      <p:sp>
        <p:nvSpPr>
          <p:cNvPr id="17" name="Карточка"/>
          <p:cNvSpPr/>
          <p:nvPr/>
        </p:nvSpPr>
        <p:spPr>
          <a:xfrm>
            <a:off x="347472" y="1234440"/>
            <a:ext cx="2670048" cy="4937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Подложка иконки"/>
          <p:cNvSpPr/>
          <p:nvPr/>
        </p:nvSpPr>
        <p:spPr>
          <a:xfrm>
            <a:off x="576072" y="1490472"/>
            <a:ext cx="822960" cy="822960"/>
          </a:xfrm>
          <a:prstGeom prst="roundRect">
            <a:avLst>
              <a:gd name="adj" fmla="val 22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31520" y="1645920"/>
            <a:ext cx="512064" cy="51206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874519" y="1508760"/>
            <a:ext cx="91440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3000" b="1">
                <a:solidFill>
                  <a:srgbClr val="141414"/>
                </a:solidFill>
                <a:latin typeface="Montserrat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" y="2606040"/>
            <a:ext cx="2258568" cy="83591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1">
                <a:solidFill>
                  <a:srgbClr val="141414"/>
                </a:solidFill>
                <a:latin typeface="Montserrat"/>
              </a:rPr>
              <a:t>Сравнение с живыми диспетчерами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" y="3579114"/>
            <a:ext cx="2258568" cy="2926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Сравниваем и с базовым вариантом из ТЗ, и с днём диспетчеров Билайна. Ответ не подсматриваем: статус «Просрочена» план не видит, длительности — </a:t>
            </a:r>
            <a:r>
              <a:rPr sz="1400" b="1">
                <a:solidFill>
                  <a:srgbClr val="141414"/>
                </a:solidFill>
                <a:latin typeface="Montserrat"/>
              </a:rPr>
              <a:t>нормативы Билайна</a:t>
            </a:r>
            <a:r>
              <a:rPr sz="1400" b="0">
                <a:solidFill>
                  <a:srgbClr val="141414"/>
                </a:solidFill>
                <a:latin typeface="Montserrat"/>
              </a:rPr>
              <a:t>, все планы проверяет </a:t>
            </a:r>
            <a:r>
              <a:rPr sz="1400" b="1">
                <a:solidFill>
                  <a:srgbClr val="141414"/>
                </a:solidFill>
                <a:latin typeface="Montserrat"/>
              </a:rPr>
              <a:t>одна функция</a:t>
            </a:r>
            <a:r>
              <a:rPr sz="1400" b="0">
                <a:solidFill>
                  <a:srgbClr val="141414"/>
                </a:solidFill>
                <a:latin typeface="Montserrat"/>
              </a:rPr>
              <a:t>.</a:t>
            </a:r>
          </a:p>
        </p:txBody>
      </p:sp>
      <p:sp>
        <p:nvSpPr>
          <p:cNvPr id="23" name="Карточка"/>
          <p:cNvSpPr/>
          <p:nvPr/>
        </p:nvSpPr>
        <p:spPr>
          <a:xfrm>
            <a:off x="3291840" y="1234440"/>
            <a:ext cx="2670048" cy="4937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Подложка иконки"/>
          <p:cNvSpPr/>
          <p:nvPr/>
        </p:nvSpPr>
        <p:spPr>
          <a:xfrm>
            <a:off x="3520440" y="1490472"/>
            <a:ext cx="822960" cy="822960"/>
          </a:xfrm>
          <a:prstGeom prst="roundRect">
            <a:avLst>
              <a:gd name="adj" fmla="val 22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675888" y="1645920"/>
            <a:ext cx="512064" cy="51206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818888" y="1508760"/>
            <a:ext cx="91440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3000" b="1">
                <a:solidFill>
                  <a:srgbClr val="141414"/>
                </a:solidFill>
                <a:latin typeface="Montserrat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2606040"/>
            <a:ext cx="2258568" cy="83591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1">
                <a:solidFill>
                  <a:srgbClr val="141414"/>
                </a:solidFill>
                <a:latin typeface="Montserrat"/>
              </a:rPr>
              <a:t>Объяснение вместо чёрного ящика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20440" y="3579114"/>
            <a:ext cx="2258568" cy="2926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«Почему?» у каждой заявки и маршрута: проверки, кто ещё мог взять и за сколько км. У заявки без исполнителя — </a:t>
            </a:r>
            <a:r>
              <a:rPr sz="1400" b="1">
                <a:solidFill>
                  <a:srgbClr val="141414"/>
                </a:solidFill>
                <a:latin typeface="Montserrat"/>
              </a:rPr>
              <a:t>причина словами</a:t>
            </a:r>
            <a:r>
              <a:rPr sz="1400" b="0">
                <a:solidFill>
                  <a:srgbClr val="141414"/>
                </a:solidFill>
                <a:latin typeface="Montserrat"/>
              </a:rPr>
              <a:t>. Считается </a:t>
            </a:r>
            <a:r>
              <a:rPr sz="1400" b="1">
                <a:solidFill>
                  <a:srgbClr val="141414"/>
                </a:solidFill>
                <a:latin typeface="Montserrat"/>
              </a:rPr>
              <a:t>без нейросети</a:t>
            </a:r>
            <a:r>
              <a:rPr sz="1400" b="0">
                <a:solidFill>
                  <a:srgbClr val="141414"/>
                </a:solidFill>
                <a:latin typeface="Montserrat"/>
              </a:rPr>
              <a:t>, теми же проверками, что и план.</a:t>
            </a:r>
          </a:p>
        </p:txBody>
      </p:sp>
      <p:sp>
        <p:nvSpPr>
          <p:cNvPr id="29" name="Карточка"/>
          <p:cNvSpPr/>
          <p:nvPr/>
        </p:nvSpPr>
        <p:spPr>
          <a:xfrm>
            <a:off x="6227064" y="1234440"/>
            <a:ext cx="2670048" cy="4937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Подложка иконки"/>
          <p:cNvSpPr/>
          <p:nvPr/>
        </p:nvSpPr>
        <p:spPr>
          <a:xfrm>
            <a:off x="6455664" y="1490472"/>
            <a:ext cx="822960" cy="822960"/>
          </a:xfrm>
          <a:prstGeom prst="roundRect">
            <a:avLst>
              <a:gd name="adj" fmla="val 22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6611112" y="1645920"/>
            <a:ext cx="512064" cy="51206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754112" y="1508760"/>
            <a:ext cx="91440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3000" b="1">
                <a:solidFill>
                  <a:srgbClr val="141414"/>
                </a:solidFill>
                <a:latin typeface="Montserrat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55664" y="2606040"/>
            <a:ext cx="2258568" cy="83591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1">
                <a:solidFill>
                  <a:srgbClr val="141414"/>
                </a:solidFill>
                <a:latin typeface="Montserrat"/>
              </a:rPr>
              <a:t>Цена решения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5664" y="3579114"/>
            <a:ext cx="2258568" cy="2926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Диспетчер не согласен с оптимизатором? Отдаёт заявку своей бригаде и видит, </a:t>
            </a:r>
            <a:r>
              <a:rPr sz="1400" b="1">
                <a:solidFill>
                  <a:srgbClr val="141414"/>
                </a:solidFill>
                <a:latin typeface="Montserrat"/>
              </a:rPr>
              <a:t>во сколько км и переносов</a:t>
            </a:r>
            <a:r>
              <a:rPr sz="1400" b="0">
                <a:solidFill>
                  <a:srgbClr val="141414"/>
                </a:solidFill>
                <a:latin typeface="Montserrat"/>
              </a:rPr>
              <a:t> это обходится. Дальше оптимизатор её </a:t>
            </a:r>
            <a:r>
              <a:rPr sz="1400" b="1">
                <a:solidFill>
                  <a:srgbClr val="141414"/>
                </a:solidFill>
                <a:latin typeface="Montserrat"/>
              </a:rPr>
              <a:t>не отнимет</a:t>
            </a:r>
            <a:r>
              <a:rPr sz="1400" b="0">
                <a:solidFill>
                  <a:srgbClr val="141414"/>
                </a:solidFill>
                <a:latin typeface="Montserrat"/>
              </a:rPr>
              <a:t>.</a:t>
            </a:r>
          </a:p>
        </p:txBody>
      </p:sp>
      <p:sp>
        <p:nvSpPr>
          <p:cNvPr id="35" name="Карточка"/>
          <p:cNvSpPr/>
          <p:nvPr/>
        </p:nvSpPr>
        <p:spPr>
          <a:xfrm>
            <a:off x="9171432" y="1234440"/>
            <a:ext cx="2670048" cy="4937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Подложка иконки"/>
          <p:cNvSpPr/>
          <p:nvPr/>
        </p:nvSpPr>
        <p:spPr>
          <a:xfrm>
            <a:off x="9400032" y="1490472"/>
            <a:ext cx="822960" cy="822960"/>
          </a:xfrm>
          <a:prstGeom prst="roundRect">
            <a:avLst>
              <a:gd name="adj" fmla="val 22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9555480" y="1645920"/>
            <a:ext cx="512064" cy="51206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698480" y="1508760"/>
            <a:ext cx="91440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3000" b="1">
                <a:solidFill>
                  <a:srgbClr val="141414"/>
                </a:solidFill>
                <a:latin typeface="Montserrat"/>
              </a:rPr>
              <a:t>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00032" y="2606040"/>
            <a:ext cx="2258568" cy="83591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1">
                <a:solidFill>
                  <a:srgbClr val="141414"/>
                </a:solidFill>
                <a:latin typeface="Montserrat"/>
              </a:rPr>
              <a:t>Весь день на шкале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00032" y="3579114"/>
            <a:ext cx="2258568" cy="2926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План = утро + события до ползунка. День можно </a:t>
            </a:r>
            <a:r>
              <a:rPr sz="1400" b="1">
                <a:solidFill>
                  <a:srgbClr val="141414"/>
                </a:solidFill>
                <a:latin typeface="Montserrat"/>
              </a:rPr>
              <a:t>проиграть и разобрать</a:t>
            </a:r>
            <a:r>
              <a:rPr sz="1400" b="0">
                <a:solidFill>
                  <a:srgbClr val="141414"/>
                </a:solidFill>
                <a:latin typeface="Montserrat"/>
              </a:rPr>
              <a:t> по шагам, у события — сменить вариант или удалить его. Шаги хранятся в базе данных: перезапуск </a:t>
            </a:r>
            <a:r>
              <a:rPr sz="1400" b="1">
                <a:solidFill>
                  <a:srgbClr val="141414"/>
                </a:solidFill>
                <a:latin typeface="Montserrat"/>
              </a:rPr>
              <a:t>не меняет план</a:t>
            </a:r>
            <a:r>
              <a:rPr sz="1400" b="0">
                <a:solidFill>
                  <a:srgbClr val="141414"/>
                </a:solidFill>
                <a:latin typeface="Montserrat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Логотипы организаторов"/>
          <p:cNvPicPr>
            <a:picLocks noChangeAspect="1"/>
          </p:cNvPicPr>
          <p:nvPr/>
        </p:nvPicPr>
        <p:blipFill>
          <a:blip r:embed="rIdBrandLogos"/>
          <a:stretch>
            <a:fillRect/>
          </a:stretch>
        </p:blipFill>
        <p:spPr>
          <a:xfrm>
            <a:off x="6966826" y="307571"/>
            <a:ext cx="4938235" cy="390698"/>
          </a:xfrm>
          <a:prstGeom prst="rect">
            <a:avLst/>
          </a:prstGeom>
        </p:spPr>
      </p:pic>
      <p:sp>
        <p:nvSpPr>
          <p:cNvPr id="15" name="Номер слайда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141414"/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14</a:t>
            </a:fld>
            <a:endParaRPr lang="ru-RU" dirty="0"/>
          </a:p>
        </p:txBody>
      </p:sp>
      <p:sp>
        <p:nvSpPr>
          <p:cNvPr id="16" name="Карточка pill"/>
          <p:cNvSpPr/>
          <p:nvPr/>
        </p:nvSpPr>
        <p:spPr>
          <a:xfrm>
            <a:off x="347472" y="320040"/>
            <a:ext cx="3272028" cy="621792"/>
          </a:xfrm>
          <a:prstGeom prst="roundRect">
            <a:avLst>
              <a:gd name="adj" fmla="val 20588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wrap="square" lIns="182880" tIns="0" rIns="73152" bIns="0" rtlCol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Montserrat"/>
              </a:rPr>
              <a:t>КАК ЭТО УСТРОЕНО</a:t>
            </a:r>
          </a:p>
        </p:txBody>
      </p:sp>
      <p:sp>
        <p:nvSpPr>
          <p:cNvPr id="17" name="Подложка иконки"/>
          <p:cNvSpPr/>
          <p:nvPr/>
        </p:nvSpPr>
        <p:spPr>
          <a:xfrm>
            <a:off x="457200" y="1325880"/>
            <a:ext cx="786384" cy="786384"/>
          </a:xfrm>
          <a:prstGeom prst="roundRect">
            <a:avLst>
              <a:gd name="adj" fmla="val 22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2648" y="1481328"/>
            <a:ext cx="475488" cy="47548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44752" y="12618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141414"/>
                </a:solidFill>
                <a:latin typeface="Montserrat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44752" y="1517904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900" b="1">
                <a:solidFill>
                  <a:srgbClr val="141414"/>
                </a:solidFill>
                <a:latin typeface="Montserrat"/>
              </a:rPr>
              <a:t>Оптимизатор OR-Tools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44752" y="1975104"/>
            <a:ext cx="457200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141414"/>
                </a:solidFill>
                <a:latin typeface="Montserrat"/>
              </a:rPr>
              <a:t>VRPTW: навыки, смены, транспорт, оборудование, обед. Цель: все заявки → меньше бригад → меньше км; в тяжёлый день авария снимается последней.</a:t>
            </a:r>
          </a:p>
        </p:txBody>
      </p:sp>
      <p:sp>
        <p:nvSpPr>
          <p:cNvPr id="22" name="Подложка иконки"/>
          <p:cNvSpPr/>
          <p:nvPr/>
        </p:nvSpPr>
        <p:spPr>
          <a:xfrm>
            <a:off x="457200" y="2971800"/>
            <a:ext cx="786384" cy="786384"/>
          </a:xfrm>
          <a:prstGeom prst="roundRect">
            <a:avLst>
              <a:gd name="adj" fmla="val 22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612648" y="3127248"/>
            <a:ext cx="475488" cy="47548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444752" y="290779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141414"/>
                </a:solidFill>
                <a:latin typeface="Montserrat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44752" y="3163824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900" b="1">
                <a:solidFill>
                  <a:srgbClr val="141414"/>
                </a:solidFill>
                <a:latin typeface="Montserrat"/>
              </a:rPr>
              <a:t>До четырёх стратегий разом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4752" y="3621024"/>
            <a:ext cx="457200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141414"/>
                </a:solidFill>
                <a:latin typeface="Montserrat"/>
              </a:rPr>
              <a:t>Сколько ядер — столько процессов за тот же лимит (на стенде — два): локальный поиск, отжиг, табу. Берём план с наименьшей стоимостью.</a:t>
            </a:r>
          </a:p>
        </p:txBody>
      </p:sp>
      <p:sp>
        <p:nvSpPr>
          <p:cNvPr id="27" name="Подложка иконки"/>
          <p:cNvSpPr/>
          <p:nvPr/>
        </p:nvSpPr>
        <p:spPr>
          <a:xfrm>
            <a:off x="457200" y="4617720"/>
            <a:ext cx="786384" cy="786384"/>
          </a:xfrm>
          <a:prstGeom prst="roundRect">
            <a:avLst>
              <a:gd name="adj" fmla="val 22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612648" y="4773168"/>
            <a:ext cx="475488" cy="47548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44752" y="455371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141414"/>
                </a:solidFill>
                <a:latin typeface="Montserrat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44752" y="4809744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900" b="1">
                <a:solidFill>
                  <a:srgbClr val="141414"/>
                </a:solidFill>
                <a:latin typeface="Montserrat"/>
              </a:rPr>
              <a:t>Ночной расчёт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44752" y="5266944"/>
            <a:ext cx="457200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ru-RU" sz="1350" dirty="0" smtClean="0" b="0">
                <a:solidFill>
                  <a:srgbClr val="141414"/>
                </a:solidFill>
                <a:latin typeface="Montserrat"/>
              </a:rPr>
              <a:t>Пока диспетчер спит, поиск идёт часами. За 30 секунд на Югоцентре выходит 7 бригад, за ночь — 6; на Юго-востоке 11 → 10.</a:t>
            </a:r>
          </a:p>
        </p:txBody>
      </p:sp>
      <p:sp>
        <p:nvSpPr>
          <p:cNvPr id="32" name="Подложка иконки"/>
          <p:cNvSpPr/>
          <p:nvPr/>
        </p:nvSpPr>
        <p:spPr>
          <a:xfrm>
            <a:off x="6263640" y="1325880"/>
            <a:ext cx="786384" cy="786384"/>
          </a:xfrm>
          <a:prstGeom prst="roundRect">
            <a:avLst>
              <a:gd name="adj" fmla="val 22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6419088" y="1481328"/>
            <a:ext cx="475488" cy="47548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251192" y="12618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141414"/>
                </a:solidFill>
                <a:latin typeface="Montserrat"/>
              </a:rP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51192" y="1517904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900" b="1">
                <a:solidFill>
                  <a:srgbClr val="141414"/>
                </a:solidFill>
                <a:latin typeface="Montserrat"/>
              </a:rPr>
              <a:t>Пересчёт за 5 секунд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51192" y="1975104"/>
            <a:ext cx="457200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141414"/>
                </a:solidFill>
                <a:latin typeface="Montserrat"/>
              </a:rPr>
              <a:t>Начатое и бригада в пути закреплены, перенос к другой бригаде стоит как 20 км — без выгоды никого не перекидываем.</a:t>
            </a:r>
          </a:p>
        </p:txBody>
      </p:sp>
      <p:sp>
        <p:nvSpPr>
          <p:cNvPr id="37" name="Подложка иконки"/>
          <p:cNvSpPr/>
          <p:nvPr/>
        </p:nvSpPr>
        <p:spPr>
          <a:xfrm>
            <a:off x="6263640" y="2971800"/>
            <a:ext cx="786384" cy="786384"/>
          </a:xfrm>
          <a:prstGeom prst="roundRect">
            <a:avLst>
              <a:gd name="adj" fmla="val 22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6419088" y="3127248"/>
            <a:ext cx="475488" cy="47548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251192" y="290779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141414"/>
                </a:solidFill>
                <a:latin typeface="Montserrat"/>
              </a:rPr>
              <a:t>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51192" y="3163824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900" b="1">
                <a:solidFill>
                  <a:srgbClr val="141414"/>
                </a:solidFill>
                <a:latin typeface="Montserrat"/>
              </a:rPr>
              <a:t>Дороги, а не прямые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51192" y="3621024"/>
            <a:ext cx="457200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141414"/>
                </a:solidFill>
                <a:latin typeface="Montserrat"/>
              </a:rPr>
              <a:t>OSRM по графу Москвы и области, пробки — коэффициентом часа; общественный транспорт — минуты 2ГИС, остальное — формула (ошибка 19%).</a:t>
            </a:r>
          </a:p>
        </p:txBody>
      </p:sp>
      <p:sp>
        <p:nvSpPr>
          <p:cNvPr id="42" name="Подложка иконки"/>
          <p:cNvSpPr/>
          <p:nvPr/>
        </p:nvSpPr>
        <p:spPr>
          <a:xfrm>
            <a:off x="6263640" y="4617720"/>
            <a:ext cx="786384" cy="786384"/>
          </a:xfrm>
          <a:prstGeom prst="roundRect">
            <a:avLst>
              <a:gd name="adj" fmla="val 22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6419088" y="4773168"/>
            <a:ext cx="475488" cy="475488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7251192" y="455371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141414"/>
                </a:solidFill>
                <a:latin typeface="Montserrat"/>
              </a:rPr>
              <a:t>06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51192" y="4809744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900" b="1">
                <a:solidFill>
                  <a:srgbClr val="141414"/>
                </a:solidFill>
                <a:latin typeface="Montserrat"/>
              </a:rPr>
              <a:t>Воспроизводимо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51192" y="5266944"/>
            <a:ext cx="457200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141414"/>
                </a:solidFill>
                <a:latin typeface="Montserrat"/>
              </a:rPr>
              <a:t>Граф — в публичном бакете, ночные планы — в репозитории: чистый клон даёт те же цифры. 1842 автотеста, выкат — только после зелёных.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Логотипы организаторов"/>
          <p:cNvPicPr>
            <a:picLocks noChangeAspect="1"/>
          </p:cNvPicPr>
          <p:nvPr/>
        </p:nvPicPr>
        <p:blipFill>
          <a:blip r:embed="rIdBrandLogos"/>
          <a:stretch>
            <a:fillRect/>
          </a:stretch>
        </p:blipFill>
        <p:spPr>
          <a:xfrm>
            <a:off x="6966826" y="307571"/>
            <a:ext cx="4938235" cy="390698"/>
          </a:xfrm>
          <a:prstGeom prst="rect">
            <a:avLst/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141414"/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15</a:t>
            </a:fld>
            <a:endParaRPr lang="ru-RU" dirty="0"/>
          </a:p>
        </p:txBody>
      </p:sp>
      <p:sp>
        <p:nvSpPr>
          <p:cNvPr id="4" name="Карточка pill"/>
          <p:cNvSpPr/>
          <p:nvPr/>
        </p:nvSpPr>
        <p:spPr>
          <a:xfrm>
            <a:off x="347472" y="320040"/>
            <a:ext cx="4933188" cy="621792"/>
          </a:xfrm>
          <a:prstGeom prst="roundRect">
            <a:avLst>
              <a:gd name="adj" fmla="val 20588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wrap="square" lIns="182880" tIns="0" rIns="73152" bIns="0" rtlCol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Montserrat"/>
              </a:rPr>
              <a:t>ОТЕЧЕСТВЕННОЕ ОБЛАКО И ИИ</a:t>
            </a:r>
          </a:p>
        </p:txBody>
      </p:sp>
      <p:cxnSp>
        <p:nvCxnSpPr>
          <p:cNvPr id="5" name="Google Shape;2799;p94">
            <a:extLst>
              <a:ext uri="{FF2B5EF4-FFF2-40B4-BE49-F238E27FC236}">
                <a16:creationId xmlns:a16="http://schemas.microsoft.com/office/drawing/2014/main" xmlns="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2980944" y="1819656"/>
            <a:ext cx="2523744" cy="9144"/>
          </a:xfrm>
          <a:prstGeom prst="straightConnector1">
            <a:avLst/>
          </a:prstGeom>
          <a:ln w="12700">
            <a:solidFill>
              <a:srgbClr val="141414"/>
            </a:solidFill>
            <a:headEnd type="none" w="med" len="med"/>
            <a:tailEnd type="none" w="med" len="med"/>
          </a:ln>
        </p:spPr>
        <p:style>
          <a:lnRef idx="1">
            <a:srgbClr val="141414"/>
          </a:lnRef>
          <a:fillRef idx="0">
            <a:srgbClr val="141414"/>
          </a:fillRef>
          <a:effectRef idx="0">
            <a:srgbClr val="141414"/>
          </a:effectRef>
          <a:fontRef idx="minor">
            <a:srgbClr val="141414"/>
          </a:fontRef>
        </p:style>
      </p:cxnSp>
      <p:cxnSp>
        <p:nvCxnSpPr>
          <p:cNvPr id="6" name="Google Shape;2799;p94">
            <a:extLst>
              <a:ext uri="{FF2B5EF4-FFF2-40B4-BE49-F238E27FC236}">
                <a16:creationId xmlns:a16="http://schemas.microsoft.com/office/drawing/2014/main" xmlns="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76288" y="1819656"/>
            <a:ext cx="2532887" cy="9144"/>
          </a:xfrm>
          <a:prstGeom prst="straightConnector1">
            <a:avLst/>
          </a:prstGeom>
          <a:ln w="12700">
            <a:solidFill>
              <a:srgbClr val="141414"/>
            </a:solidFill>
            <a:headEnd type="none" w="med" len="med"/>
            <a:tailEnd type="none" w="med" len="med"/>
          </a:ln>
        </p:spPr>
        <p:style>
          <a:lnRef idx="1">
            <a:srgbClr val="141414"/>
          </a:lnRef>
          <a:fillRef idx="0">
            <a:srgbClr val="141414"/>
          </a:fillRef>
          <a:effectRef idx="0">
            <a:srgbClr val="141414"/>
          </a:effectRef>
          <a:fontRef idx="minor">
            <a:srgbClr val="141414"/>
          </a:fontRef>
        </p:style>
      </p:cxn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xmlns="" id="{2E5EC51C-6A42-A386-6730-F35F8E0CF56A}"/>
              </a:ext>
            </a:extLst>
          </p:cNvPr>
          <p:cNvSpPr/>
          <p:nvPr/>
        </p:nvSpPr>
        <p:spPr>
          <a:xfrm>
            <a:off x="1609343" y="1188720"/>
            <a:ext cx="1371600" cy="1261872"/>
          </a:xfrm>
          <a:prstGeom prst="roundRect">
            <a:avLst/>
          </a:prstGeom>
          <a:solidFill>
            <a:srgbClr val="FFC800"/>
          </a:solidFill>
          <a:ln>
            <a:noFill/>
          </a:ln>
        </p:spPr>
        <p:style>
          <a:lnRef idx="2">
            <a:srgbClr val="141414"/>
          </a:lnRef>
          <a:fillRef idx="1">
            <a:srgbClr val="141414"/>
          </a:fillRef>
          <a:effectRef idx="0">
            <a:srgbClr val="141414"/>
          </a:effectRef>
          <a:fontRef idx="minor">
            <a:srgbClr val="141414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rgbClr val="141414"/>
              </a:solidFill>
            </a:endParaRP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956815" y="1481328"/>
            <a:ext cx="676656" cy="676656"/>
          </a:xfrm>
          <a:prstGeom prst="rect">
            <a:avLst/>
          </a:prstGeom>
        </p:spPr>
      </p:pic>
      <p:sp>
        <p:nvSpPr>
          <p:cNvPr id="9" name="Карточка"/>
          <p:cNvSpPr/>
          <p:nvPr/>
        </p:nvSpPr>
        <p:spPr>
          <a:xfrm>
            <a:off x="429768" y="2697480"/>
            <a:ext cx="3730752" cy="3063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04088" y="2953512"/>
            <a:ext cx="31821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800" b="1">
                <a:solidFill>
                  <a:srgbClr val="141414"/>
                </a:solidFill>
                <a:latin typeface="Montserrat"/>
              </a:rPr>
              <a:t>Стенд в Yandex Cloud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675888"/>
            <a:ext cx="3182112" cy="2103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141414"/>
                </a:solidFill>
                <a:latin typeface="Montserrat"/>
              </a:rPr>
              <a:t>Сервис, база дня и граф дорог — на одной машине в Yandex Cloud, данные в России. Интерфейс и API — за паролем, снаружи только веб и SSH по ключу. Шаги дня — в Postgres: перезапуск не меняет план. Выкат через OIDC, без долгоживущих ключей облака.</a:t>
            </a:r>
          </a:p>
        </p:txBody>
      </p:sp>
      <p:sp>
        <p:nvSpPr>
          <p:cNvPr id="12" name="Скругленный прямоугольник 16">
            <a:extLst>
              <a:ext uri="{FF2B5EF4-FFF2-40B4-BE49-F238E27FC236}">
                <a16:creationId xmlns:a16="http://schemas.microsoft.com/office/drawing/2014/main" xmlns="" id="{10651A50-CFFD-C440-F1DF-F703C14C9202}"/>
              </a:ext>
            </a:extLst>
          </p:cNvPr>
          <p:cNvSpPr/>
          <p:nvPr/>
        </p:nvSpPr>
        <p:spPr>
          <a:xfrm>
            <a:off x="5504688" y="1188720"/>
            <a:ext cx="1371600" cy="1261872"/>
          </a:xfrm>
          <a:prstGeom prst="roundRect">
            <a:avLst/>
          </a:prstGeom>
          <a:solidFill>
            <a:srgbClr val="FFC800"/>
          </a:solidFill>
          <a:ln>
            <a:noFill/>
          </a:ln>
        </p:spPr>
        <p:style>
          <a:lnRef idx="2">
            <a:srgbClr val="141414"/>
          </a:lnRef>
          <a:fillRef idx="1">
            <a:srgbClr val="141414"/>
          </a:fillRef>
          <a:effectRef idx="0">
            <a:srgbClr val="141414"/>
          </a:effectRef>
          <a:fontRef idx="minor">
            <a:srgbClr val="141414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rgbClr val="141414"/>
              </a:solidFill>
            </a:endParaRP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481328"/>
            <a:ext cx="676656" cy="676656"/>
          </a:xfrm>
          <a:prstGeom prst="rect">
            <a:avLst/>
          </a:prstGeom>
        </p:spPr>
      </p:pic>
      <p:sp>
        <p:nvSpPr>
          <p:cNvPr id="14" name="Карточка"/>
          <p:cNvSpPr/>
          <p:nvPr/>
        </p:nvSpPr>
        <p:spPr>
          <a:xfrm>
            <a:off x="4325112" y="2697480"/>
            <a:ext cx="3730752" cy="3063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99432" y="2953512"/>
            <a:ext cx="31821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800" b="1">
                <a:solidFill>
                  <a:srgbClr val="141414"/>
                </a:solidFill>
                <a:latin typeface="Montserrat"/>
              </a:rPr>
              <a:t>Помощник на Yandex AI Studio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9432" y="3675888"/>
            <a:ext cx="3182112" cy="2103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141414"/>
                </a:solidFill>
                <a:latin typeface="Montserrat"/>
              </a:rPr>
              <a:t>Основная модель — YandexGPT, запасная — Qwen3 с открытыми весами, там же. Модель только предлагает, план меняет диспетчер кнопкой «Применить». Непонятное не угадывает: отвечает «Не понял» и чего не хватает. «Арташкин заболел после обеда» → событие.</a:t>
            </a:r>
          </a:p>
        </p:txBody>
      </p:sp>
      <p:sp>
        <p:nvSpPr>
          <p:cNvPr id="17" name="Скругленный прямоугольник 17">
            <a:extLst>
              <a:ext uri="{FF2B5EF4-FFF2-40B4-BE49-F238E27FC236}">
                <a16:creationId xmlns:a16="http://schemas.microsoft.com/office/drawing/2014/main" xmlns="" id="{4E66C5A3-A3C5-30B4-C393-E9B38DD05805}"/>
              </a:ext>
            </a:extLst>
          </p:cNvPr>
          <p:cNvSpPr/>
          <p:nvPr/>
        </p:nvSpPr>
        <p:spPr>
          <a:xfrm>
            <a:off x="9409176" y="1188720"/>
            <a:ext cx="1371600" cy="1261872"/>
          </a:xfrm>
          <a:prstGeom prst="roundRect">
            <a:avLst/>
          </a:prstGeom>
          <a:solidFill>
            <a:srgbClr val="FFC800"/>
          </a:solidFill>
          <a:ln>
            <a:noFill/>
          </a:ln>
        </p:spPr>
        <p:style>
          <a:lnRef idx="2">
            <a:srgbClr val="141414"/>
          </a:lnRef>
          <a:fillRef idx="1">
            <a:srgbClr val="141414"/>
          </a:fillRef>
          <a:effectRef idx="0">
            <a:srgbClr val="141414"/>
          </a:effectRef>
          <a:fontRef idx="minor">
            <a:srgbClr val="141414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rgbClr val="141414"/>
              </a:solidFill>
            </a:endParaRP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9756648" y="1481328"/>
            <a:ext cx="676656" cy="676656"/>
          </a:xfrm>
          <a:prstGeom prst="rect">
            <a:avLst/>
          </a:prstGeom>
        </p:spPr>
      </p:pic>
      <p:sp>
        <p:nvSpPr>
          <p:cNvPr id="19" name="Карточка"/>
          <p:cNvSpPr/>
          <p:nvPr/>
        </p:nvSpPr>
        <p:spPr>
          <a:xfrm>
            <a:off x="8229600" y="2697480"/>
            <a:ext cx="3730752" cy="3063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503920" y="2953512"/>
            <a:ext cx="31821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800" b="1">
                <a:solidFill>
                  <a:srgbClr val="141414"/>
                </a:solidFill>
                <a:latin typeface="Montserrat"/>
              </a:rPr>
              <a:t>Маршруты считаем сами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3675888"/>
            <a:ext cx="3182112" cy="2103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141414"/>
                </a:solidFill>
                <a:latin typeface="Montserrat"/>
              </a:rPr>
              <a:t>OR-Tools и OSRM — открытый код на нашем сервере: планы и пересчёты не уходят во внешние сервисы. Без внешних сервисов не падает: нет OSRM — расстояния по прямой, нет ключа карт — OpenStreetMap, нет модели — выключен только помощник.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" y="589788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141414"/>
                </a:solidFill>
                <a:latin typeface="Montserrat"/>
              </a:rPr>
              <a:t>С сервера наружу уходят только новые адреса в геокодер (без квартиры) и сообщения помощнику — в промышленной версии модель и геокодер ставятся </a:t>
            </a:r>
            <a:r>
              <a:rPr sz="1300" b="1">
                <a:solidFill>
                  <a:srgbClr val="141414"/>
                </a:solidFill>
                <a:latin typeface="Montserrat"/>
              </a:rPr>
              <a:t>внутрь контура Билайна</a:t>
            </a:r>
            <a:r>
              <a:rPr sz="1300" b="0">
                <a:solidFill>
                  <a:srgbClr val="141414"/>
                </a:solidFill>
                <a:latin typeface="Montserrat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8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Логотипы организаторов"/>
          <p:cNvPicPr>
            <a:picLocks noChangeAspect="1"/>
          </p:cNvPicPr>
          <p:nvPr/>
        </p:nvPicPr>
        <p:blipFill>
          <a:blip r:embed="rIdBrandLogos"/>
          <a:stretch>
            <a:fillRect/>
          </a:stretch>
        </p:blipFill>
        <p:spPr>
          <a:xfrm>
            <a:off x="6966826" y="307571"/>
            <a:ext cx="4938235" cy="390698"/>
          </a:xfrm>
          <a:prstGeom prst="rect">
            <a:avLst/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141414"/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16</a:t>
            </a:fld>
            <a:endParaRPr lang="ru-RU" dirty="0"/>
          </a:p>
        </p:txBody>
      </p:sp>
      <p:sp>
        <p:nvSpPr>
          <p:cNvPr id="4" name="Карточка pill"/>
          <p:cNvSpPr/>
          <p:nvPr/>
        </p:nvSpPr>
        <p:spPr>
          <a:xfrm>
            <a:off x="347472" y="320040"/>
            <a:ext cx="3863848" cy="621792"/>
          </a:xfrm>
          <a:prstGeom prst="roundRect">
            <a:avLst>
              <a:gd name="adj" fmla="val 20588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wrap="square" lIns="182880" tIns="0" rIns="73152" bIns="0" rtlCol="0" anchor="ctr"/>
          <a:lstStyle/>
          <a:p>
            <a:pPr algn="l"/>
            <a:r>
              <a:rPr sz="2000" b="1">
                <a:solidFill>
                  <a:srgbClr val="FFFFFF"/>
                </a:solidFill>
                <a:latin typeface="Montserrat"/>
              </a:rPr>
              <a:t>ЧТО ЭТО ДАЁТ БИЗНЕСУ</a:t>
            </a:r>
          </a:p>
        </p:txBody>
      </p:sp>
      <p:grpSp>
        <p:nvGrpSpPr>
          <p:cNvPr id="2" name="Google Shape;2818;p94">
            <a:extLst>
              <a:ext uri="{FF2B5EF4-FFF2-40B4-BE49-F238E27FC236}">
                <a16:creationId xmlns:a16="http://schemas.microsoft.com/office/drawing/2014/main" xmlns="" id="{C0241749-B161-4D51-AE4A-9F151E800A9E}"/>
              </a:ext>
            </a:extLst>
          </p:cNvPr>
          <p:cNvGrpSpPr/>
          <p:nvPr/>
        </p:nvGrpSpPr>
        <p:grpSpPr>
          <a:xfrm>
            <a:off x="548640" y="1310713"/>
            <a:ext cx="658368" cy="652125"/>
            <a:chOff x="4078718" y="2222819"/>
            <a:chExt cx="340504" cy="339803"/>
          </a:xfrm>
        </p:grpSpPr>
        <p:sp>
          <p:nvSpPr>
            <p:cNvPr id="6" name="Google Shape;2819;p94">
              <a:extLst>
                <a:ext uri="{FF2B5EF4-FFF2-40B4-BE49-F238E27FC236}">
                  <a16:creationId xmlns:a16="http://schemas.microsoft.com/office/drawing/2014/main" xmlns="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" name="Google Shape;2820;p94">
              <a:extLst>
                <a:ext uri="{FF2B5EF4-FFF2-40B4-BE49-F238E27FC236}">
                  <a16:creationId xmlns:a16="http://schemas.microsoft.com/office/drawing/2014/main" xmlns="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" name="Google Shape;2821;p94">
              <a:extLst>
                <a:ext uri="{FF2B5EF4-FFF2-40B4-BE49-F238E27FC236}">
                  <a16:creationId xmlns:a16="http://schemas.microsoft.com/office/drawing/2014/main" xmlns="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" name="Google Shape;2822;p94">
              <a:extLst>
                <a:ext uri="{FF2B5EF4-FFF2-40B4-BE49-F238E27FC236}">
                  <a16:creationId xmlns:a16="http://schemas.microsoft.com/office/drawing/2014/main" xmlns="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" name="Google Shape;2823;p94">
              <a:extLst>
                <a:ext uri="{FF2B5EF4-FFF2-40B4-BE49-F238E27FC236}">
                  <a16:creationId xmlns:a16="http://schemas.microsoft.com/office/drawing/2014/main" xmlns="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" name="Google Shape;2824;p94">
              <a:extLst>
                <a:ext uri="{FF2B5EF4-FFF2-40B4-BE49-F238E27FC236}">
                  <a16:creationId xmlns:a16="http://schemas.microsoft.com/office/drawing/2014/main" xmlns="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" name="Google Shape;2825;p94">
              <a:extLst>
                <a:ext uri="{FF2B5EF4-FFF2-40B4-BE49-F238E27FC236}">
                  <a16:creationId xmlns:a16="http://schemas.microsoft.com/office/drawing/2014/main" xmlns="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" name="Google Shape;2826;p94">
              <a:extLst>
                <a:ext uri="{FF2B5EF4-FFF2-40B4-BE49-F238E27FC236}">
                  <a16:creationId xmlns:a16="http://schemas.microsoft.com/office/drawing/2014/main" xmlns="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" name="Google Shape;2827;p94">
              <a:extLst>
                <a:ext uri="{FF2B5EF4-FFF2-40B4-BE49-F238E27FC236}">
                  <a16:creationId xmlns:a16="http://schemas.microsoft.com/office/drawing/2014/main" xmlns="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5" name="TextBox 14"/>
          <p:cNvSpPr txBox="1"/>
          <p:nvPr/>
        </p:nvSpPr>
        <p:spPr>
          <a:xfrm>
            <a:off x="1463040" y="1170432"/>
            <a:ext cx="3931920" cy="9326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600" b="1">
                <a:solidFill>
                  <a:srgbClr val="141414"/>
                </a:solidFill>
                <a:latin typeface="Montserrat"/>
              </a:rPr>
              <a:t>−11 смен в день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2120" y="1170432"/>
            <a:ext cx="6217920" cy="9326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0">
                <a:solidFill>
                  <a:srgbClr val="141414"/>
                </a:solidFill>
                <a:latin typeface="Montserrat"/>
              </a:rPr>
              <a:t>24 бригады вместо 35 закрывают все 205 заявок трёх регионов. Свободные смены — запас на аварии и новые заявки.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2103120"/>
            <a:ext cx="11292840" cy="0"/>
          </a:xfrm>
          <a:prstGeom prst="line">
            <a:avLst/>
          </a:prstGeom>
          <a:ln w="12700">
            <a:solidFill>
              <a:srgbClr val="141414"/>
            </a:solidFill>
          </a:ln>
        </p:spPr>
        <p:style>
          <a:lnRef idx="2">
            <a:srgbClr val="141414"/>
          </a:lnRef>
          <a:fillRef idx="0">
            <a:srgbClr val="141414"/>
          </a:fillRef>
          <a:effectRef idx="1">
            <a:srgbClr val="141414"/>
          </a:effectRef>
          <a:fontRef idx="minor">
            <a:srgbClr val="141414"/>
          </a:fontRef>
        </p:style>
      </p:cxnSp>
      <p:grpSp>
        <p:nvGrpSpPr>
          <p:cNvPr id="5" name="Google Shape;2829;p94">
            <a:extLst>
              <a:ext uri="{FF2B5EF4-FFF2-40B4-BE49-F238E27FC236}">
                <a16:creationId xmlns:a16="http://schemas.microsoft.com/office/drawing/2014/main" xmlns="" id="{4C77747E-B18D-4A2B-BA4F-6DC51DACDF20}"/>
              </a:ext>
            </a:extLst>
          </p:cNvPr>
          <p:cNvGrpSpPr/>
          <p:nvPr/>
        </p:nvGrpSpPr>
        <p:grpSpPr>
          <a:xfrm>
            <a:off x="548640" y="2262843"/>
            <a:ext cx="658368" cy="613240"/>
            <a:chOff x="3385734" y="2233242"/>
            <a:chExt cx="340504" cy="319542"/>
          </a:xfrm>
        </p:grpSpPr>
        <p:sp>
          <p:nvSpPr>
            <p:cNvPr id="19" name="Google Shape;2830;p94">
              <a:extLst>
                <a:ext uri="{FF2B5EF4-FFF2-40B4-BE49-F238E27FC236}">
                  <a16:creationId xmlns:a16="http://schemas.microsoft.com/office/drawing/2014/main" xmlns="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" name="Google Shape;2831;p94">
              <a:extLst>
                <a:ext uri="{FF2B5EF4-FFF2-40B4-BE49-F238E27FC236}">
                  <a16:creationId xmlns:a16="http://schemas.microsoft.com/office/drawing/2014/main" xmlns="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" name="Google Shape;2832;p94">
              <a:extLst>
                <a:ext uri="{FF2B5EF4-FFF2-40B4-BE49-F238E27FC236}">
                  <a16:creationId xmlns:a16="http://schemas.microsoft.com/office/drawing/2014/main" xmlns="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2" name="Google Shape;2833;p94">
              <a:extLst>
                <a:ext uri="{FF2B5EF4-FFF2-40B4-BE49-F238E27FC236}">
                  <a16:creationId xmlns:a16="http://schemas.microsoft.com/office/drawing/2014/main" xmlns="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3" name="Google Shape;2834;p94">
              <a:extLst>
                <a:ext uri="{FF2B5EF4-FFF2-40B4-BE49-F238E27FC236}">
                  <a16:creationId xmlns:a16="http://schemas.microsoft.com/office/drawing/2014/main" xmlns="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4" name="Google Shape;2835;p94">
              <a:extLst>
                <a:ext uri="{FF2B5EF4-FFF2-40B4-BE49-F238E27FC236}">
                  <a16:creationId xmlns:a16="http://schemas.microsoft.com/office/drawing/2014/main" xmlns="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5" name="Google Shape;2836;p94">
              <a:extLst>
                <a:ext uri="{FF2B5EF4-FFF2-40B4-BE49-F238E27FC236}">
                  <a16:creationId xmlns:a16="http://schemas.microsoft.com/office/drawing/2014/main" xmlns="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6" name="Google Shape;2837;p94">
              <a:extLst>
                <a:ext uri="{FF2B5EF4-FFF2-40B4-BE49-F238E27FC236}">
                  <a16:creationId xmlns:a16="http://schemas.microsoft.com/office/drawing/2014/main" xmlns="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7" name="Google Shape;2838;p94">
              <a:extLst>
                <a:ext uri="{FF2B5EF4-FFF2-40B4-BE49-F238E27FC236}">
                  <a16:creationId xmlns:a16="http://schemas.microsoft.com/office/drawing/2014/main" xmlns="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8" name="Google Shape;2839;p94">
              <a:extLst>
                <a:ext uri="{FF2B5EF4-FFF2-40B4-BE49-F238E27FC236}">
                  <a16:creationId xmlns:a16="http://schemas.microsoft.com/office/drawing/2014/main" xmlns="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9" name="Google Shape;2840;p94">
              <a:extLst>
                <a:ext uri="{FF2B5EF4-FFF2-40B4-BE49-F238E27FC236}">
                  <a16:creationId xmlns:a16="http://schemas.microsoft.com/office/drawing/2014/main" xmlns="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0" name="Google Shape;2841;p94">
              <a:extLst>
                <a:ext uri="{FF2B5EF4-FFF2-40B4-BE49-F238E27FC236}">
                  <a16:creationId xmlns:a16="http://schemas.microsoft.com/office/drawing/2014/main" xmlns="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1" name="Google Shape;2842;p94">
              <a:extLst>
                <a:ext uri="{FF2B5EF4-FFF2-40B4-BE49-F238E27FC236}">
                  <a16:creationId xmlns:a16="http://schemas.microsoft.com/office/drawing/2014/main" xmlns="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2" name="Google Shape;2843;p94">
              <a:extLst>
                <a:ext uri="{FF2B5EF4-FFF2-40B4-BE49-F238E27FC236}">
                  <a16:creationId xmlns:a16="http://schemas.microsoft.com/office/drawing/2014/main" xmlns="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33" name="TextBox 32"/>
          <p:cNvSpPr txBox="1"/>
          <p:nvPr/>
        </p:nvSpPr>
        <p:spPr>
          <a:xfrm>
            <a:off x="1463040" y="2103120"/>
            <a:ext cx="3931920" cy="9326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600" b="1">
                <a:solidFill>
                  <a:srgbClr val="141414"/>
                </a:solidFill>
                <a:latin typeface="Montserrat"/>
              </a:rPr>
              <a:t>−81 км в день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32120" y="2103120"/>
            <a:ext cx="6217920" cy="9326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0">
                <a:solidFill>
                  <a:srgbClr val="141414"/>
                </a:solidFill>
                <a:latin typeface="Montserrat"/>
              </a:rPr>
              <a:t>775,5 км против 856,7 у диспетчеров Билайна; против базового варианта из ТЗ — −895 км.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57200" y="3035808"/>
            <a:ext cx="11292840" cy="0"/>
          </a:xfrm>
          <a:prstGeom prst="line">
            <a:avLst/>
          </a:prstGeom>
          <a:ln w="12700">
            <a:solidFill>
              <a:srgbClr val="141414"/>
            </a:solidFill>
          </a:ln>
        </p:spPr>
        <p:style>
          <a:lnRef idx="2">
            <a:srgbClr val="141414"/>
          </a:lnRef>
          <a:fillRef idx="0">
            <a:srgbClr val="141414"/>
          </a:fillRef>
          <a:effectRef idx="1">
            <a:srgbClr val="141414"/>
          </a:effectRef>
          <a:fontRef idx="minor">
            <a:srgbClr val="141414"/>
          </a:fontRef>
        </p:style>
      </p:cxn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94360" y="3218688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463040" y="3035808"/>
            <a:ext cx="3931920" cy="9326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600" b="1">
                <a:solidFill>
                  <a:srgbClr val="141414"/>
                </a:solidFill>
                <a:latin typeface="Montserrat"/>
              </a:rPr>
              <a:t>0 заявок вне окна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32120" y="3035808"/>
            <a:ext cx="6217920" cy="9326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0">
                <a:solidFill>
                  <a:srgbClr val="141414"/>
                </a:solidFill>
                <a:latin typeface="Montserrat"/>
              </a:rPr>
              <a:t>Обещанное клиенту окно держится. Кому всё-таки позвонить и какой слот назвать — во вкладке «Коммуникации»: новое окно только слотом сетки 10–12 … 20–22.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57200" y="3968496"/>
            <a:ext cx="11292840" cy="0"/>
          </a:xfrm>
          <a:prstGeom prst="line">
            <a:avLst/>
          </a:prstGeom>
          <a:ln w="12700">
            <a:solidFill>
              <a:srgbClr val="141414"/>
            </a:solidFill>
          </a:ln>
        </p:spPr>
        <p:style>
          <a:lnRef idx="2">
            <a:srgbClr val="141414"/>
          </a:lnRef>
          <a:fillRef idx="0">
            <a:srgbClr val="141414"/>
          </a:fillRef>
          <a:effectRef idx="1">
            <a:srgbClr val="141414"/>
          </a:effectRef>
          <a:fontRef idx="minor">
            <a:srgbClr val="141414"/>
          </a:fontRef>
        </p:style>
      </p:cxnSp>
      <p:grpSp>
        <p:nvGrpSpPr>
          <p:cNvPr id="18" name="Google Shape;2805;p94">
            <a:extLst>
              <a:ext uri="{FF2B5EF4-FFF2-40B4-BE49-F238E27FC236}">
                <a16:creationId xmlns:a16="http://schemas.microsoft.com/office/drawing/2014/main" xmlns="" id="{5E434E9D-30AC-45F0-A79E-53D93704F0BF}"/>
              </a:ext>
            </a:extLst>
          </p:cNvPr>
          <p:cNvGrpSpPr/>
          <p:nvPr/>
        </p:nvGrpSpPr>
        <p:grpSpPr>
          <a:xfrm>
            <a:off x="548640" y="4125114"/>
            <a:ext cx="658368" cy="619450"/>
            <a:chOff x="4754041" y="2231625"/>
            <a:chExt cx="340538" cy="322810"/>
          </a:xfrm>
        </p:grpSpPr>
        <p:sp>
          <p:nvSpPr>
            <p:cNvPr id="41" name="Google Shape;2806;p94">
              <a:extLst>
                <a:ext uri="{FF2B5EF4-FFF2-40B4-BE49-F238E27FC236}">
                  <a16:creationId xmlns:a16="http://schemas.microsoft.com/office/drawing/2014/main" xmlns="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2" name="Google Shape;2807;p94">
              <a:extLst>
                <a:ext uri="{FF2B5EF4-FFF2-40B4-BE49-F238E27FC236}">
                  <a16:creationId xmlns:a16="http://schemas.microsoft.com/office/drawing/2014/main" xmlns="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3" name="Google Shape;2808;p94">
              <a:extLst>
                <a:ext uri="{FF2B5EF4-FFF2-40B4-BE49-F238E27FC236}">
                  <a16:creationId xmlns:a16="http://schemas.microsoft.com/office/drawing/2014/main" xmlns="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4" name="Google Shape;2809;p94">
              <a:extLst>
                <a:ext uri="{FF2B5EF4-FFF2-40B4-BE49-F238E27FC236}">
                  <a16:creationId xmlns:a16="http://schemas.microsoft.com/office/drawing/2014/main" xmlns="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5" name="Google Shape;2810;p94">
              <a:extLst>
                <a:ext uri="{FF2B5EF4-FFF2-40B4-BE49-F238E27FC236}">
                  <a16:creationId xmlns:a16="http://schemas.microsoft.com/office/drawing/2014/main" xmlns="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6" name="Google Shape;2811;p94">
              <a:extLst>
                <a:ext uri="{FF2B5EF4-FFF2-40B4-BE49-F238E27FC236}">
                  <a16:creationId xmlns:a16="http://schemas.microsoft.com/office/drawing/2014/main" xmlns="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7" name="Google Shape;2812;p94">
              <a:extLst>
                <a:ext uri="{FF2B5EF4-FFF2-40B4-BE49-F238E27FC236}">
                  <a16:creationId xmlns:a16="http://schemas.microsoft.com/office/drawing/2014/main" xmlns="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8" name="Google Shape;2813;p94">
              <a:extLst>
                <a:ext uri="{FF2B5EF4-FFF2-40B4-BE49-F238E27FC236}">
                  <a16:creationId xmlns:a16="http://schemas.microsoft.com/office/drawing/2014/main" xmlns="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9" name="Google Shape;2814;p94">
              <a:extLst>
                <a:ext uri="{FF2B5EF4-FFF2-40B4-BE49-F238E27FC236}">
                  <a16:creationId xmlns:a16="http://schemas.microsoft.com/office/drawing/2014/main" xmlns="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0" name="Google Shape;2815;p94">
              <a:extLst>
                <a:ext uri="{FF2B5EF4-FFF2-40B4-BE49-F238E27FC236}">
                  <a16:creationId xmlns:a16="http://schemas.microsoft.com/office/drawing/2014/main" xmlns="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1" name="Google Shape;2816;p94">
              <a:extLst>
                <a:ext uri="{FF2B5EF4-FFF2-40B4-BE49-F238E27FC236}">
                  <a16:creationId xmlns:a16="http://schemas.microsoft.com/office/drawing/2014/main" xmlns="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52" name="TextBox 51"/>
          <p:cNvSpPr txBox="1"/>
          <p:nvPr/>
        </p:nvSpPr>
        <p:spPr>
          <a:xfrm>
            <a:off x="1463040" y="3968496"/>
            <a:ext cx="3931920" cy="9326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600" b="1">
                <a:solidFill>
                  <a:srgbClr val="141414"/>
                </a:solidFill>
                <a:latin typeface="Montserrat"/>
              </a:rPr>
              <a:t>План готов к утру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32120" y="3968496"/>
            <a:ext cx="6217920" cy="9326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0">
                <a:solidFill>
                  <a:srgbClr val="141414"/>
                </a:solidFill>
                <a:latin typeface="Montserrat"/>
              </a:rPr>
              <a:t>Утренний план считается заранее, регионы параллельно, и лежит в репозитории: стенд берёт его без поиска, событие днём — за 5 секунд. Стенд — одна машина: 2 vCPU, 4 ГБ.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457200" y="4901183"/>
            <a:ext cx="11292840" cy="0"/>
          </a:xfrm>
          <a:prstGeom prst="line">
            <a:avLst/>
          </a:prstGeom>
          <a:ln w="12700">
            <a:solidFill>
              <a:srgbClr val="141414"/>
            </a:solidFill>
          </a:ln>
        </p:spPr>
        <p:style>
          <a:lnRef idx="2">
            <a:srgbClr val="141414"/>
          </a:lnRef>
          <a:fillRef idx="0">
            <a:srgbClr val="141414"/>
          </a:fillRef>
          <a:effectRef idx="1">
            <a:srgbClr val="141414"/>
          </a:effectRef>
          <a:fontRef idx="minor">
            <a:srgbClr val="141414"/>
          </a:fontRef>
        </p:style>
      </p:cxnSp>
      <p:sp>
        <p:nvSpPr>
          <p:cNvPr id="55" name="Формула"/>
          <p:cNvSpPr/>
          <p:nvPr/>
        </p:nvSpPr>
        <p:spPr>
          <a:xfrm>
            <a:off x="457200" y="5084064"/>
            <a:ext cx="11292840" cy="1179575"/>
          </a:xfrm>
          <a:prstGeom prst="roundRect">
            <a:avLst>
              <a:gd name="adj" fmla="val 12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685800" y="5390388"/>
            <a:ext cx="566928" cy="566928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463040" y="5248656"/>
            <a:ext cx="1005840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400" b="1">
                <a:solidFill>
                  <a:srgbClr val="FFFFFF"/>
                </a:solidFill>
                <a:latin typeface="Montserrat"/>
              </a:rPr>
              <a:t>Экономия в день = </a:t>
            </a:r>
            <a:r>
              <a:rPr sz="3000" b="1">
                <a:solidFill>
                  <a:srgbClr val="FFC800"/>
                </a:solidFill>
                <a:latin typeface="Montserrat"/>
              </a:rPr>
              <a:t>11</a:t>
            </a:r>
            <a:r>
              <a:rPr sz="2400" b="1">
                <a:solidFill>
                  <a:srgbClr val="FFFFFF"/>
                </a:solidFill>
                <a:latin typeface="Montserrat"/>
              </a:rPr>
              <a:t> × смена бригады + </a:t>
            </a:r>
            <a:r>
              <a:rPr sz="3000" b="1">
                <a:solidFill>
                  <a:srgbClr val="FFC800"/>
                </a:solidFill>
                <a:latin typeface="Montserrat"/>
              </a:rPr>
              <a:t>81</a:t>
            </a:r>
            <a:r>
              <a:rPr sz="2400" b="1">
                <a:solidFill>
                  <a:srgbClr val="FFFFFF"/>
                </a:solidFill>
                <a:latin typeface="Montserrat"/>
              </a:rPr>
              <a:t> × км пробега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463040" y="5861304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FFFFFF"/>
                </a:solidFill>
                <a:latin typeface="Montserrat"/>
              </a:rPr>
              <a:t>Ставки и настоящие смены бригад даст Билайн на пилоте. Если каждый день как 17.08: ≈4 тыс. смен и ≈30 тыс. км в год на трёх регионах.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Логотипы организаторов"/>
          <p:cNvPicPr>
            <a:picLocks noChangeAspect="1"/>
          </p:cNvPicPr>
          <p:nvPr/>
        </p:nvPicPr>
        <p:blipFill>
          <a:blip r:embed="rIdBrandLogos"/>
          <a:stretch>
            <a:fillRect/>
          </a:stretch>
        </p:blipFill>
        <p:spPr>
          <a:xfrm>
            <a:off x="6966826" y="307571"/>
            <a:ext cx="4938235" cy="390698"/>
          </a:xfrm>
          <a:prstGeom prst="rect">
            <a:avLst/>
          </a:prstGeom>
        </p:spPr>
      </p:pic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FFFFFF"/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17</a:t>
            </a:fld>
            <a:endParaRPr lang="ru-RU" dirty="0"/>
          </a:p>
        </p:txBody>
      </p:sp>
      <p:sp>
        <p:nvSpPr>
          <p:cNvPr id="3" name="Карточка pill"/>
          <p:cNvSpPr/>
          <p:nvPr/>
        </p:nvSpPr>
        <p:spPr>
          <a:xfrm>
            <a:off x="347472" y="320040"/>
            <a:ext cx="3179318" cy="621792"/>
          </a:xfrm>
          <a:prstGeom prst="roundRect">
            <a:avLst>
              <a:gd name="adj" fmla="val 20588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wrap="square" lIns="182880" tIns="0" rIns="73152" bIns="0" rtlCol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Montserrat"/>
              </a:rPr>
              <a:t>ДОРОЖНАЯ КАРТА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01110" y="393192"/>
            <a:ext cx="292608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0">
                <a:solidFill>
                  <a:srgbClr val="FFFFFF"/>
                </a:solidFill>
                <a:latin typeface="Montserrat"/>
              </a:rPr>
              <a:t>Путь к промышленной версии</a:t>
            </a:r>
          </a:p>
        </p:txBody>
      </p:sp>
      <p:grpSp>
        <p:nvGrpSpPr>
          <p:cNvPr id="5" name="Google Shape;1509;p43">
            <a:extLst>
              <a:ext uri="{FF2B5EF4-FFF2-40B4-BE49-F238E27FC236}">
                <a16:creationId xmlns:a16="http://schemas.microsoft.com/office/drawing/2014/main" xmlns="" id="{6AD20828-2DC9-DF88-57BD-DA77E58AE56E}"/>
              </a:ext>
            </a:extLst>
          </p:cNvPr>
          <p:cNvGrpSpPr/>
          <p:nvPr/>
        </p:nvGrpSpPr>
        <p:grpSpPr>
          <a:xfrm flipH="1">
            <a:off x="4617720" y="1097280"/>
            <a:ext cx="2926080" cy="5257800"/>
            <a:chOff x="3088670" y="1930338"/>
            <a:chExt cx="380983" cy="684491"/>
          </a:xfrm>
          <a:solidFill>
            <a:srgbClr val="FFC800">
              <a:alpha val="0"/>
            </a:srgbClr>
          </a:solidFill>
        </p:grpSpPr>
        <p:sp>
          <p:nvSpPr>
            <p:cNvPr id="6" name="Google Shape;1510;p43">
              <a:extLst>
                <a:ext uri="{FF2B5EF4-FFF2-40B4-BE49-F238E27FC236}">
                  <a16:creationId xmlns:a16="http://schemas.microsoft.com/office/drawing/2014/main" xmlns="" id="{69265BB5-4D45-FA77-3EF2-6AFCABD0A5F9}"/>
                </a:ext>
              </a:extLst>
            </p:cNvPr>
            <p:cNvSpPr/>
            <p:nvPr/>
          </p:nvSpPr>
          <p:spPr>
            <a:xfrm>
              <a:off x="3200035" y="1938750"/>
              <a:ext cx="159427" cy="667667"/>
            </a:xfrm>
            <a:custGeom>
              <a:avLst/>
              <a:gdLst/>
              <a:ahLst/>
              <a:cxnLst/>
              <a:rect l="l" t="t" r="r" b="b"/>
              <a:pathLst>
                <a:path w="21750" h="91118" extrusionOk="0">
                  <a:moveTo>
                    <a:pt x="13027" y="0"/>
                  </a:moveTo>
                  <a:lnTo>
                    <a:pt x="13027" y="884"/>
                  </a:lnTo>
                  <a:cubicBezTo>
                    <a:pt x="13027" y="2077"/>
                    <a:pt x="12063" y="3042"/>
                    <a:pt x="10869" y="3042"/>
                  </a:cubicBezTo>
                  <a:lnTo>
                    <a:pt x="8000" y="3042"/>
                  </a:lnTo>
                  <a:cubicBezTo>
                    <a:pt x="3570" y="3042"/>
                    <a:pt x="0" y="6680"/>
                    <a:pt x="81" y="11110"/>
                  </a:cubicBezTo>
                  <a:cubicBezTo>
                    <a:pt x="150" y="15414"/>
                    <a:pt x="3753" y="18915"/>
                    <a:pt x="8126" y="18915"/>
                  </a:cubicBezTo>
                  <a:lnTo>
                    <a:pt x="13750" y="18915"/>
                  </a:lnTo>
                  <a:cubicBezTo>
                    <a:pt x="17377" y="18915"/>
                    <a:pt x="20315" y="21887"/>
                    <a:pt x="20246" y="25525"/>
                  </a:cubicBezTo>
                  <a:cubicBezTo>
                    <a:pt x="20189" y="29049"/>
                    <a:pt x="17216" y="31918"/>
                    <a:pt x="13635" y="31918"/>
                  </a:cubicBezTo>
                  <a:lnTo>
                    <a:pt x="8000" y="31918"/>
                  </a:lnTo>
                  <a:cubicBezTo>
                    <a:pt x="3570" y="31918"/>
                    <a:pt x="0" y="35557"/>
                    <a:pt x="81" y="39987"/>
                  </a:cubicBezTo>
                  <a:cubicBezTo>
                    <a:pt x="150" y="44291"/>
                    <a:pt x="3753" y="47791"/>
                    <a:pt x="8126" y="47791"/>
                  </a:cubicBezTo>
                  <a:lnTo>
                    <a:pt x="13750" y="47791"/>
                  </a:lnTo>
                  <a:cubicBezTo>
                    <a:pt x="17377" y="47791"/>
                    <a:pt x="20315" y="50775"/>
                    <a:pt x="20246" y="54402"/>
                  </a:cubicBezTo>
                  <a:cubicBezTo>
                    <a:pt x="20189" y="57926"/>
                    <a:pt x="17216" y="60795"/>
                    <a:pt x="13635" y="60795"/>
                  </a:cubicBezTo>
                  <a:lnTo>
                    <a:pt x="8000" y="60795"/>
                  </a:lnTo>
                  <a:cubicBezTo>
                    <a:pt x="3570" y="60795"/>
                    <a:pt x="0" y="64433"/>
                    <a:pt x="81" y="68875"/>
                  </a:cubicBezTo>
                  <a:cubicBezTo>
                    <a:pt x="150" y="73179"/>
                    <a:pt x="3753" y="76668"/>
                    <a:pt x="8126" y="76668"/>
                  </a:cubicBezTo>
                  <a:lnTo>
                    <a:pt x="13750" y="76668"/>
                  </a:lnTo>
                  <a:cubicBezTo>
                    <a:pt x="17377" y="76668"/>
                    <a:pt x="20315" y="79652"/>
                    <a:pt x="20246" y="83290"/>
                  </a:cubicBezTo>
                  <a:cubicBezTo>
                    <a:pt x="20189" y="86814"/>
                    <a:pt x="17216" y="89683"/>
                    <a:pt x="13635" y="89683"/>
                  </a:cubicBezTo>
                  <a:lnTo>
                    <a:pt x="8574" y="89683"/>
                  </a:lnTo>
                  <a:lnTo>
                    <a:pt x="8574" y="91118"/>
                  </a:lnTo>
                  <a:lnTo>
                    <a:pt x="13624" y="91118"/>
                  </a:lnTo>
                  <a:cubicBezTo>
                    <a:pt x="17997" y="91118"/>
                    <a:pt x="21601" y="87606"/>
                    <a:pt x="21681" y="83313"/>
                  </a:cubicBezTo>
                  <a:cubicBezTo>
                    <a:pt x="21750" y="78872"/>
                    <a:pt x="18180" y="75233"/>
                    <a:pt x="13739" y="75233"/>
                  </a:cubicBezTo>
                  <a:lnTo>
                    <a:pt x="8126" y="75233"/>
                  </a:lnTo>
                  <a:cubicBezTo>
                    <a:pt x="4534" y="75233"/>
                    <a:pt x="1561" y="72364"/>
                    <a:pt x="1504" y="68852"/>
                  </a:cubicBezTo>
                  <a:cubicBezTo>
                    <a:pt x="1435" y="65214"/>
                    <a:pt x="4373" y="62230"/>
                    <a:pt x="8000" y="62230"/>
                  </a:cubicBezTo>
                  <a:lnTo>
                    <a:pt x="13624" y="62230"/>
                  </a:lnTo>
                  <a:cubicBezTo>
                    <a:pt x="17997" y="62230"/>
                    <a:pt x="21601" y="58729"/>
                    <a:pt x="21681" y="54425"/>
                  </a:cubicBezTo>
                  <a:cubicBezTo>
                    <a:pt x="21750" y="49995"/>
                    <a:pt x="18180" y="46357"/>
                    <a:pt x="13739" y="46357"/>
                  </a:cubicBezTo>
                  <a:lnTo>
                    <a:pt x="8126" y="46357"/>
                  </a:lnTo>
                  <a:cubicBezTo>
                    <a:pt x="4534" y="46357"/>
                    <a:pt x="1561" y="43487"/>
                    <a:pt x="1504" y="39964"/>
                  </a:cubicBezTo>
                  <a:cubicBezTo>
                    <a:pt x="1435" y="36337"/>
                    <a:pt x="4373" y="33353"/>
                    <a:pt x="8000" y="33353"/>
                  </a:cubicBezTo>
                  <a:lnTo>
                    <a:pt x="13624" y="33353"/>
                  </a:lnTo>
                  <a:cubicBezTo>
                    <a:pt x="17997" y="33353"/>
                    <a:pt x="21601" y="29852"/>
                    <a:pt x="21681" y="25548"/>
                  </a:cubicBezTo>
                  <a:cubicBezTo>
                    <a:pt x="21750" y="21118"/>
                    <a:pt x="18180" y="17480"/>
                    <a:pt x="13739" y="17480"/>
                  </a:cubicBezTo>
                  <a:lnTo>
                    <a:pt x="8126" y="17480"/>
                  </a:lnTo>
                  <a:cubicBezTo>
                    <a:pt x="4534" y="17480"/>
                    <a:pt x="1561" y="14611"/>
                    <a:pt x="1504" y="11087"/>
                  </a:cubicBezTo>
                  <a:cubicBezTo>
                    <a:pt x="1435" y="7449"/>
                    <a:pt x="4373" y="4476"/>
                    <a:pt x="8000" y="4476"/>
                  </a:cubicBezTo>
                  <a:lnTo>
                    <a:pt x="10869" y="4476"/>
                  </a:lnTo>
                  <a:cubicBezTo>
                    <a:pt x="12855" y="4476"/>
                    <a:pt x="14462" y="2869"/>
                    <a:pt x="14462" y="884"/>
                  </a:cubicBezTo>
                  <a:lnTo>
                    <a:pt x="14462" y="0"/>
                  </a:ln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7" name="Google Shape;1511;p43">
              <a:extLst>
                <a:ext uri="{FF2B5EF4-FFF2-40B4-BE49-F238E27FC236}">
                  <a16:creationId xmlns:a16="http://schemas.microsoft.com/office/drawing/2014/main" xmlns="" id="{B82ECF61-D8B3-B62B-83A2-BA74BB260F91}"/>
                </a:ext>
              </a:extLst>
            </p:cNvPr>
            <p:cNvSpPr/>
            <p:nvPr/>
          </p:nvSpPr>
          <p:spPr>
            <a:xfrm>
              <a:off x="3191453" y="1930338"/>
              <a:ext cx="176506" cy="684491"/>
            </a:xfrm>
            <a:custGeom>
              <a:avLst/>
              <a:gdLst/>
              <a:ahLst/>
              <a:cxnLst/>
              <a:rect l="l" t="t" r="r" b="b"/>
              <a:pathLst>
                <a:path w="24080" h="93414" extrusionOk="0">
                  <a:moveTo>
                    <a:pt x="16207" y="574"/>
                  </a:moveTo>
                  <a:lnTo>
                    <a:pt x="16207" y="2032"/>
                  </a:lnTo>
                  <a:cubicBezTo>
                    <a:pt x="16207" y="4327"/>
                    <a:pt x="14336" y="6198"/>
                    <a:pt x="12040" y="6198"/>
                  </a:cubicBezTo>
                  <a:lnTo>
                    <a:pt x="9171" y="6198"/>
                  </a:lnTo>
                  <a:cubicBezTo>
                    <a:pt x="5866" y="6198"/>
                    <a:pt x="3191" y="8907"/>
                    <a:pt x="3249" y="12224"/>
                  </a:cubicBezTo>
                  <a:cubicBezTo>
                    <a:pt x="3295" y="15437"/>
                    <a:pt x="6015" y="18043"/>
                    <a:pt x="9297" y="18043"/>
                  </a:cubicBezTo>
                  <a:lnTo>
                    <a:pt x="14910" y="18043"/>
                  </a:lnTo>
                  <a:cubicBezTo>
                    <a:pt x="19673" y="18043"/>
                    <a:pt x="23506" y="21945"/>
                    <a:pt x="23426" y="26708"/>
                  </a:cubicBezTo>
                  <a:cubicBezTo>
                    <a:pt x="23345" y="31322"/>
                    <a:pt x="19478" y="35075"/>
                    <a:pt x="14795" y="35075"/>
                  </a:cubicBezTo>
                  <a:lnTo>
                    <a:pt x="9171" y="35075"/>
                  </a:lnTo>
                  <a:cubicBezTo>
                    <a:pt x="5866" y="35075"/>
                    <a:pt x="3191" y="37783"/>
                    <a:pt x="3249" y="41100"/>
                  </a:cubicBezTo>
                  <a:cubicBezTo>
                    <a:pt x="3295" y="44314"/>
                    <a:pt x="6015" y="46919"/>
                    <a:pt x="9297" y="46919"/>
                  </a:cubicBezTo>
                  <a:lnTo>
                    <a:pt x="14910" y="46919"/>
                  </a:lnTo>
                  <a:cubicBezTo>
                    <a:pt x="19673" y="46919"/>
                    <a:pt x="23506" y="50822"/>
                    <a:pt x="23426" y="55573"/>
                  </a:cubicBezTo>
                  <a:cubicBezTo>
                    <a:pt x="23345" y="60187"/>
                    <a:pt x="19478" y="63940"/>
                    <a:pt x="14795" y="63940"/>
                  </a:cubicBezTo>
                  <a:lnTo>
                    <a:pt x="9171" y="63940"/>
                  </a:lnTo>
                  <a:cubicBezTo>
                    <a:pt x="5866" y="63940"/>
                    <a:pt x="3191" y="66660"/>
                    <a:pt x="3249" y="69966"/>
                  </a:cubicBezTo>
                  <a:cubicBezTo>
                    <a:pt x="3295" y="73179"/>
                    <a:pt x="6015" y="75796"/>
                    <a:pt x="9297" y="75796"/>
                  </a:cubicBezTo>
                  <a:lnTo>
                    <a:pt x="14910" y="75796"/>
                  </a:lnTo>
                  <a:cubicBezTo>
                    <a:pt x="19673" y="75796"/>
                    <a:pt x="23506" y="79698"/>
                    <a:pt x="23426" y="84450"/>
                  </a:cubicBezTo>
                  <a:cubicBezTo>
                    <a:pt x="23345" y="89075"/>
                    <a:pt x="19478" y="92840"/>
                    <a:pt x="14795" y="92840"/>
                  </a:cubicBezTo>
                  <a:lnTo>
                    <a:pt x="9171" y="92840"/>
                  </a:lnTo>
                  <a:lnTo>
                    <a:pt x="9171" y="90257"/>
                  </a:lnTo>
                  <a:lnTo>
                    <a:pt x="14795" y="90257"/>
                  </a:lnTo>
                  <a:cubicBezTo>
                    <a:pt x="18077" y="90257"/>
                    <a:pt x="20786" y="87640"/>
                    <a:pt x="20843" y="84427"/>
                  </a:cubicBezTo>
                  <a:cubicBezTo>
                    <a:pt x="20889" y="81110"/>
                    <a:pt x="18227" y="78401"/>
                    <a:pt x="14910" y="78401"/>
                  </a:cubicBezTo>
                  <a:lnTo>
                    <a:pt x="9297" y="78401"/>
                  </a:lnTo>
                  <a:cubicBezTo>
                    <a:pt x="4614" y="78401"/>
                    <a:pt x="747" y="74648"/>
                    <a:pt x="666" y="70034"/>
                  </a:cubicBezTo>
                  <a:cubicBezTo>
                    <a:pt x="586" y="65271"/>
                    <a:pt x="4419" y="61381"/>
                    <a:pt x="9171" y="61381"/>
                  </a:cubicBezTo>
                  <a:lnTo>
                    <a:pt x="14795" y="61381"/>
                  </a:lnTo>
                  <a:cubicBezTo>
                    <a:pt x="18077" y="61381"/>
                    <a:pt x="20786" y="58764"/>
                    <a:pt x="20843" y="55550"/>
                  </a:cubicBezTo>
                  <a:cubicBezTo>
                    <a:pt x="20889" y="52233"/>
                    <a:pt x="18227" y="49525"/>
                    <a:pt x="14910" y="49525"/>
                  </a:cubicBezTo>
                  <a:lnTo>
                    <a:pt x="9297" y="49525"/>
                  </a:lnTo>
                  <a:cubicBezTo>
                    <a:pt x="4614" y="49525"/>
                    <a:pt x="747" y="45772"/>
                    <a:pt x="666" y="41158"/>
                  </a:cubicBezTo>
                  <a:cubicBezTo>
                    <a:pt x="586" y="36395"/>
                    <a:pt x="4419" y="32504"/>
                    <a:pt x="9171" y="32504"/>
                  </a:cubicBezTo>
                  <a:lnTo>
                    <a:pt x="14795" y="32504"/>
                  </a:lnTo>
                  <a:cubicBezTo>
                    <a:pt x="18077" y="32504"/>
                    <a:pt x="20786" y="29887"/>
                    <a:pt x="20843" y="26673"/>
                  </a:cubicBezTo>
                  <a:cubicBezTo>
                    <a:pt x="20889" y="23357"/>
                    <a:pt x="18227" y="20648"/>
                    <a:pt x="14910" y="20648"/>
                  </a:cubicBezTo>
                  <a:lnTo>
                    <a:pt x="9297" y="20648"/>
                  </a:lnTo>
                  <a:cubicBezTo>
                    <a:pt x="4614" y="20648"/>
                    <a:pt x="747" y="16895"/>
                    <a:pt x="666" y="12281"/>
                  </a:cubicBezTo>
                  <a:cubicBezTo>
                    <a:pt x="586" y="7529"/>
                    <a:pt x="4419" y="3627"/>
                    <a:pt x="9171" y="3627"/>
                  </a:cubicBezTo>
                  <a:lnTo>
                    <a:pt x="12040" y="3627"/>
                  </a:lnTo>
                  <a:cubicBezTo>
                    <a:pt x="12913" y="3627"/>
                    <a:pt x="13624" y="2916"/>
                    <a:pt x="13624" y="2043"/>
                  </a:cubicBezTo>
                  <a:lnTo>
                    <a:pt x="13624" y="574"/>
                  </a:lnTo>
                  <a:close/>
                  <a:moveTo>
                    <a:pt x="13050" y="0"/>
                  </a:moveTo>
                  <a:lnTo>
                    <a:pt x="13050" y="2032"/>
                  </a:lnTo>
                  <a:cubicBezTo>
                    <a:pt x="13050" y="2594"/>
                    <a:pt x="12603" y="3042"/>
                    <a:pt x="12040" y="3042"/>
                  </a:cubicBezTo>
                  <a:lnTo>
                    <a:pt x="9171" y="3042"/>
                  </a:lnTo>
                  <a:cubicBezTo>
                    <a:pt x="4098" y="3042"/>
                    <a:pt x="12" y="7208"/>
                    <a:pt x="104" y="12281"/>
                  </a:cubicBezTo>
                  <a:cubicBezTo>
                    <a:pt x="184" y="17205"/>
                    <a:pt x="4305" y="21210"/>
                    <a:pt x="9297" y="21210"/>
                  </a:cubicBezTo>
                  <a:lnTo>
                    <a:pt x="14921" y="21210"/>
                  </a:lnTo>
                  <a:cubicBezTo>
                    <a:pt x="17917" y="21210"/>
                    <a:pt x="20327" y="23666"/>
                    <a:pt x="20270" y="26662"/>
                  </a:cubicBezTo>
                  <a:cubicBezTo>
                    <a:pt x="20224" y="29566"/>
                    <a:pt x="17767" y="31919"/>
                    <a:pt x="14806" y="31919"/>
                  </a:cubicBezTo>
                  <a:lnTo>
                    <a:pt x="9171" y="31919"/>
                  </a:lnTo>
                  <a:cubicBezTo>
                    <a:pt x="4098" y="31930"/>
                    <a:pt x="12" y="36085"/>
                    <a:pt x="104" y="41158"/>
                  </a:cubicBezTo>
                  <a:cubicBezTo>
                    <a:pt x="184" y="46081"/>
                    <a:pt x="4305" y="50087"/>
                    <a:pt x="9297" y="50087"/>
                  </a:cubicBezTo>
                  <a:lnTo>
                    <a:pt x="14921" y="50087"/>
                  </a:lnTo>
                  <a:cubicBezTo>
                    <a:pt x="17917" y="50087"/>
                    <a:pt x="20327" y="52543"/>
                    <a:pt x="20270" y="55539"/>
                  </a:cubicBezTo>
                  <a:cubicBezTo>
                    <a:pt x="20224" y="58442"/>
                    <a:pt x="17767" y="60807"/>
                    <a:pt x="14806" y="60807"/>
                  </a:cubicBezTo>
                  <a:lnTo>
                    <a:pt x="9171" y="60807"/>
                  </a:lnTo>
                  <a:cubicBezTo>
                    <a:pt x="4098" y="60807"/>
                    <a:pt x="1" y="64961"/>
                    <a:pt x="92" y="70046"/>
                  </a:cubicBezTo>
                  <a:cubicBezTo>
                    <a:pt x="173" y="74970"/>
                    <a:pt x="4305" y="78975"/>
                    <a:pt x="9297" y="78975"/>
                  </a:cubicBezTo>
                  <a:lnTo>
                    <a:pt x="14910" y="78975"/>
                  </a:lnTo>
                  <a:cubicBezTo>
                    <a:pt x="17905" y="78975"/>
                    <a:pt x="20315" y="81431"/>
                    <a:pt x="20270" y="84427"/>
                  </a:cubicBezTo>
                  <a:cubicBezTo>
                    <a:pt x="20224" y="87331"/>
                    <a:pt x="17767" y="89683"/>
                    <a:pt x="14795" y="89683"/>
                  </a:cubicBezTo>
                  <a:lnTo>
                    <a:pt x="8597" y="89683"/>
                  </a:lnTo>
                  <a:lnTo>
                    <a:pt x="8597" y="93414"/>
                  </a:lnTo>
                  <a:lnTo>
                    <a:pt x="14795" y="93414"/>
                  </a:lnTo>
                  <a:cubicBezTo>
                    <a:pt x="19787" y="93414"/>
                    <a:pt x="23919" y="89408"/>
                    <a:pt x="24000" y="84484"/>
                  </a:cubicBezTo>
                  <a:cubicBezTo>
                    <a:pt x="24080" y="79411"/>
                    <a:pt x="19994" y="75245"/>
                    <a:pt x="14910" y="75245"/>
                  </a:cubicBezTo>
                  <a:lnTo>
                    <a:pt x="14910" y="75234"/>
                  </a:lnTo>
                  <a:lnTo>
                    <a:pt x="9297" y="75234"/>
                  </a:lnTo>
                  <a:cubicBezTo>
                    <a:pt x="6325" y="75234"/>
                    <a:pt x="3868" y="72881"/>
                    <a:pt x="3823" y="69977"/>
                  </a:cubicBezTo>
                  <a:cubicBezTo>
                    <a:pt x="3765" y="66981"/>
                    <a:pt x="6175" y="64525"/>
                    <a:pt x="9171" y="64525"/>
                  </a:cubicBezTo>
                  <a:lnTo>
                    <a:pt x="14795" y="64525"/>
                  </a:lnTo>
                  <a:cubicBezTo>
                    <a:pt x="19787" y="64525"/>
                    <a:pt x="23919" y="60520"/>
                    <a:pt x="24000" y="55596"/>
                  </a:cubicBezTo>
                  <a:cubicBezTo>
                    <a:pt x="24080" y="50512"/>
                    <a:pt x="19994" y="46357"/>
                    <a:pt x="14910" y="46357"/>
                  </a:cubicBezTo>
                  <a:lnTo>
                    <a:pt x="9297" y="46357"/>
                  </a:lnTo>
                  <a:cubicBezTo>
                    <a:pt x="6325" y="46357"/>
                    <a:pt x="3868" y="43993"/>
                    <a:pt x="3823" y="41089"/>
                  </a:cubicBezTo>
                  <a:cubicBezTo>
                    <a:pt x="3765" y="38093"/>
                    <a:pt x="6175" y="35637"/>
                    <a:pt x="9171" y="35637"/>
                  </a:cubicBezTo>
                  <a:lnTo>
                    <a:pt x="14795" y="35637"/>
                  </a:lnTo>
                  <a:cubicBezTo>
                    <a:pt x="19787" y="35637"/>
                    <a:pt x="23919" y="31632"/>
                    <a:pt x="24000" y="26708"/>
                  </a:cubicBezTo>
                  <a:cubicBezTo>
                    <a:pt x="24080" y="21635"/>
                    <a:pt x="19994" y="17469"/>
                    <a:pt x="14910" y="17469"/>
                  </a:cubicBezTo>
                  <a:lnTo>
                    <a:pt x="9297" y="17469"/>
                  </a:lnTo>
                  <a:cubicBezTo>
                    <a:pt x="6325" y="17469"/>
                    <a:pt x="3868" y="15104"/>
                    <a:pt x="3823" y="12212"/>
                  </a:cubicBezTo>
                  <a:cubicBezTo>
                    <a:pt x="3765" y="9217"/>
                    <a:pt x="6175" y="6760"/>
                    <a:pt x="9171" y="6760"/>
                  </a:cubicBezTo>
                  <a:lnTo>
                    <a:pt x="12040" y="6760"/>
                  </a:lnTo>
                  <a:cubicBezTo>
                    <a:pt x="14657" y="6760"/>
                    <a:pt x="16780" y="4637"/>
                    <a:pt x="16780" y="2020"/>
                  </a:cubicBezTo>
                  <a:lnTo>
                    <a:pt x="16780" y="0"/>
                  </a:ln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8" name="Google Shape;1512;p43">
              <a:extLst>
                <a:ext uri="{FF2B5EF4-FFF2-40B4-BE49-F238E27FC236}">
                  <a16:creationId xmlns:a16="http://schemas.microsoft.com/office/drawing/2014/main" xmlns="" id="{FEE0F710-36C7-B271-F04F-0435CF30EE0E}"/>
                </a:ext>
              </a:extLst>
            </p:cNvPr>
            <p:cNvSpPr/>
            <p:nvPr/>
          </p:nvSpPr>
          <p:spPr>
            <a:xfrm>
              <a:off x="3195740" y="1934544"/>
              <a:ext cx="168018" cy="675999"/>
            </a:xfrm>
            <a:custGeom>
              <a:avLst/>
              <a:gdLst/>
              <a:ahLst/>
              <a:cxnLst/>
              <a:rect l="l" t="t" r="r" b="b"/>
              <a:pathLst>
                <a:path w="22922" h="92255" extrusionOk="0">
                  <a:moveTo>
                    <a:pt x="15048" y="574"/>
                  </a:moveTo>
                  <a:lnTo>
                    <a:pt x="15048" y="1458"/>
                  </a:lnTo>
                  <a:cubicBezTo>
                    <a:pt x="15048" y="3443"/>
                    <a:pt x="13441" y="5050"/>
                    <a:pt x="11455" y="5050"/>
                  </a:cubicBezTo>
                  <a:lnTo>
                    <a:pt x="8586" y="5050"/>
                  </a:lnTo>
                  <a:cubicBezTo>
                    <a:pt x="4948" y="5050"/>
                    <a:pt x="2021" y="8034"/>
                    <a:pt x="2090" y="11673"/>
                  </a:cubicBezTo>
                  <a:cubicBezTo>
                    <a:pt x="2147" y="15196"/>
                    <a:pt x="5120" y="18054"/>
                    <a:pt x="8712" y="18054"/>
                  </a:cubicBezTo>
                  <a:lnTo>
                    <a:pt x="14325" y="18054"/>
                  </a:lnTo>
                  <a:cubicBezTo>
                    <a:pt x="18766" y="18054"/>
                    <a:pt x="22336" y="21692"/>
                    <a:pt x="22267" y="26134"/>
                  </a:cubicBezTo>
                  <a:cubicBezTo>
                    <a:pt x="22187" y="30438"/>
                    <a:pt x="18583" y="33927"/>
                    <a:pt x="14210" y="33927"/>
                  </a:cubicBezTo>
                  <a:lnTo>
                    <a:pt x="8586" y="33927"/>
                  </a:lnTo>
                  <a:cubicBezTo>
                    <a:pt x="4959" y="33938"/>
                    <a:pt x="2021" y="36911"/>
                    <a:pt x="2090" y="40549"/>
                  </a:cubicBezTo>
                  <a:cubicBezTo>
                    <a:pt x="2147" y="44073"/>
                    <a:pt x="5120" y="46942"/>
                    <a:pt x="8712" y="46942"/>
                  </a:cubicBezTo>
                  <a:lnTo>
                    <a:pt x="14325" y="46942"/>
                  </a:lnTo>
                  <a:cubicBezTo>
                    <a:pt x="18766" y="46942"/>
                    <a:pt x="22336" y="50569"/>
                    <a:pt x="22267" y="55011"/>
                  </a:cubicBezTo>
                  <a:cubicBezTo>
                    <a:pt x="22187" y="59315"/>
                    <a:pt x="18571" y="62815"/>
                    <a:pt x="14210" y="62815"/>
                  </a:cubicBezTo>
                  <a:lnTo>
                    <a:pt x="8586" y="62815"/>
                  </a:lnTo>
                  <a:cubicBezTo>
                    <a:pt x="4959" y="62815"/>
                    <a:pt x="2021" y="65788"/>
                    <a:pt x="2090" y="69426"/>
                  </a:cubicBezTo>
                  <a:cubicBezTo>
                    <a:pt x="2147" y="72950"/>
                    <a:pt x="5120" y="75819"/>
                    <a:pt x="8712" y="75819"/>
                  </a:cubicBezTo>
                  <a:lnTo>
                    <a:pt x="14325" y="75819"/>
                  </a:lnTo>
                  <a:cubicBezTo>
                    <a:pt x="18766" y="75819"/>
                    <a:pt x="22336" y="79457"/>
                    <a:pt x="22267" y="83887"/>
                  </a:cubicBezTo>
                  <a:cubicBezTo>
                    <a:pt x="22187" y="88180"/>
                    <a:pt x="18583" y="91692"/>
                    <a:pt x="14210" y="91692"/>
                  </a:cubicBezTo>
                  <a:lnTo>
                    <a:pt x="9160" y="91692"/>
                  </a:lnTo>
                  <a:lnTo>
                    <a:pt x="9160" y="90257"/>
                  </a:lnTo>
                  <a:lnTo>
                    <a:pt x="14210" y="90257"/>
                  </a:lnTo>
                  <a:cubicBezTo>
                    <a:pt x="17791" y="90257"/>
                    <a:pt x="20775" y="87388"/>
                    <a:pt x="20832" y="83864"/>
                  </a:cubicBezTo>
                  <a:cubicBezTo>
                    <a:pt x="20890" y="80226"/>
                    <a:pt x="17963" y="77242"/>
                    <a:pt x="14325" y="77242"/>
                  </a:cubicBezTo>
                  <a:lnTo>
                    <a:pt x="8712" y="77242"/>
                  </a:lnTo>
                  <a:cubicBezTo>
                    <a:pt x="4339" y="77242"/>
                    <a:pt x="724" y="73741"/>
                    <a:pt x="655" y="69449"/>
                  </a:cubicBezTo>
                  <a:cubicBezTo>
                    <a:pt x="575" y="65007"/>
                    <a:pt x="4156" y="61369"/>
                    <a:pt x="8586" y="61369"/>
                  </a:cubicBezTo>
                  <a:lnTo>
                    <a:pt x="14210" y="61369"/>
                  </a:lnTo>
                  <a:cubicBezTo>
                    <a:pt x="17791" y="61369"/>
                    <a:pt x="20775" y="58500"/>
                    <a:pt x="20832" y="54976"/>
                  </a:cubicBezTo>
                  <a:cubicBezTo>
                    <a:pt x="20890" y="51349"/>
                    <a:pt x="17963" y="48365"/>
                    <a:pt x="14325" y="48365"/>
                  </a:cubicBezTo>
                  <a:lnTo>
                    <a:pt x="8712" y="48365"/>
                  </a:lnTo>
                  <a:cubicBezTo>
                    <a:pt x="4339" y="48365"/>
                    <a:pt x="724" y="44865"/>
                    <a:pt x="655" y="40561"/>
                  </a:cubicBezTo>
                  <a:cubicBezTo>
                    <a:pt x="575" y="36131"/>
                    <a:pt x="4156" y="32492"/>
                    <a:pt x="8586" y="32492"/>
                  </a:cubicBezTo>
                  <a:lnTo>
                    <a:pt x="14210" y="32492"/>
                  </a:lnTo>
                  <a:cubicBezTo>
                    <a:pt x="17791" y="32492"/>
                    <a:pt x="20775" y="29623"/>
                    <a:pt x="20832" y="26099"/>
                  </a:cubicBezTo>
                  <a:cubicBezTo>
                    <a:pt x="20890" y="22461"/>
                    <a:pt x="17963" y="19489"/>
                    <a:pt x="14325" y="19489"/>
                  </a:cubicBezTo>
                  <a:lnTo>
                    <a:pt x="8712" y="19489"/>
                  </a:lnTo>
                  <a:cubicBezTo>
                    <a:pt x="4339" y="19489"/>
                    <a:pt x="724" y="15988"/>
                    <a:pt x="655" y="11684"/>
                  </a:cubicBezTo>
                  <a:cubicBezTo>
                    <a:pt x="575" y="7254"/>
                    <a:pt x="4156" y="3616"/>
                    <a:pt x="8586" y="3616"/>
                  </a:cubicBezTo>
                  <a:lnTo>
                    <a:pt x="11455" y="3616"/>
                  </a:lnTo>
                  <a:cubicBezTo>
                    <a:pt x="12649" y="3616"/>
                    <a:pt x="13613" y="2651"/>
                    <a:pt x="13613" y="1458"/>
                  </a:cubicBezTo>
                  <a:lnTo>
                    <a:pt x="13613" y="574"/>
                  </a:lnTo>
                  <a:close/>
                  <a:moveTo>
                    <a:pt x="13039" y="0"/>
                  </a:moveTo>
                  <a:lnTo>
                    <a:pt x="13039" y="1458"/>
                  </a:lnTo>
                  <a:cubicBezTo>
                    <a:pt x="13039" y="2330"/>
                    <a:pt x="12328" y="3042"/>
                    <a:pt x="11455" y="3042"/>
                  </a:cubicBezTo>
                  <a:lnTo>
                    <a:pt x="8586" y="3042"/>
                  </a:lnTo>
                  <a:cubicBezTo>
                    <a:pt x="3834" y="3042"/>
                    <a:pt x="1" y="6944"/>
                    <a:pt x="93" y="11696"/>
                  </a:cubicBezTo>
                  <a:cubicBezTo>
                    <a:pt x="162" y="16309"/>
                    <a:pt x="4029" y="20062"/>
                    <a:pt x="8712" y="20062"/>
                  </a:cubicBezTo>
                  <a:lnTo>
                    <a:pt x="14336" y="20062"/>
                  </a:lnTo>
                  <a:cubicBezTo>
                    <a:pt x="17642" y="20062"/>
                    <a:pt x="20316" y="22771"/>
                    <a:pt x="20258" y="26088"/>
                  </a:cubicBezTo>
                  <a:cubicBezTo>
                    <a:pt x="20212" y="29302"/>
                    <a:pt x="17492" y="31907"/>
                    <a:pt x="14221" y="31907"/>
                  </a:cubicBezTo>
                  <a:lnTo>
                    <a:pt x="8586" y="31907"/>
                  </a:lnTo>
                  <a:cubicBezTo>
                    <a:pt x="3834" y="31918"/>
                    <a:pt x="1" y="35821"/>
                    <a:pt x="93" y="40572"/>
                  </a:cubicBezTo>
                  <a:cubicBezTo>
                    <a:pt x="162" y="45186"/>
                    <a:pt x="4029" y="48939"/>
                    <a:pt x="8712" y="48939"/>
                  </a:cubicBezTo>
                  <a:lnTo>
                    <a:pt x="14336" y="48939"/>
                  </a:lnTo>
                  <a:cubicBezTo>
                    <a:pt x="17642" y="48939"/>
                    <a:pt x="20316" y="51659"/>
                    <a:pt x="20258" y="54965"/>
                  </a:cubicBezTo>
                  <a:cubicBezTo>
                    <a:pt x="20212" y="58178"/>
                    <a:pt x="17492" y="60795"/>
                    <a:pt x="14221" y="60795"/>
                  </a:cubicBezTo>
                  <a:lnTo>
                    <a:pt x="8586" y="60795"/>
                  </a:lnTo>
                  <a:cubicBezTo>
                    <a:pt x="3834" y="60795"/>
                    <a:pt x="1" y="64697"/>
                    <a:pt x="93" y="69449"/>
                  </a:cubicBezTo>
                  <a:cubicBezTo>
                    <a:pt x="162" y="74063"/>
                    <a:pt x="4029" y="77816"/>
                    <a:pt x="8712" y="77816"/>
                  </a:cubicBezTo>
                  <a:lnTo>
                    <a:pt x="14336" y="77816"/>
                  </a:lnTo>
                  <a:cubicBezTo>
                    <a:pt x="17642" y="77816"/>
                    <a:pt x="20316" y="80536"/>
                    <a:pt x="20258" y="83841"/>
                  </a:cubicBezTo>
                  <a:cubicBezTo>
                    <a:pt x="20212" y="87055"/>
                    <a:pt x="17492" y="89672"/>
                    <a:pt x="14221" y="89672"/>
                  </a:cubicBezTo>
                  <a:lnTo>
                    <a:pt x="8586" y="89672"/>
                  </a:lnTo>
                  <a:lnTo>
                    <a:pt x="8586" y="92254"/>
                  </a:lnTo>
                  <a:lnTo>
                    <a:pt x="14210" y="92254"/>
                  </a:lnTo>
                  <a:cubicBezTo>
                    <a:pt x="18893" y="92254"/>
                    <a:pt x="22760" y="88501"/>
                    <a:pt x="22841" y="83887"/>
                  </a:cubicBezTo>
                  <a:cubicBezTo>
                    <a:pt x="22921" y="79136"/>
                    <a:pt x="19088" y="75233"/>
                    <a:pt x="14325" y="75233"/>
                  </a:cubicBezTo>
                  <a:lnTo>
                    <a:pt x="8712" y="75233"/>
                  </a:lnTo>
                  <a:cubicBezTo>
                    <a:pt x="5430" y="75233"/>
                    <a:pt x="2721" y="72628"/>
                    <a:pt x="2664" y="69415"/>
                  </a:cubicBezTo>
                  <a:cubicBezTo>
                    <a:pt x="2606" y="66098"/>
                    <a:pt x="5281" y="63389"/>
                    <a:pt x="8586" y="63389"/>
                  </a:cubicBezTo>
                  <a:lnTo>
                    <a:pt x="14210" y="63389"/>
                  </a:lnTo>
                  <a:cubicBezTo>
                    <a:pt x="18893" y="63389"/>
                    <a:pt x="22760" y="59636"/>
                    <a:pt x="22841" y="55022"/>
                  </a:cubicBezTo>
                  <a:cubicBezTo>
                    <a:pt x="22921" y="50266"/>
                    <a:pt x="19099" y="46368"/>
                    <a:pt x="14346" y="46368"/>
                  </a:cubicBezTo>
                  <a:cubicBezTo>
                    <a:pt x="14339" y="46368"/>
                    <a:pt x="14332" y="46368"/>
                    <a:pt x="14325" y="46368"/>
                  </a:cubicBezTo>
                  <a:lnTo>
                    <a:pt x="8712" y="46368"/>
                  </a:lnTo>
                  <a:cubicBezTo>
                    <a:pt x="5430" y="46368"/>
                    <a:pt x="2721" y="43751"/>
                    <a:pt x="2664" y="40538"/>
                  </a:cubicBezTo>
                  <a:cubicBezTo>
                    <a:pt x="2606" y="37221"/>
                    <a:pt x="5281" y="34512"/>
                    <a:pt x="8586" y="34512"/>
                  </a:cubicBezTo>
                  <a:lnTo>
                    <a:pt x="14210" y="34512"/>
                  </a:lnTo>
                  <a:cubicBezTo>
                    <a:pt x="18893" y="34512"/>
                    <a:pt x="22760" y="30759"/>
                    <a:pt x="22841" y="26145"/>
                  </a:cubicBezTo>
                  <a:cubicBezTo>
                    <a:pt x="22921" y="21382"/>
                    <a:pt x="19088" y="17492"/>
                    <a:pt x="14325" y="17492"/>
                  </a:cubicBezTo>
                  <a:lnTo>
                    <a:pt x="8712" y="17492"/>
                  </a:lnTo>
                  <a:cubicBezTo>
                    <a:pt x="5430" y="17492"/>
                    <a:pt x="2721" y="14875"/>
                    <a:pt x="2664" y="11661"/>
                  </a:cubicBezTo>
                  <a:cubicBezTo>
                    <a:pt x="2606" y="8344"/>
                    <a:pt x="5281" y="5636"/>
                    <a:pt x="8586" y="5636"/>
                  </a:cubicBezTo>
                  <a:lnTo>
                    <a:pt x="11455" y="5636"/>
                  </a:lnTo>
                  <a:cubicBezTo>
                    <a:pt x="13751" y="5636"/>
                    <a:pt x="15622" y="3776"/>
                    <a:pt x="15622" y="1481"/>
                  </a:cubicBezTo>
                  <a:lnTo>
                    <a:pt x="15622" y="0"/>
                  </a:ln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9" name="Google Shape;1513;p43">
              <a:extLst>
                <a:ext uri="{FF2B5EF4-FFF2-40B4-BE49-F238E27FC236}">
                  <a16:creationId xmlns:a16="http://schemas.microsoft.com/office/drawing/2014/main" xmlns="" id="{AB13CC26-F210-FAB1-31A0-112C2F46DDDF}"/>
                </a:ext>
              </a:extLst>
            </p:cNvPr>
            <p:cNvSpPr/>
            <p:nvPr/>
          </p:nvSpPr>
          <p:spPr>
            <a:xfrm>
              <a:off x="3216795" y="2193083"/>
              <a:ext cx="90423" cy="76001"/>
            </a:xfrm>
            <a:custGeom>
              <a:avLst/>
              <a:gdLst/>
              <a:ahLst/>
              <a:cxnLst/>
              <a:rect l="l" t="t" r="r" b="b"/>
              <a:pathLst>
                <a:path w="12336" h="10372" extrusionOk="0">
                  <a:moveTo>
                    <a:pt x="6164" y="0"/>
                  </a:moveTo>
                  <a:cubicBezTo>
                    <a:pt x="4125" y="0"/>
                    <a:pt x="2125" y="1195"/>
                    <a:pt x="1306" y="3338"/>
                  </a:cubicBezTo>
                  <a:cubicBezTo>
                    <a:pt x="1" y="6752"/>
                    <a:pt x="2545" y="10371"/>
                    <a:pt x="6134" y="10371"/>
                  </a:cubicBezTo>
                  <a:cubicBezTo>
                    <a:pt x="6238" y="10371"/>
                    <a:pt x="6342" y="10368"/>
                    <a:pt x="6448" y="10362"/>
                  </a:cubicBezTo>
                  <a:lnTo>
                    <a:pt x="3716" y="7631"/>
                  </a:lnTo>
                  <a:lnTo>
                    <a:pt x="3693" y="7608"/>
                  </a:lnTo>
                  <a:cubicBezTo>
                    <a:pt x="2396" y="6242"/>
                    <a:pt x="2419" y="4096"/>
                    <a:pt x="3762" y="2764"/>
                  </a:cubicBezTo>
                  <a:cubicBezTo>
                    <a:pt x="4430" y="2101"/>
                    <a:pt x="5307" y="1769"/>
                    <a:pt x="6185" y="1769"/>
                  </a:cubicBezTo>
                  <a:cubicBezTo>
                    <a:pt x="7055" y="1769"/>
                    <a:pt x="7925" y="2096"/>
                    <a:pt x="8594" y="2753"/>
                  </a:cubicBezTo>
                  <a:lnTo>
                    <a:pt x="11325" y="5484"/>
                  </a:lnTo>
                  <a:lnTo>
                    <a:pt x="11325" y="5542"/>
                  </a:lnTo>
                  <a:lnTo>
                    <a:pt x="12335" y="5542"/>
                  </a:lnTo>
                  <a:lnTo>
                    <a:pt x="12335" y="4830"/>
                  </a:lnTo>
                  <a:lnTo>
                    <a:pt x="11325" y="4830"/>
                  </a:lnTo>
                  <a:cubicBezTo>
                    <a:pt x="11245" y="3579"/>
                    <a:pt x="10706" y="2408"/>
                    <a:pt x="9822" y="1525"/>
                  </a:cubicBezTo>
                  <a:cubicBezTo>
                    <a:pt x="8784" y="487"/>
                    <a:pt x="7466" y="0"/>
                    <a:pt x="6164" y="0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0" name="Google Shape;1514;p43">
              <a:extLst>
                <a:ext uri="{FF2B5EF4-FFF2-40B4-BE49-F238E27FC236}">
                  <a16:creationId xmlns:a16="http://schemas.microsoft.com/office/drawing/2014/main" xmlns="" id="{3521F83B-00EE-CFA3-2F73-3E6ADF2D9C05}"/>
                </a:ext>
              </a:extLst>
            </p:cNvPr>
            <p:cNvSpPr/>
            <p:nvPr/>
          </p:nvSpPr>
          <p:spPr>
            <a:xfrm>
              <a:off x="3316610" y="2217792"/>
              <a:ext cx="150177" cy="26672"/>
            </a:xfrm>
            <a:custGeom>
              <a:avLst/>
              <a:gdLst/>
              <a:ahLst/>
              <a:cxnLst/>
              <a:rect l="l" t="t" r="r" b="b"/>
              <a:pathLst>
                <a:path w="20488" h="3640" extrusionOk="0">
                  <a:moveTo>
                    <a:pt x="18650" y="0"/>
                  </a:moveTo>
                  <a:cubicBezTo>
                    <a:pt x="18643" y="0"/>
                    <a:pt x="18636" y="0"/>
                    <a:pt x="18628" y="1"/>
                  </a:cubicBezTo>
                  <a:cubicBezTo>
                    <a:pt x="18043" y="1"/>
                    <a:pt x="17481" y="287"/>
                    <a:pt x="17148" y="781"/>
                  </a:cubicBezTo>
                  <a:cubicBezTo>
                    <a:pt x="16861" y="1194"/>
                    <a:pt x="16390" y="1447"/>
                    <a:pt x="15885" y="1458"/>
                  </a:cubicBezTo>
                  <a:lnTo>
                    <a:pt x="1" y="1458"/>
                  </a:lnTo>
                  <a:lnTo>
                    <a:pt x="1" y="2170"/>
                  </a:lnTo>
                  <a:lnTo>
                    <a:pt x="15885" y="2170"/>
                  </a:lnTo>
                  <a:cubicBezTo>
                    <a:pt x="16379" y="2170"/>
                    <a:pt x="16849" y="2422"/>
                    <a:pt x="17125" y="2835"/>
                  </a:cubicBezTo>
                  <a:cubicBezTo>
                    <a:pt x="17463" y="3342"/>
                    <a:pt x="18044" y="3639"/>
                    <a:pt x="18651" y="3639"/>
                  </a:cubicBezTo>
                  <a:cubicBezTo>
                    <a:pt x="18663" y="3639"/>
                    <a:pt x="18674" y="3639"/>
                    <a:pt x="18686" y="3639"/>
                  </a:cubicBezTo>
                  <a:cubicBezTo>
                    <a:pt x="19684" y="3616"/>
                    <a:pt x="20488" y="2790"/>
                    <a:pt x="20476" y="1791"/>
                  </a:cubicBezTo>
                  <a:cubicBezTo>
                    <a:pt x="20465" y="788"/>
                    <a:pt x="19650" y="0"/>
                    <a:pt x="18650" y="0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1" name="Google Shape;1515;p43">
              <a:extLst>
                <a:ext uri="{FF2B5EF4-FFF2-40B4-BE49-F238E27FC236}">
                  <a16:creationId xmlns:a16="http://schemas.microsoft.com/office/drawing/2014/main" xmlns="" id="{666AED2A-8FBD-6243-8E73-3C4565608E95}"/>
                </a:ext>
              </a:extLst>
            </p:cNvPr>
            <p:cNvSpPr/>
            <p:nvPr/>
          </p:nvSpPr>
          <p:spPr>
            <a:xfrm>
              <a:off x="3244021" y="2213249"/>
              <a:ext cx="55869" cy="55770"/>
            </a:xfrm>
            <a:custGeom>
              <a:avLst/>
              <a:gdLst/>
              <a:ahLst/>
              <a:cxnLst/>
              <a:rect l="l" t="t" r="r" b="b"/>
              <a:pathLst>
                <a:path w="7622" h="7611" extrusionOk="0">
                  <a:moveTo>
                    <a:pt x="4879" y="1"/>
                  </a:moveTo>
                  <a:lnTo>
                    <a:pt x="5093" y="214"/>
                  </a:lnTo>
                  <a:lnTo>
                    <a:pt x="5093" y="214"/>
                  </a:lnTo>
                  <a:cubicBezTo>
                    <a:pt x="5025" y="140"/>
                    <a:pt x="4954" y="69"/>
                    <a:pt x="4879" y="1"/>
                  </a:cubicBezTo>
                  <a:close/>
                  <a:moveTo>
                    <a:pt x="1" y="4879"/>
                  </a:moveTo>
                  <a:lnTo>
                    <a:pt x="1" y="4879"/>
                  </a:lnTo>
                  <a:cubicBezTo>
                    <a:pt x="64" y="4947"/>
                    <a:pt x="130" y="5012"/>
                    <a:pt x="197" y="5074"/>
                  </a:cubicBezTo>
                  <a:lnTo>
                    <a:pt x="197" y="5074"/>
                  </a:lnTo>
                  <a:lnTo>
                    <a:pt x="1" y="4879"/>
                  </a:lnTo>
                  <a:close/>
                  <a:moveTo>
                    <a:pt x="5093" y="214"/>
                  </a:moveTo>
                  <a:lnTo>
                    <a:pt x="5093" y="214"/>
                  </a:lnTo>
                  <a:cubicBezTo>
                    <a:pt x="6325" y="1553"/>
                    <a:pt x="6288" y="3654"/>
                    <a:pt x="4982" y="4970"/>
                  </a:cubicBezTo>
                  <a:cubicBezTo>
                    <a:pt x="4305" y="5648"/>
                    <a:pt x="3420" y="5984"/>
                    <a:pt x="2536" y="5984"/>
                  </a:cubicBezTo>
                  <a:cubicBezTo>
                    <a:pt x="1695" y="5984"/>
                    <a:pt x="855" y="5679"/>
                    <a:pt x="197" y="5074"/>
                  </a:cubicBezTo>
                  <a:lnTo>
                    <a:pt x="197" y="5074"/>
                  </a:lnTo>
                  <a:lnTo>
                    <a:pt x="2744" y="7610"/>
                  </a:lnTo>
                  <a:cubicBezTo>
                    <a:pt x="5349" y="7461"/>
                    <a:pt x="7438" y="5395"/>
                    <a:pt x="7622" y="2790"/>
                  </a:cubicBezTo>
                  <a:lnTo>
                    <a:pt x="7622" y="2732"/>
                  </a:lnTo>
                  <a:lnTo>
                    <a:pt x="5093" y="214"/>
                  </a:ln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2" name="Google Shape;1516;p43">
              <a:extLst>
                <a:ext uri="{FF2B5EF4-FFF2-40B4-BE49-F238E27FC236}">
                  <a16:creationId xmlns:a16="http://schemas.microsoft.com/office/drawing/2014/main" xmlns="" id="{66D91352-55E4-9FE6-C6E3-F850D153AB7A}"/>
                </a:ext>
              </a:extLst>
            </p:cNvPr>
            <p:cNvSpPr/>
            <p:nvPr/>
          </p:nvSpPr>
          <p:spPr>
            <a:xfrm>
              <a:off x="3234354" y="2206046"/>
              <a:ext cx="55276" cy="50369"/>
            </a:xfrm>
            <a:custGeom>
              <a:avLst/>
              <a:gdLst/>
              <a:ahLst/>
              <a:cxnLst/>
              <a:rect l="l" t="t" r="r" b="b"/>
              <a:pathLst>
                <a:path w="7541" h="6874" extrusionOk="0">
                  <a:moveTo>
                    <a:pt x="3795" y="1"/>
                  </a:moveTo>
                  <a:cubicBezTo>
                    <a:pt x="2915" y="1"/>
                    <a:pt x="2036" y="337"/>
                    <a:pt x="1366" y="1007"/>
                  </a:cubicBezTo>
                  <a:cubicBezTo>
                    <a:pt x="23" y="2327"/>
                    <a:pt x="0" y="4473"/>
                    <a:pt x="1297" y="5839"/>
                  </a:cubicBezTo>
                  <a:lnTo>
                    <a:pt x="1320" y="5862"/>
                  </a:lnTo>
                  <a:cubicBezTo>
                    <a:pt x="1990" y="6537"/>
                    <a:pt x="2871" y="6873"/>
                    <a:pt x="3753" y="6873"/>
                  </a:cubicBezTo>
                  <a:cubicBezTo>
                    <a:pt x="4639" y="6873"/>
                    <a:pt x="5525" y="6534"/>
                    <a:pt x="6198" y="5862"/>
                  </a:cubicBezTo>
                  <a:cubicBezTo>
                    <a:pt x="7541" y="4507"/>
                    <a:pt x="7541" y="2327"/>
                    <a:pt x="6198" y="984"/>
                  </a:cubicBezTo>
                  <a:cubicBezTo>
                    <a:pt x="5531" y="328"/>
                    <a:pt x="4663" y="1"/>
                    <a:pt x="3795" y="1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3" name="Google Shape;1517;p43">
              <a:extLst>
                <a:ext uri="{FF2B5EF4-FFF2-40B4-BE49-F238E27FC236}">
                  <a16:creationId xmlns:a16="http://schemas.microsoft.com/office/drawing/2014/main" xmlns="" id="{5AC70802-4373-914C-E4CB-98820ABC106F}"/>
                </a:ext>
              </a:extLst>
            </p:cNvPr>
            <p:cNvSpPr/>
            <p:nvPr/>
          </p:nvSpPr>
          <p:spPr>
            <a:xfrm>
              <a:off x="3216795" y="1980642"/>
              <a:ext cx="90423" cy="76001"/>
            </a:xfrm>
            <a:custGeom>
              <a:avLst/>
              <a:gdLst/>
              <a:ahLst/>
              <a:cxnLst/>
              <a:rect l="l" t="t" r="r" b="b"/>
              <a:pathLst>
                <a:path w="12336" h="10372" extrusionOk="0">
                  <a:moveTo>
                    <a:pt x="6164" y="1"/>
                  </a:moveTo>
                  <a:cubicBezTo>
                    <a:pt x="4125" y="1"/>
                    <a:pt x="2125" y="1195"/>
                    <a:pt x="1306" y="3339"/>
                  </a:cubicBezTo>
                  <a:cubicBezTo>
                    <a:pt x="1" y="6752"/>
                    <a:pt x="2545" y="10372"/>
                    <a:pt x="6134" y="10372"/>
                  </a:cubicBezTo>
                  <a:cubicBezTo>
                    <a:pt x="6238" y="10372"/>
                    <a:pt x="6342" y="10369"/>
                    <a:pt x="6448" y="10363"/>
                  </a:cubicBezTo>
                  <a:lnTo>
                    <a:pt x="3716" y="7631"/>
                  </a:lnTo>
                  <a:cubicBezTo>
                    <a:pt x="3716" y="7620"/>
                    <a:pt x="3693" y="7608"/>
                    <a:pt x="3693" y="7608"/>
                  </a:cubicBezTo>
                  <a:cubicBezTo>
                    <a:pt x="2362" y="6242"/>
                    <a:pt x="2385" y="4073"/>
                    <a:pt x="3727" y="2730"/>
                  </a:cubicBezTo>
                  <a:cubicBezTo>
                    <a:pt x="4403" y="2066"/>
                    <a:pt x="5282" y="1733"/>
                    <a:pt x="6159" y="1733"/>
                  </a:cubicBezTo>
                  <a:cubicBezTo>
                    <a:pt x="7041" y="1733"/>
                    <a:pt x="7921" y="2069"/>
                    <a:pt x="8594" y="2742"/>
                  </a:cubicBezTo>
                  <a:lnTo>
                    <a:pt x="11325" y="5485"/>
                  </a:lnTo>
                  <a:lnTo>
                    <a:pt x="11325" y="5542"/>
                  </a:lnTo>
                  <a:lnTo>
                    <a:pt x="12335" y="5542"/>
                  </a:lnTo>
                  <a:lnTo>
                    <a:pt x="12335" y="4831"/>
                  </a:lnTo>
                  <a:lnTo>
                    <a:pt x="11325" y="4831"/>
                  </a:lnTo>
                  <a:cubicBezTo>
                    <a:pt x="11245" y="3580"/>
                    <a:pt x="10706" y="2397"/>
                    <a:pt x="9822" y="1525"/>
                  </a:cubicBezTo>
                  <a:cubicBezTo>
                    <a:pt x="8784" y="488"/>
                    <a:pt x="7466" y="1"/>
                    <a:pt x="6164" y="1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4" name="Google Shape;1518;p43">
              <a:extLst>
                <a:ext uri="{FF2B5EF4-FFF2-40B4-BE49-F238E27FC236}">
                  <a16:creationId xmlns:a16="http://schemas.microsoft.com/office/drawing/2014/main" xmlns="" id="{7C54FE29-F223-A0D1-9AF0-D6159803DE3C}"/>
                </a:ext>
              </a:extLst>
            </p:cNvPr>
            <p:cNvSpPr/>
            <p:nvPr/>
          </p:nvSpPr>
          <p:spPr>
            <a:xfrm>
              <a:off x="3316610" y="2005358"/>
              <a:ext cx="153043" cy="26584"/>
            </a:xfrm>
            <a:custGeom>
              <a:avLst/>
              <a:gdLst/>
              <a:ahLst/>
              <a:cxnLst/>
              <a:rect l="l" t="t" r="r" b="b"/>
              <a:pathLst>
                <a:path w="20879" h="3628" extrusionOk="0">
                  <a:moveTo>
                    <a:pt x="18628" y="0"/>
                  </a:moveTo>
                  <a:cubicBezTo>
                    <a:pt x="18043" y="0"/>
                    <a:pt x="17481" y="287"/>
                    <a:pt x="17148" y="769"/>
                  </a:cubicBezTo>
                  <a:cubicBezTo>
                    <a:pt x="16861" y="1194"/>
                    <a:pt x="16390" y="1446"/>
                    <a:pt x="15885" y="1458"/>
                  </a:cubicBezTo>
                  <a:lnTo>
                    <a:pt x="1" y="1458"/>
                  </a:lnTo>
                  <a:lnTo>
                    <a:pt x="1" y="2169"/>
                  </a:lnTo>
                  <a:lnTo>
                    <a:pt x="15885" y="2169"/>
                  </a:lnTo>
                  <a:cubicBezTo>
                    <a:pt x="16379" y="2169"/>
                    <a:pt x="16849" y="2422"/>
                    <a:pt x="17125" y="2823"/>
                  </a:cubicBezTo>
                  <a:cubicBezTo>
                    <a:pt x="17490" y="3363"/>
                    <a:pt x="18064" y="3628"/>
                    <a:pt x="18635" y="3628"/>
                  </a:cubicBezTo>
                  <a:cubicBezTo>
                    <a:pt x="19268" y="3628"/>
                    <a:pt x="19897" y="3302"/>
                    <a:pt x="20235" y="2663"/>
                  </a:cubicBezTo>
                  <a:cubicBezTo>
                    <a:pt x="20878" y="1458"/>
                    <a:pt x="20006" y="0"/>
                    <a:pt x="18628" y="0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5" name="Google Shape;1519;p43">
              <a:extLst>
                <a:ext uri="{FF2B5EF4-FFF2-40B4-BE49-F238E27FC236}">
                  <a16:creationId xmlns:a16="http://schemas.microsoft.com/office/drawing/2014/main" xmlns="" id="{DF4C52A4-58E1-BE43-6334-FD978B1B2C39}"/>
                </a:ext>
              </a:extLst>
            </p:cNvPr>
            <p:cNvSpPr/>
            <p:nvPr/>
          </p:nvSpPr>
          <p:spPr>
            <a:xfrm>
              <a:off x="3244021" y="2000727"/>
              <a:ext cx="55869" cy="55850"/>
            </a:xfrm>
            <a:custGeom>
              <a:avLst/>
              <a:gdLst/>
              <a:ahLst/>
              <a:cxnLst/>
              <a:rect l="l" t="t" r="r" b="b"/>
              <a:pathLst>
                <a:path w="7622" h="7622" extrusionOk="0">
                  <a:moveTo>
                    <a:pt x="4879" y="1"/>
                  </a:moveTo>
                  <a:cubicBezTo>
                    <a:pt x="6141" y="1367"/>
                    <a:pt x="6095" y="3478"/>
                    <a:pt x="4787" y="4787"/>
                  </a:cubicBezTo>
                  <a:cubicBezTo>
                    <a:pt x="4115" y="5459"/>
                    <a:pt x="3232" y="5798"/>
                    <a:pt x="2346" y="5798"/>
                  </a:cubicBezTo>
                  <a:cubicBezTo>
                    <a:pt x="1507" y="5798"/>
                    <a:pt x="666" y="5493"/>
                    <a:pt x="1" y="4879"/>
                  </a:cubicBezTo>
                  <a:lnTo>
                    <a:pt x="1" y="4879"/>
                  </a:lnTo>
                  <a:lnTo>
                    <a:pt x="2744" y="7622"/>
                  </a:lnTo>
                  <a:cubicBezTo>
                    <a:pt x="5349" y="7472"/>
                    <a:pt x="7438" y="5407"/>
                    <a:pt x="7622" y="2801"/>
                  </a:cubicBezTo>
                  <a:lnTo>
                    <a:pt x="7622" y="2732"/>
                  </a:lnTo>
                  <a:lnTo>
                    <a:pt x="4879" y="1"/>
                  </a:ln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6" name="Google Shape;1520;p43">
              <a:extLst>
                <a:ext uri="{FF2B5EF4-FFF2-40B4-BE49-F238E27FC236}">
                  <a16:creationId xmlns:a16="http://schemas.microsoft.com/office/drawing/2014/main" xmlns="" id="{111A1C22-E18A-CC76-C42A-ABEA1BB7DBE3}"/>
                </a:ext>
              </a:extLst>
            </p:cNvPr>
            <p:cNvSpPr/>
            <p:nvPr/>
          </p:nvSpPr>
          <p:spPr>
            <a:xfrm>
              <a:off x="3234098" y="1993392"/>
              <a:ext cx="55532" cy="50552"/>
            </a:xfrm>
            <a:custGeom>
              <a:avLst/>
              <a:gdLst/>
              <a:ahLst/>
              <a:cxnLst/>
              <a:rect l="l" t="t" r="r" b="b"/>
              <a:pathLst>
                <a:path w="7576" h="6899" extrusionOk="0">
                  <a:moveTo>
                    <a:pt x="3793" y="0"/>
                  </a:moveTo>
                  <a:cubicBezTo>
                    <a:pt x="2917" y="0"/>
                    <a:pt x="2041" y="333"/>
                    <a:pt x="1366" y="1002"/>
                  </a:cubicBezTo>
                  <a:cubicBezTo>
                    <a:pt x="24" y="2333"/>
                    <a:pt x="1" y="4514"/>
                    <a:pt x="1332" y="5868"/>
                  </a:cubicBezTo>
                  <a:cubicBezTo>
                    <a:pt x="1343" y="5880"/>
                    <a:pt x="1343" y="5880"/>
                    <a:pt x="1355" y="5891"/>
                  </a:cubicBezTo>
                  <a:cubicBezTo>
                    <a:pt x="2026" y="6563"/>
                    <a:pt x="2910" y="6898"/>
                    <a:pt x="3794" y="6898"/>
                  </a:cubicBezTo>
                  <a:cubicBezTo>
                    <a:pt x="4678" y="6898"/>
                    <a:pt x="5561" y="6563"/>
                    <a:pt x="6233" y="5891"/>
                  </a:cubicBezTo>
                  <a:cubicBezTo>
                    <a:pt x="7576" y="4537"/>
                    <a:pt x="7576" y="2356"/>
                    <a:pt x="6233" y="1013"/>
                  </a:cubicBezTo>
                  <a:cubicBezTo>
                    <a:pt x="5558" y="339"/>
                    <a:pt x="4676" y="0"/>
                    <a:pt x="3793" y="0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7" name="Google Shape;1521;p43">
              <a:extLst>
                <a:ext uri="{FF2B5EF4-FFF2-40B4-BE49-F238E27FC236}">
                  <a16:creationId xmlns:a16="http://schemas.microsoft.com/office/drawing/2014/main" xmlns="" id="{9A18EE28-E650-4164-7F24-86D4C7141417}"/>
                </a:ext>
              </a:extLst>
            </p:cNvPr>
            <p:cNvSpPr/>
            <p:nvPr/>
          </p:nvSpPr>
          <p:spPr>
            <a:xfrm>
              <a:off x="3088670" y="2111564"/>
              <a:ext cx="139746" cy="26679"/>
            </a:xfrm>
            <a:custGeom>
              <a:avLst/>
              <a:gdLst/>
              <a:ahLst/>
              <a:cxnLst/>
              <a:rect l="l" t="t" r="r" b="b"/>
              <a:pathLst>
                <a:path w="19065" h="3641" extrusionOk="0">
                  <a:moveTo>
                    <a:pt x="2249" y="1"/>
                  </a:moveTo>
                  <a:cubicBezTo>
                    <a:pt x="1614" y="1"/>
                    <a:pt x="981" y="326"/>
                    <a:pt x="643" y="966"/>
                  </a:cubicBezTo>
                  <a:cubicBezTo>
                    <a:pt x="0" y="2171"/>
                    <a:pt x="873" y="3640"/>
                    <a:pt x="2250" y="3640"/>
                  </a:cubicBezTo>
                  <a:cubicBezTo>
                    <a:pt x="2847" y="3640"/>
                    <a:pt x="3409" y="3353"/>
                    <a:pt x="3742" y="2860"/>
                  </a:cubicBezTo>
                  <a:cubicBezTo>
                    <a:pt x="4029" y="2435"/>
                    <a:pt x="4488" y="2182"/>
                    <a:pt x="5004" y="2182"/>
                  </a:cubicBezTo>
                  <a:lnTo>
                    <a:pt x="19064" y="2182"/>
                  </a:lnTo>
                  <a:lnTo>
                    <a:pt x="19064" y="1459"/>
                  </a:lnTo>
                  <a:lnTo>
                    <a:pt x="5004" y="1459"/>
                  </a:lnTo>
                  <a:cubicBezTo>
                    <a:pt x="4499" y="1459"/>
                    <a:pt x="4040" y="1218"/>
                    <a:pt x="3765" y="805"/>
                  </a:cubicBezTo>
                  <a:cubicBezTo>
                    <a:pt x="3400" y="266"/>
                    <a:pt x="2823" y="1"/>
                    <a:pt x="2249" y="1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8" name="Google Shape;1522;p43">
              <a:extLst>
                <a:ext uri="{FF2B5EF4-FFF2-40B4-BE49-F238E27FC236}">
                  <a16:creationId xmlns:a16="http://schemas.microsoft.com/office/drawing/2014/main" xmlns="" id="{484A8505-FF98-0534-8C42-9005BC1716C7}"/>
                </a:ext>
              </a:extLst>
            </p:cNvPr>
            <p:cNvSpPr/>
            <p:nvPr/>
          </p:nvSpPr>
          <p:spPr>
            <a:xfrm>
              <a:off x="3234603" y="2086687"/>
              <a:ext cx="101301" cy="76257"/>
            </a:xfrm>
            <a:custGeom>
              <a:avLst/>
              <a:gdLst/>
              <a:ahLst/>
              <a:cxnLst/>
              <a:rect l="l" t="t" r="r" b="b"/>
              <a:pathLst>
                <a:path w="13820" h="10407" extrusionOk="0">
                  <a:moveTo>
                    <a:pt x="8445" y="0"/>
                  </a:moveTo>
                  <a:cubicBezTo>
                    <a:pt x="5733" y="0"/>
                    <a:pt x="3459" y="2121"/>
                    <a:pt x="3283" y="4866"/>
                  </a:cubicBezTo>
                  <a:lnTo>
                    <a:pt x="0" y="4866"/>
                  </a:lnTo>
                  <a:lnTo>
                    <a:pt x="0" y="5577"/>
                  </a:lnTo>
                  <a:lnTo>
                    <a:pt x="3283" y="5577"/>
                  </a:lnTo>
                  <a:cubicBezTo>
                    <a:pt x="3471" y="8312"/>
                    <a:pt x="5753" y="10406"/>
                    <a:pt x="8459" y="10406"/>
                  </a:cubicBezTo>
                  <a:cubicBezTo>
                    <a:pt x="8558" y="10406"/>
                    <a:pt x="8658" y="10404"/>
                    <a:pt x="8758" y="10398"/>
                  </a:cubicBezTo>
                  <a:lnTo>
                    <a:pt x="6015" y="7666"/>
                  </a:lnTo>
                  <a:lnTo>
                    <a:pt x="5992" y="7643"/>
                  </a:lnTo>
                  <a:cubicBezTo>
                    <a:pt x="4672" y="6278"/>
                    <a:pt x="4683" y="4108"/>
                    <a:pt x="6038" y="2766"/>
                  </a:cubicBezTo>
                  <a:cubicBezTo>
                    <a:pt x="6708" y="2101"/>
                    <a:pt x="7586" y="1768"/>
                    <a:pt x="8465" y="1768"/>
                  </a:cubicBezTo>
                  <a:cubicBezTo>
                    <a:pt x="9348" y="1768"/>
                    <a:pt x="10231" y="2104"/>
                    <a:pt x="10904" y="2777"/>
                  </a:cubicBezTo>
                  <a:lnTo>
                    <a:pt x="13635" y="5520"/>
                  </a:lnTo>
                  <a:cubicBezTo>
                    <a:pt x="13819" y="2651"/>
                    <a:pt x="11638" y="195"/>
                    <a:pt x="8781" y="11"/>
                  </a:cubicBezTo>
                  <a:cubicBezTo>
                    <a:pt x="8668" y="4"/>
                    <a:pt x="8556" y="0"/>
                    <a:pt x="8445" y="0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9" name="Google Shape;1523;p43">
              <a:extLst>
                <a:ext uri="{FF2B5EF4-FFF2-40B4-BE49-F238E27FC236}">
                  <a16:creationId xmlns:a16="http://schemas.microsoft.com/office/drawing/2014/main" xmlns="" id="{1794A26E-5BF1-101C-78C5-42FCAA655D06}"/>
                </a:ext>
              </a:extLst>
            </p:cNvPr>
            <p:cNvSpPr/>
            <p:nvPr/>
          </p:nvSpPr>
          <p:spPr>
            <a:xfrm>
              <a:off x="3278765" y="2107116"/>
              <a:ext cx="55781" cy="55762"/>
            </a:xfrm>
            <a:custGeom>
              <a:avLst/>
              <a:gdLst/>
              <a:ahLst/>
              <a:cxnLst/>
              <a:rect l="l" t="t" r="r" b="b"/>
              <a:pathLst>
                <a:path w="7610" h="7610" extrusionOk="0">
                  <a:moveTo>
                    <a:pt x="4878" y="1"/>
                  </a:moveTo>
                  <a:cubicBezTo>
                    <a:pt x="6221" y="1344"/>
                    <a:pt x="6221" y="3524"/>
                    <a:pt x="4878" y="4878"/>
                  </a:cubicBezTo>
                  <a:cubicBezTo>
                    <a:pt x="4201" y="5550"/>
                    <a:pt x="3317" y="5885"/>
                    <a:pt x="2435" y="5885"/>
                  </a:cubicBezTo>
                  <a:cubicBezTo>
                    <a:pt x="1552" y="5885"/>
                    <a:pt x="672" y="5550"/>
                    <a:pt x="0" y="4878"/>
                  </a:cubicBezTo>
                  <a:lnTo>
                    <a:pt x="0" y="4878"/>
                  </a:lnTo>
                  <a:lnTo>
                    <a:pt x="2732" y="7610"/>
                  </a:lnTo>
                  <a:cubicBezTo>
                    <a:pt x="5360" y="7461"/>
                    <a:pt x="7460" y="5360"/>
                    <a:pt x="7609" y="2732"/>
                  </a:cubicBezTo>
                  <a:lnTo>
                    <a:pt x="4878" y="1"/>
                  </a:ln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20" name="Google Shape;1524;p43">
              <a:extLst>
                <a:ext uri="{FF2B5EF4-FFF2-40B4-BE49-F238E27FC236}">
                  <a16:creationId xmlns:a16="http://schemas.microsoft.com/office/drawing/2014/main" xmlns="" id="{26C30FE8-ABD6-F1F7-6172-5177E3E8DAA2}"/>
                </a:ext>
              </a:extLst>
            </p:cNvPr>
            <p:cNvSpPr/>
            <p:nvPr/>
          </p:nvSpPr>
          <p:spPr>
            <a:xfrm>
              <a:off x="3268754" y="2099693"/>
              <a:ext cx="54938" cy="49864"/>
            </a:xfrm>
            <a:custGeom>
              <a:avLst/>
              <a:gdLst/>
              <a:ahLst/>
              <a:cxnLst/>
              <a:rect l="l" t="t" r="r" b="b"/>
              <a:pathLst>
                <a:path w="7495" h="6805" extrusionOk="0">
                  <a:moveTo>
                    <a:pt x="3792" y="1"/>
                  </a:moveTo>
                  <a:cubicBezTo>
                    <a:pt x="2917" y="1"/>
                    <a:pt x="2040" y="333"/>
                    <a:pt x="1366" y="1002"/>
                  </a:cubicBezTo>
                  <a:cubicBezTo>
                    <a:pt x="23" y="2333"/>
                    <a:pt x="0" y="4514"/>
                    <a:pt x="1332" y="5868"/>
                  </a:cubicBezTo>
                  <a:lnTo>
                    <a:pt x="1332" y="5857"/>
                  </a:lnTo>
                  <a:lnTo>
                    <a:pt x="1355" y="5891"/>
                  </a:lnTo>
                  <a:cubicBezTo>
                    <a:pt x="2019" y="6500"/>
                    <a:pt x="2860" y="6804"/>
                    <a:pt x="3700" y="6804"/>
                  </a:cubicBezTo>
                  <a:cubicBezTo>
                    <a:pt x="4585" y="6804"/>
                    <a:pt x="5469" y="6466"/>
                    <a:pt x="6141" y="5788"/>
                  </a:cubicBezTo>
                  <a:cubicBezTo>
                    <a:pt x="7449" y="4480"/>
                    <a:pt x="7495" y="2368"/>
                    <a:pt x="6232" y="1014"/>
                  </a:cubicBezTo>
                  <a:cubicBezTo>
                    <a:pt x="5558" y="339"/>
                    <a:pt x="4675" y="1"/>
                    <a:pt x="3792" y="1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21" name="Google Shape;1525;p43">
              <a:extLst>
                <a:ext uri="{FF2B5EF4-FFF2-40B4-BE49-F238E27FC236}">
                  <a16:creationId xmlns:a16="http://schemas.microsoft.com/office/drawing/2014/main" xmlns="" id="{5C74BD1F-B2EC-F4B9-2660-DF742533D854}"/>
                </a:ext>
              </a:extLst>
            </p:cNvPr>
            <p:cNvSpPr/>
            <p:nvPr/>
          </p:nvSpPr>
          <p:spPr>
            <a:xfrm>
              <a:off x="3088670" y="2323456"/>
              <a:ext cx="139746" cy="26716"/>
            </a:xfrm>
            <a:custGeom>
              <a:avLst/>
              <a:gdLst/>
              <a:ahLst/>
              <a:cxnLst/>
              <a:rect l="l" t="t" r="r" b="b"/>
              <a:pathLst>
                <a:path w="19065" h="3646" extrusionOk="0">
                  <a:moveTo>
                    <a:pt x="2249" y="1"/>
                  </a:moveTo>
                  <a:cubicBezTo>
                    <a:pt x="1614" y="1"/>
                    <a:pt x="981" y="327"/>
                    <a:pt x="643" y="960"/>
                  </a:cubicBezTo>
                  <a:cubicBezTo>
                    <a:pt x="0" y="2177"/>
                    <a:pt x="873" y="3646"/>
                    <a:pt x="2250" y="3646"/>
                  </a:cubicBezTo>
                  <a:cubicBezTo>
                    <a:pt x="2847" y="3646"/>
                    <a:pt x="3398" y="3347"/>
                    <a:pt x="3742" y="2865"/>
                  </a:cubicBezTo>
                  <a:cubicBezTo>
                    <a:pt x="4029" y="2441"/>
                    <a:pt x="4488" y="2188"/>
                    <a:pt x="5004" y="2177"/>
                  </a:cubicBezTo>
                  <a:lnTo>
                    <a:pt x="19064" y="2177"/>
                  </a:lnTo>
                  <a:lnTo>
                    <a:pt x="19064" y="1465"/>
                  </a:lnTo>
                  <a:lnTo>
                    <a:pt x="5004" y="1465"/>
                  </a:lnTo>
                  <a:cubicBezTo>
                    <a:pt x="4499" y="1465"/>
                    <a:pt x="4040" y="1224"/>
                    <a:pt x="3765" y="811"/>
                  </a:cubicBezTo>
                  <a:cubicBezTo>
                    <a:pt x="3400" y="266"/>
                    <a:pt x="2823" y="1"/>
                    <a:pt x="2249" y="1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22" name="Google Shape;1526;p43">
              <a:extLst>
                <a:ext uri="{FF2B5EF4-FFF2-40B4-BE49-F238E27FC236}">
                  <a16:creationId xmlns:a16="http://schemas.microsoft.com/office/drawing/2014/main" xmlns="" id="{FED320AC-A606-6321-27B3-23394047C358}"/>
                </a:ext>
              </a:extLst>
            </p:cNvPr>
            <p:cNvSpPr/>
            <p:nvPr/>
          </p:nvSpPr>
          <p:spPr>
            <a:xfrm>
              <a:off x="3234603" y="2298535"/>
              <a:ext cx="101301" cy="76257"/>
            </a:xfrm>
            <a:custGeom>
              <a:avLst/>
              <a:gdLst/>
              <a:ahLst/>
              <a:cxnLst/>
              <a:rect l="l" t="t" r="r" b="b"/>
              <a:pathLst>
                <a:path w="13820" h="10407" extrusionOk="0">
                  <a:moveTo>
                    <a:pt x="8445" y="0"/>
                  </a:moveTo>
                  <a:cubicBezTo>
                    <a:pt x="5733" y="0"/>
                    <a:pt x="3459" y="2121"/>
                    <a:pt x="3283" y="4866"/>
                  </a:cubicBezTo>
                  <a:lnTo>
                    <a:pt x="0" y="4866"/>
                  </a:lnTo>
                  <a:lnTo>
                    <a:pt x="0" y="5578"/>
                  </a:lnTo>
                  <a:lnTo>
                    <a:pt x="3283" y="5578"/>
                  </a:lnTo>
                  <a:cubicBezTo>
                    <a:pt x="3471" y="8313"/>
                    <a:pt x="5753" y="10407"/>
                    <a:pt x="8459" y="10407"/>
                  </a:cubicBezTo>
                  <a:cubicBezTo>
                    <a:pt x="8558" y="10407"/>
                    <a:pt x="8658" y="10404"/>
                    <a:pt x="8758" y="10398"/>
                  </a:cubicBezTo>
                  <a:lnTo>
                    <a:pt x="6015" y="7666"/>
                  </a:lnTo>
                  <a:lnTo>
                    <a:pt x="5992" y="7632"/>
                  </a:lnTo>
                  <a:cubicBezTo>
                    <a:pt x="4695" y="6278"/>
                    <a:pt x="4729" y="4120"/>
                    <a:pt x="6060" y="2800"/>
                  </a:cubicBezTo>
                  <a:cubicBezTo>
                    <a:pt x="6736" y="2136"/>
                    <a:pt x="7616" y="1803"/>
                    <a:pt x="8495" y="1803"/>
                  </a:cubicBezTo>
                  <a:cubicBezTo>
                    <a:pt x="9363" y="1803"/>
                    <a:pt x="10231" y="2127"/>
                    <a:pt x="10904" y="2777"/>
                  </a:cubicBezTo>
                  <a:lnTo>
                    <a:pt x="13635" y="5509"/>
                  </a:lnTo>
                  <a:cubicBezTo>
                    <a:pt x="13819" y="2651"/>
                    <a:pt x="11638" y="195"/>
                    <a:pt x="8781" y="11"/>
                  </a:cubicBezTo>
                  <a:cubicBezTo>
                    <a:pt x="8668" y="4"/>
                    <a:pt x="8556" y="0"/>
                    <a:pt x="8445" y="0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23" name="Google Shape;1527;p43">
              <a:extLst>
                <a:ext uri="{FF2B5EF4-FFF2-40B4-BE49-F238E27FC236}">
                  <a16:creationId xmlns:a16="http://schemas.microsoft.com/office/drawing/2014/main" xmlns="" id="{5A3A3DE7-5A6C-FCD3-BFEB-7CAFB1327E3E}"/>
                </a:ext>
              </a:extLst>
            </p:cNvPr>
            <p:cNvSpPr/>
            <p:nvPr/>
          </p:nvSpPr>
          <p:spPr>
            <a:xfrm>
              <a:off x="3278765" y="2318964"/>
              <a:ext cx="55781" cy="55770"/>
            </a:xfrm>
            <a:custGeom>
              <a:avLst/>
              <a:gdLst/>
              <a:ahLst/>
              <a:cxnLst/>
              <a:rect l="l" t="t" r="r" b="b"/>
              <a:pathLst>
                <a:path w="7610" h="7611" extrusionOk="0">
                  <a:moveTo>
                    <a:pt x="4878" y="1"/>
                  </a:moveTo>
                  <a:lnTo>
                    <a:pt x="4878" y="1"/>
                  </a:lnTo>
                  <a:cubicBezTo>
                    <a:pt x="6221" y="1344"/>
                    <a:pt x="6221" y="3524"/>
                    <a:pt x="4878" y="4878"/>
                  </a:cubicBezTo>
                  <a:cubicBezTo>
                    <a:pt x="4201" y="5550"/>
                    <a:pt x="3317" y="5886"/>
                    <a:pt x="2435" y="5886"/>
                  </a:cubicBezTo>
                  <a:cubicBezTo>
                    <a:pt x="1552" y="5886"/>
                    <a:pt x="672" y="5550"/>
                    <a:pt x="0" y="4879"/>
                  </a:cubicBezTo>
                  <a:lnTo>
                    <a:pt x="0" y="4879"/>
                  </a:lnTo>
                  <a:lnTo>
                    <a:pt x="2732" y="7610"/>
                  </a:lnTo>
                  <a:cubicBezTo>
                    <a:pt x="5360" y="7461"/>
                    <a:pt x="7460" y="5361"/>
                    <a:pt x="7609" y="2732"/>
                  </a:cubicBezTo>
                  <a:lnTo>
                    <a:pt x="4878" y="1"/>
                  </a:ln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24" name="Google Shape;1528;p43">
              <a:extLst>
                <a:ext uri="{FF2B5EF4-FFF2-40B4-BE49-F238E27FC236}">
                  <a16:creationId xmlns:a16="http://schemas.microsoft.com/office/drawing/2014/main" xmlns="" id="{ECEE0A30-27B8-F1F1-FA71-83B8403E0C1D}"/>
                </a:ext>
              </a:extLst>
            </p:cNvPr>
            <p:cNvSpPr/>
            <p:nvPr/>
          </p:nvSpPr>
          <p:spPr>
            <a:xfrm>
              <a:off x="3269004" y="2311754"/>
              <a:ext cx="56287" cy="51058"/>
            </a:xfrm>
            <a:custGeom>
              <a:avLst/>
              <a:gdLst/>
              <a:ahLst/>
              <a:cxnLst/>
              <a:rect l="l" t="t" r="r" b="b"/>
              <a:pathLst>
                <a:path w="7679" h="6968" extrusionOk="0">
                  <a:moveTo>
                    <a:pt x="3790" y="0"/>
                  </a:moveTo>
                  <a:cubicBezTo>
                    <a:pt x="2912" y="0"/>
                    <a:pt x="2035" y="333"/>
                    <a:pt x="1366" y="996"/>
                  </a:cubicBezTo>
                  <a:cubicBezTo>
                    <a:pt x="24" y="2327"/>
                    <a:pt x="1" y="4474"/>
                    <a:pt x="1298" y="5840"/>
                  </a:cubicBezTo>
                  <a:lnTo>
                    <a:pt x="1298" y="5828"/>
                  </a:lnTo>
                  <a:lnTo>
                    <a:pt x="1321" y="5862"/>
                  </a:lnTo>
                  <a:cubicBezTo>
                    <a:pt x="2002" y="6597"/>
                    <a:pt x="2928" y="6968"/>
                    <a:pt x="3856" y="6968"/>
                  </a:cubicBezTo>
                  <a:cubicBezTo>
                    <a:pt x="4739" y="6968"/>
                    <a:pt x="5624" y="6632"/>
                    <a:pt x="6302" y="5954"/>
                  </a:cubicBezTo>
                  <a:cubicBezTo>
                    <a:pt x="7679" y="4566"/>
                    <a:pt x="7645" y="2316"/>
                    <a:pt x="6198" y="985"/>
                  </a:cubicBezTo>
                  <a:cubicBezTo>
                    <a:pt x="5530" y="328"/>
                    <a:pt x="4659" y="0"/>
                    <a:pt x="3790" y="0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25" name="Google Shape;1529;p43">
              <a:extLst>
                <a:ext uri="{FF2B5EF4-FFF2-40B4-BE49-F238E27FC236}">
                  <a16:creationId xmlns:a16="http://schemas.microsoft.com/office/drawing/2014/main" xmlns="" id="{0A4681CB-9A56-674A-3A10-921F61A415E8}"/>
                </a:ext>
              </a:extLst>
            </p:cNvPr>
            <p:cNvSpPr/>
            <p:nvPr/>
          </p:nvSpPr>
          <p:spPr>
            <a:xfrm>
              <a:off x="3216780" y="2404433"/>
              <a:ext cx="90438" cy="76074"/>
            </a:xfrm>
            <a:custGeom>
              <a:avLst/>
              <a:gdLst/>
              <a:ahLst/>
              <a:cxnLst/>
              <a:rect l="l" t="t" r="r" b="b"/>
              <a:pathLst>
                <a:path w="12338" h="10382" extrusionOk="0">
                  <a:moveTo>
                    <a:pt x="6169" y="0"/>
                  </a:moveTo>
                  <a:cubicBezTo>
                    <a:pt x="4129" y="0"/>
                    <a:pt x="2128" y="1197"/>
                    <a:pt x="1308" y="3349"/>
                  </a:cubicBezTo>
                  <a:cubicBezTo>
                    <a:pt x="1" y="6767"/>
                    <a:pt x="2554" y="10381"/>
                    <a:pt x="6151" y="10381"/>
                  </a:cubicBezTo>
                  <a:cubicBezTo>
                    <a:pt x="6250" y="10381"/>
                    <a:pt x="6349" y="10378"/>
                    <a:pt x="6450" y="10373"/>
                  </a:cubicBezTo>
                  <a:lnTo>
                    <a:pt x="3718" y="7630"/>
                  </a:lnTo>
                  <a:cubicBezTo>
                    <a:pt x="3638" y="7550"/>
                    <a:pt x="3557" y="7458"/>
                    <a:pt x="3477" y="7377"/>
                  </a:cubicBezTo>
                  <a:cubicBezTo>
                    <a:pt x="2318" y="5943"/>
                    <a:pt x="2478" y="3854"/>
                    <a:pt x="3844" y="2626"/>
                  </a:cubicBezTo>
                  <a:cubicBezTo>
                    <a:pt x="4504" y="2033"/>
                    <a:pt x="5332" y="1737"/>
                    <a:pt x="6159" y="1737"/>
                  </a:cubicBezTo>
                  <a:cubicBezTo>
                    <a:pt x="7043" y="1737"/>
                    <a:pt x="7925" y="2076"/>
                    <a:pt x="8596" y="2752"/>
                  </a:cubicBezTo>
                  <a:lnTo>
                    <a:pt x="11327" y="5484"/>
                  </a:lnTo>
                  <a:lnTo>
                    <a:pt x="11327" y="5552"/>
                  </a:lnTo>
                  <a:lnTo>
                    <a:pt x="12337" y="5552"/>
                  </a:lnTo>
                  <a:lnTo>
                    <a:pt x="12337" y="4841"/>
                  </a:lnTo>
                  <a:lnTo>
                    <a:pt x="11327" y="4841"/>
                  </a:lnTo>
                  <a:cubicBezTo>
                    <a:pt x="11247" y="3590"/>
                    <a:pt x="10708" y="2408"/>
                    <a:pt x="9824" y="1524"/>
                  </a:cubicBezTo>
                  <a:cubicBezTo>
                    <a:pt x="8787" y="487"/>
                    <a:pt x="7470" y="0"/>
                    <a:pt x="6169" y="0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26" name="Google Shape;1530;p43">
              <a:extLst>
                <a:ext uri="{FF2B5EF4-FFF2-40B4-BE49-F238E27FC236}">
                  <a16:creationId xmlns:a16="http://schemas.microsoft.com/office/drawing/2014/main" xmlns="" id="{85A190B1-51E7-9661-9A35-CAA74179A202}"/>
                </a:ext>
              </a:extLst>
            </p:cNvPr>
            <p:cNvSpPr/>
            <p:nvPr/>
          </p:nvSpPr>
          <p:spPr>
            <a:xfrm>
              <a:off x="3316610" y="2429134"/>
              <a:ext cx="153043" cy="26672"/>
            </a:xfrm>
            <a:custGeom>
              <a:avLst/>
              <a:gdLst/>
              <a:ahLst/>
              <a:cxnLst/>
              <a:rect l="l" t="t" r="r" b="b"/>
              <a:pathLst>
                <a:path w="20879" h="3640" extrusionOk="0">
                  <a:moveTo>
                    <a:pt x="18628" y="1"/>
                  </a:moveTo>
                  <a:cubicBezTo>
                    <a:pt x="18043" y="1"/>
                    <a:pt x="17481" y="299"/>
                    <a:pt x="17148" y="781"/>
                  </a:cubicBezTo>
                  <a:cubicBezTo>
                    <a:pt x="16861" y="1206"/>
                    <a:pt x="16390" y="1458"/>
                    <a:pt x="15885" y="1470"/>
                  </a:cubicBezTo>
                  <a:lnTo>
                    <a:pt x="1" y="1470"/>
                  </a:lnTo>
                  <a:lnTo>
                    <a:pt x="1" y="2181"/>
                  </a:lnTo>
                  <a:lnTo>
                    <a:pt x="15885" y="2181"/>
                  </a:lnTo>
                  <a:cubicBezTo>
                    <a:pt x="16379" y="2181"/>
                    <a:pt x="16849" y="2423"/>
                    <a:pt x="17125" y="2836"/>
                  </a:cubicBezTo>
                  <a:cubicBezTo>
                    <a:pt x="17490" y="3375"/>
                    <a:pt x="18064" y="3640"/>
                    <a:pt x="18635" y="3640"/>
                  </a:cubicBezTo>
                  <a:cubicBezTo>
                    <a:pt x="19268" y="3640"/>
                    <a:pt x="19897" y="3314"/>
                    <a:pt x="20235" y="2675"/>
                  </a:cubicBezTo>
                  <a:cubicBezTo>
                    <a:pt x="20878" y="1470"/>
                    <a:pt x="20006" y="1"/>
                    <a:pt x="18628" y="1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27" name="Google Shape;1531;p43">
              <a:extLst>
                <a:ext uri="{FF2B5EF4-FFF2-40B4-BE49-F238E27FC236}">
                  <a16:creationId xmlns:a16="http://schemas.microsoft.com/office/drawing/2014/main" xmlns="" id="{3AED4E28-23C0-8EAB-FFB2-24981CB95215}"/>
                </a:ext>
              </a:extLst>
            </p:cNvPr>
            <p:cNvSpPr/>
            <p:nvPr/>
          </p:nvSpPr>
          <p:spPr>
            <a:xfrm>
              <a:off x="3244021" y="2424598"/>
              <a:ext cx="55869" cy="55762"/>
            </a:xfrm>
            <a:custGeom>
              <a:avLst/>
              <a:gdLst/>
              <a:ahLst/>
              <a:cxnLst/>
              <a:rect l="l" t="t" r="r" b="b"/>
              <a:pathLst>
                <a:path w="7622" h="7610" extrusionOk="0">
                  <a:moveTo>
                    <a:pt x="4879" y="0"/>
                  </a:moveTo>
                  <a:lnTo>
                    <a:pt x="5074" y="194"/>
                  </a:lnTo>
                  <a:lnTo>
                    <a:pt x="5074" y="194"/>
                  </a:lnTo>
                  <a:cubicBezTo>
                    <a:pt x="5012" y="128"/>
                    <a:pt x="4947" y="63"/>
                    <a:pt x="4879" y="0"/>
                  </a:cubicBezTo>
                  <a:close/>
                  <a:moveTo>
                    <a:pt x="1" y="4878"/>
                  </a:moveTo>
                  <a:lnTo>
                    <a:pt x="1" y="4878"/>
                  </a:lnTo>
                  <a:cubicBezTo>
                    <a:pt x="64" y="4946"/>
                    <a:pt x="130" y="5011"/>
                    <a:pt x="197" y="5073"/>
                  </a:cubicBezTo>
                  <a:lnTo>
                    <a:pt x="197" y="5073"/>
                  </a:lnTo>
                  <a:lnTo>
                    <a:pt x="1" y="4878"/>
                  </a:lnTo>
                  <a:close/>
                  <a:moveTo>
                    <a:pt x="5074" y="194"/>
                  </a:moveTo>
                  <a:lnTo>
                    <a:pt x="5074" y="194"/>
                  </a:lnTo>
                  <a:cubicBezTo>
                    <a:pt x="6325" y="1543"/>
                    <a:pt x="6294" y="3657"/>
                    <a:pt x="4982" y="4970"/>
                  </a:cubicBezTo>
                  <a:cubicBezTo>
                    <a:pt x="4305" y="5647"/>
                    <a:pt x="3420" y="5983"/>
                    <a:pt x="2536" y="5983"/>
                  </a:cubicBezTo>
                  <a:cubicBezTo>
                    <a:pt x="1695" y="5983"/>
                    <a:pt x="855" y="5678"/>
                    <a:pt x="197" y="5073"/>
                  </a:cubicBezTo>
                  <a:lnTo>
                    <a:pt x="197" y="5073"/>
                  </a:lnTo>
                  <a:lnTo>
                    <a:pt x="2744" y="7609"/>
                  </a:lnTo>
                  <a:cubicBezTo>
                    <a:pt x="5349" y="7472"/>
                    <a:pt x="7438" y="5406"/>
                    <a:pt x="7622" y="2800"/>
                  </a:cubicBezTo>
                  <a:lnTo>
                    <a:pt x="7622" y="2732"/>
                  </a:lnTo>
                  <a:lnTo>
                    <a:pt x="5074" y="194"/>
                  </a:ln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28" name="Google Shape;1532;p43">
              <a:extLst>
                <a:ext uri="{FF2B5EF4-FFF2-40B4-BE49-F238E27FC236}">
                  <a16:creationId xmlns:a16="http://schemas.microsoft.com/office/drawing/2014/main" xmlns="" id="{24104419-6C77-E9E0-FA5F-B42B15D8C999}"/>
                </a:ext>
              </a:extLst>
            </p:cNvPr>
            <p:cNvSpPr/>
            <p:nvPr/>
          </p:nvSpPr>
          <p:spPr>
            <a:xfrm>
              <a:off x="3233761" y="2417183"/>
              <a:ext cx="55869" cy="50618"/>
            </a:xfrm>
            <a:custGeom>
              <a:avLst/>
              <a:gdLst/>
              <a:ahLst/>
              <a:cxnLst/>
              <a:rect l="l" t="t" r="r" b="b"/>
              <a:pathLst>
                <a:path w="7622" h="6908" extrusionOk="0">
                  <a:moveTo>
                    <a:pt x="3836" y="1"/>
                  </a:moveTo>
                  <a:cubicBezTo>
                    <a:pt x="3011" y="1"/>
                    <a:pt x="2185" y="294"/>
                    <a:pt x="1527" y="886"/>
                  </a:cubicBezTo>
                  <a:cubicBezTo>
                    <a:pt x="161" y="2125"/>
                    <a:pt x="1" y="4214"/>
                    <a:pt x="1160" y="5637"/>
                  </a:cubicBezTo>
                  <a:cubicBezTo>
                    <a:pt x="1240" y="5729"/>
                    <a:pt x="1321" y="5810"/>
                    <a:pt x="1401" y="5901"/>
                  </a:cubicBezTo>
                  <a:cubicBezTo>
                    <a:pt x="2071" y="6571"/>
                    <a:pt x="2952" y="6907"/>
                    <a:pt x="3834" y="6907"/>
                  </a:cubicBezTo>
                  <a:cubicBezTo>
                    <a:pt x="4720" y="6907"/>
                    <a:pt x="5606" y="6568"/>
                    <a:pt x="6279" y="5890"/>
                  </a:cubicBezTo>
                  <a:cubicBezTo>
                    <a:pt x="7622" y="4547"/>
                    <a:pt x="7622" y="2366"/>
                    <a:pt x="6279" y="1012"/>
                  </a:cubicBezTo>
                  <a:cubicBezTo>
                    <a:pt x="5607" y="340"/>
                    <a:pt x="4722" y="1"/>
                    <a:pt x="3836" y="1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29" name="Google Shape;1533;p43">
              <a:extLst>
                <a:ext uri="{FF2B5EF4-FFF2-40B4-BE49-F238E27FC236}">
                  <a16:creationId xmlns:a16="http://schemas.microsoft.com/office/drawing/2014/main" xmlns="" id="{044692D3-223B-0ECF-5ADA-44822F1079C5}"/>
                </a:ext>
              </a:extLst>
            </p:cNvPr>
            <p:cNvSpPr/>
            <p:nvPr/>
          </p:nvSpPr>
          <p:spPr>
            <a:xfrm>
              <a:off x="3091763" y="2535751"/>
              <a:ext cx="136653" cy="26716"/>
            </a:xfrm>
            <a:custGeom>
              <a:avLst/>
              <a:gdLst/>
              <a:ahLst/>
              <a:cxnLst/>
              <a:rect l="l" t="t" r="r" b="b"/>
              <a:pathLst>
                <a:path w="18643" h="3646" extrusionOk="0">
                  <a:moveTo>
                    <a:pt x="1849" y="1"/>
                  </a:moveTo>
                  <a:cubicBezTo>
                    <a:pt x="927" y="1"/>
                    <a:pt x="22" y="689"/>
                    <a:pt x="15" y="1806"/>
                  </a:cubicBezTo>
                  <a:cubicBezTo>
                    <a:pt x="0" y="2936"/>
                    <a:pt x="914" y="3646"/>
                    <a:pt x="1847" y="3646"/>
                  </a:cubicBezTo>
                  <a:cubicBezTo>
                    <a:pt x="2392" y="3646"/>
                    <a:pt x="2943" y="3403"/>
                    <a:pt x="3320" y="2862"/>
                  </a:cubicBezTo>
                  <a:cubicBezTo>
                    <a:pt x="3607" y="2437"/>
                    <a:pt x="4066" y="2185"/>
                    <a:pt x="4582" y="2185"/>
                  </a:cubicBezTo>
                  <a:lnTo>
                    <a:pt x="18642" y="2185"/>
                  </a:lnTo>
                  <a:lnTo>
                    <a:pt x="18642" y="1462"/>
                  </a:lnTo>
                  <a:lnTo>
                    <a:pt x="4582" y="1462"/>
                  </a:lnTo>
                  <a:cubicBezTo>
                    <a:pt x="4077" y="1462"/>
                    <a:pt x="3618" y="1221"/>
                    <a:pt x="3343" y="807"/>
                  </a:cubicBezTo>
                  <a:cubicBezTo>
                    <a:pt x="2967" y="251"/>
                    <a:pt x="2405" y="1"/>
                    <a:pt x="1849" y="1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0" name="Google Shape;1534;p43">
              <a:extLst>
                <a:ext uri="{FF2B5EF4-FFF2-40B4-BE49-F238E27FC236}">
                  <a16:creationId xmlns:a16="http://schemas.microsoft.com/office/drawing/2014/main" xmlns="" id="{C9F9F130-6EF2-A3ED-1A63-4F0FE72B3F40}"/>
                </a:ext>
              </a:extLst>
            </p:cNvPr>
            <p:cNvSpPr/>
            <p:nvPr/>
          </p:nvSpPr>
          <p:spPr>
            <a:xfrm>
              <a:off x="3234603" y="2510888"/>
              <a:ext cx="101301" cy="76184"/>
            </a:xfrm>
            <a:custGeom>
              <a:avLst/>
              <a:gdLst/>
              <a:ahLst/>
              <a:cxnLst/>
              <a:rect l="l" t="t" r="r" b="b"/>
              <a:pathLst>
                <a:path w="13820" h="10397" extrusionOk="0">
                  <a:moveTo>
                    <a:pt x="8443" y="0"/>
                  </a:moveTo>
                  <a:cubicBezTo>
                    <a:pt x="5732" y="0"/>
                    <a:pt x="3459" y="2110"/>
                    <a:pt x="3283" y="4855"/>
                  </a:cubicBezTo>
                  <a:lnTo>
                    <a:pt x="0" y="4855"/>
                  </a:lnTo>
                  <a:lnTo>
                    <a:pt x="0" y="5578"/>
                  </a:lnTo>
                  <a:lnTo>
                    <a:pt x="3283" y="5578"/>
                  </a:lnTo>
                  <a:cubicBezTo>
                    <a:pt x="3471" y="8295"/>
                    <a:pt x="5743" y="10396"/>
                    <a:pt x="8441" y="10396"/>
                  </a:cubicBezTo>
                  <a:cubicBezTo>
                    <a:pt x="8546" y="10396"/>
                    <a:pt x="8651" y="10393"/>
                    <a:pt x="8758" y="10387"/>
                  </a:cubicBezTo>
                  <a:lnTo>
                    <a:pt x="6015" y="7655"/>
                  </a:lnTo>
                  <a:lnTo>
                    <a:pt x="5992" y="7632"/>
                  </a:lnTo>
                  <a:cubicBezTo>
                    <a:pt x="4672" y="6278"/>
                    <a:pt x="4683" y="4097"/>
                    <a:pt x="6038" y="2766"/>
                  </a:cubicBezTo>
                  <a:cubicBezTo>
                    <a:pt x="6708" y="2101"/>
                    <a:pt x="7586" y="1769"/>
                    <a:pt x="8465" y="1769"/>
                  </a:cubicBezTo>
                  <a:cubicBezTo>
                    <a:pt x="9348" y="1769"/>
                    <a:pt x="10231" y="2104"/>
                    <a:pt x="10904" y="2777"/>
                  </a:cubicBezTo>
                  <a:lnTo>
                    <a:pt x="13635" y="5509"/>
                  </a:lnTo>
                  <a:cubicBezTo>
                    <a:pt x="13819" y="2651"/>
                    <a:pt x="11638" y="183"/>
                    <a:pt x="8781" y="11"/>
                  </a:cubicBezTo>
                  <a:cubicBezTo>
                    <a:pt x="8667" y="4"/>
                    <a:pt x="8555" y="0"/>
                    <a:pt x="8443" y="0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1" name="Google Shape;1535;p43">
              <a:extLst>
                <a:ext uri="{FF2B5EF4-FFF2-40B4-BE49-F238E27FC236}">
                  <a16:creationId xmlns:a16="http://schemas.microsoft.com/office/drawing/2014/main" xmlns="" id="{EE21FA18-37FC-F176-9C89-8ED6EFBF008A}"/>
                </a:ext>
              </a:extLst>
            </p:cNvPr>
            <p:cNvSpPr/>
            <p:nvPr/>
          </p:nvSpPr>
          <p:spPr>
            <a:xfrm>
              <a:off x="3278765" y="2531237"/>
              <a:ext cx="55781" cy="55762"/>
            </a:xfrm>
            <a:custGeom>
              <a:avLst/>
              <a:gdLst/>
              <a:ahLst/>
              <a:cxnLst/>
              <a:rect l="l" t="t" r="r" b="b"/>
              <a:pathLst>
                <a:path w="7610" h="7610" extrusionOk="0">
                  <a:moveTo>
                    <a:pt x="4878" y="0"/>
                  </a:moveTo>
                  <a:cubicBezTo>
                    <a:pt x="6221" y="1343"/>
                    <a:pt x="6221" y="3535"/>
                    <a:pt x="4878" y="4878"/>
                  </a:cubicBezTo>
                  <a:cubicBezTo>
                    <a:pt x="4201" y="5549"/>
                    <a:pt x="3317" y="5885"/>
                    <a:pt x="2435" y="5885"/>
                  </a:cubicBezTo>
                  <a:cubicBezTo>
                    <a:pt x="1552" y="5885"/>
                    <a:pt x="672" y="5549"/>
                    <a:pt x="0" y="4878"/>
                  </a:cubicBezTo>
                  <a:lnTo>
                    <a:pt x="0" y="4878"/>
                  </a:lnTo>
                  <a:lnTo>
                    <a:pt x="2732" y="7610"/>
                  </a:lnTo>
                  <a:cubicBezTo>
                    <a:pt x="5360" y="7460"/>
                    <a:pt x="7460" y="5360"/>
                    <a:pt x="7609" y="2732"/>
                  </a:cubicBezTo>
                  <a:lnTo>
                    <a:pt x="4878" y="0"/>
                  </a:ln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2" name="Google Shape;1536;p43">
              <a:extLst>
                <a:ext uri="{FF2B5EF4-FFF2-40B4-BE49-F238E27FC236}">
                  <a16:creationId xmlns:a16="http://schemas.microsoft.com/office/drawing/2014/main" xmlns="" id="{9B5FAEBA-09EB-965A-FA8E-42E3E59BF4CB}"/>
                </a:ext>
              </a:extLst>
            </p:cNvPr>
            <p:cNvSpPr/>
            <p:nvPr/>
          </p:nvSpPr>
          <p:spPr>
            <a:xfrm>
              <a:off x="3268754" y="2523843"/>
              <a:ext cx="54938" cy="49871"/>
            </a:xfrm>
            <a:custGeom>
              <a:avLst/>
              <a:gdLst/>
              <a:ahLst/>
              <a:cxnLst/>
              <a:rect l="l" t="t" r="r" b="b"/>
              <a:pathLst>
                <a:path w="7495" h="6806" extrusionOk="0">
                  <a:moveTo>
                    <a:pt x="3798" y="1"/>
                  </a:moveTo>
                  <a:cubicBezTo>
                    <a:pt x="2920" y="1"/>
                    <a:pt x="2042" y="333"/>
                    <a:pt x="1366" y="998"/>
                  </a:cubicBezTo>
                  <a:cubicBezTo>
                    <a:pt x="23" y="2341"/>
                    <a:pt x="0" y="4510"/>
                    <a:pt x="1332" y="5864"/>
                  </a:cubicBezTo>
                  <a:lnTo>
                    <a:pt x="1355" y="5887"/>
                  </a:lnTo>
                  <a:cubicBezTo>
                    <a:pt x="2019" y="6501"/>
                    <a:pt x="2860" y="6806"/>
                    <a:pt x="3700" y="6806"/>
                  </a:cubicBezTo>
                  <a:cubicBezTo>
                    <a:pt x="4585" y="6806"/>
                    <a:pt x="5469" y="6467"/>
                    <a:pt x="6141" y="5795"/>
                  </a:cubicBezTo>
                  <a:cubicBezTo>
                    <a:pt x="7449" y="4487"/>
                    <a:pt x="7495" y="2375"/>
                    <a:pt x="6232" y="1009"/>
                  </a:cubicBezTo>
                  <a:cubicBezTo>
                    <a:pt x="5560" y="336"/>
                    <a:pt x="4679" y="1"/>
                    <a:pt x="3798" y="1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</p:grp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4050791" y="1563624"/>
            <a:ext cx="420624" cy="42062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11480" y="1316736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r"/>
            <a:r>
              <a:rPr sz="1700" b="1">
                <a:solidFill>
                  <a:srgbClr val="FFC800"/>
                </a:solidFill>
                <a:latin typeface="Montserrat"/>
              </a:rPr>
              <a:t>Сегодня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1719072"/>
            <a:ext cx="3429000" cy="960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200" b="0">
                <a:solidFill>
                  <a:srgbClr val="FFFFFF"/>
                </a:solidFill>
                <a:latin typeface="Montserrat"/>
              </a:rPr>
              <a:t>Стенд: 3 региона Билайна + сгенерированный Северо-Запад, ночной план, 8 событий с вариантами, «Почему?», помощник; все 5 доп. возможностей ТЗ, API на 24 метода со Swagger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4050791" y="4809744"/>
            <a:ext cx="420624" cy="420624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275320" y="2084831"/>
            <a:ext cx="3749039" cy="3657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Ночной расчёт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2487168"/>
            <a:ext cx="3749039" cy="960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>Батч по расписанию на сервере: граф дорог, минуты общественного транспорта и планы всех регионов к утру</a:t>
            </a:r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7690104" y="5632703"/>
            <a:ext cx="420624" cy="420624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411480" y="2907792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r"/>
            <a:r>
              <a:rPr sz="1700" b="1">
                <a:solidFill>
                  <a:srgbClr val="FFFFFF"/>
                </a:solidFill>
                <a:latin typeface="Montserrat"/>
              </a:rPr>
              <a:t>Пробки по времени выезда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3310128"/>
            <a:ext cx="3429000" cy="960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200" b="0">
                <a:solidFill>
                  <a:srgbClr val="FFFFFF"/>
                </a:solidFill>
                <a:latin typeface="Montserrat"/>
              </a:rPr>
              <a:t>Калибровка по истории вместо коэффициента часа; общественный транспорт — по расписаниям</a:t>
            </a:r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7690104" y="2331720"/>
            <a:ext cx="420624" cy="420624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275320" y="3730752"/>
            <a:ext cx="3749039" cy="3657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События от инженеров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4133088"/>
            <a:ext cx="3749039" cy="960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>Выехал, на месте, закончил, задерживаюсь — из веб-интерфейса или бота в мессенджере, день пересчитывается сам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7690104" y="3977639"/>
            <a:ext cx="420624" cy="420624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411480" y="4562856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r"/>
            <a:r>
              <a:rPr sz="1700" b="1">
                <a:solidFill>
                  <a:srgbClr val="FFFFFF"/>
                </a:solidFill>
                <a:latin typeface="Montserrat"/>
              </a:rPr>
              <a:t>LLM в контуре Билайна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1480" y="4965192"/>
            <a:ext cx="3429000" cy="960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200" b="0">
                <a:solidFill>
                  <a:srgbClr val="FFFFFF"/>
                </a:solidFill>
                <a:latin typeface="Montserrat"/>
              </a:rPr>
              <a:t>Помощник на LLM внутри контура, с инструментами чтения вместо всего дня одним JSON: данные клиентов не покидают контур</a:t>
            </a:r>
          </a:p>
        </p:txBody>
      </p:sp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4050791" y="3154680"/>
            <a:ext cx="420624" cy="42062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75320" y="5385816"/>
            <a:ext cx="3749039" cy="3657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Несколько регионов сразу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75320" y="5788152"/>
            <a:ext cx="3749039" cy="960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>Бригада на границе берёт заявки соседнего региона; новый регион — YAML, как Северо-Запад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Логотипы организаторов"/>
          <p:cNvPicPr>
            <a:picLocks noChangeAspect="1"/>
          </p:cNvPicPr>
          <p:nvPr/>
        </p:nvPicPr>
        <p:blipFill>
          <a:blip r:embed="rIdBrandLogos"/>
          <a:stretch>
            <a:fillRect/>
          </a:stretch>
        </p:blipFill>
        <p:spPr>
          <a:xfrm>
            <a:off x="6966826" y="307571"/>
            <a:ext cx="4938235" cy="390698"/>
          </a:xfrm>
          <a:prstGeom prst="rect">
            <a:avLst/>
          </a:prstGeom>
        </p:spPr>
      </p:pic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141414"/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18</a:t>
            </a:fld>
            <a:endParaRPr lang="ru-RU" dirty="0"/>
          </a:p>
        </p:txBody>
      </p:sp>
      <p:sp>
        <p:nvSpPr>
          <p:cNvPr id="5" name="Карточка pill"/>
          <p:cNvSpPr/>
          <p:nvPr/>
        </p:nvSpPr>
        <p:spPr>
          <a:xfrm>
            <a:off x="347472" y="320040"/>
            <a:ext cx="5100828" cy="621792"/>
          </a:xfrm>
          <a:prstGeom prst="roundRect">
            <a:avLst>
              <a:gd name="adj" fmla="val 20588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wrap="square" lIns="182880" tIns="0" rIns="73152" bIns="0" rtlCol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Montserrat"/>
              </a:rPr>
              <a:t>КАК ПОСМОТРЕТЬ И ПРОВЕРИТЬ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984" y="1549224"/>
            <a:ext cx="5037871" cy="3779782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411480" y="1188720"/>
            <a:ext cx="5760720" cy="4502632"/>
          </a:xfrm>
          <a:prstGeom prst="rect">
            <a:avLst/>
          </a:prstGeom>
        </p:spPr>
      </p:pic>
      <p:sp>
        <p:nvSpPr>
          <p:cNvPr id="8" name="Карточка"/>
          <p:cNvSpPr/>
          <p:nvPr/>
        </p:nvSpPr>
        <p:spPr>
          <a:xfrm>
            <a:off x="6537960" y="2068436"/>
            <a:ext cx="525780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6766560" y="2223884"/>
            <a:ext cx="402336" cy="4023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0" y="2178164"/>
            <a:ext cx="438912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00" b="1">
                <a:solidFill>
                  <a:srgbClr val="141414"/>
                </a:solidFill>
                <a:latin typeface="Montserrat"/>
              </a:rPr>
              <a:t>Демо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617076"/>
            <a:ext cx="493776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1">
                <a:solidFill>
                  <a:srgbClr val="141414"/>
                </a:solidFill>
                <a:latin typeface="Montserrat"/>
              </a:rPr>
              <a:t>81.26.188.190.nip.io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2927972"/>
            <a:ext cx="4937760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141414"/>
                </a:solidFill>
                <a:latin typeface="Montserrat"/>
              </a:rPr>
              <a:t>Логин и пароль — в описании решения на платформе</a:t>
            </a:r>
          </a:p>
        </p:txBody>
      </p:sp>
      <p:sp>
        <p:nvSpPr>
          <p:cNvPr id="13" name="Карточка"/>
          <p:cNvSpPr/>
          <p:nvPr/>
        </p:nvSpPr>
        <p:spPr>
          <a:xfrm>
            <a:off x="6537960" y="3531475"/>
            <a:ext cx="525780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6766560" y="3686923"/>
            <a:ext cx="402336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15200" y="3641204"/>
            <a:ext cx="438912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00" b="1">
                <a:solidFill>
                  <a:srgbClr val="141414"/>
                </a:solidFill>
                <a:latin typeface="Montserrat"/>
              </a:rPr>
              <a:t>Код и видео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4080116"/>
            <a:ext cx="493776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1">
                <a:solidFill>
                  <a:srgbClr val="141414"/>
                </a:solidFill>
                <a:latin typeface="Montserrat"/>
              </a:rPr>
              <a:t>github.com/earlyr1/beeline-routing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4391011"/>
            <a:ext cx="4937760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141414"/>
                </a:solidFill>
                <a:latin typeface="Montserrat"/>
              </a:rPr>
              <a:t>Репозиторий </a:t>
            </a:r>
            <a:r>
              <a:rPr lang="ru-RU" sz="1150" b="0" dirty="0" smtClean="0">
                <a:solidFill>
                  <a:srgbClr val="141414"/>
                </a:solidFill>
                <a:latin typeface="Montserrat"/>
              </a:rPr>
              <a:t>открытый</a:t>
            </a:r>
            <a:r>
              <a:rPr sz="1150" b="0" smtClean="0">
                <a:solidFill>
                  <a:srgbClr val="141414"/>
                </a:solidFill>
                <a:latin typeface="Montserrat"/>
              </a:rPr>
              <a:t>. </a:t>
            </a:r>
            <a:r>
              <a:rPr sz="1150" b="0">
                <a:solidFill>
                  <a:srgbClr val="141414"/>
                </a:solidFill>
                <a:latin typeface="Montserrat"/>
              </a:rPr>
              <a:t>Видео 7 мин с субтитрами — в README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xmlns="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11294</TotalTime>
  <Words>2040</Words>
  <Application>Microsoft Macintosh PowerPoint</Application>
  <PresentationFormat>Произвольный</PresentationFormat>
  <Paragraphs>252</Paragraphs>
  <Slides>18</Slides>
  <Notes>2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18</vt:i4>
      </vt:variant>
    </vt:vector>
  </HeadingPairs>
  <TitlesOfParts>
    <vt:vector size="19" baseType="lpstr">
      <vt:lpstr>Для Академия инноваторов 16_9</vt:lpstr>
      <vt:lpstr>Двое из ларца</vt:lpstr>
      <vt:lpstr>КОМАНДА “ДВОЕ ИЗ ЛАРЦА”</vt:lpstr>
      <vt:lpstr>КОМАНДА “ДВОЕ ИЗ ЛАРЦА”</vt:lpstr>
      <vt:lpstr>КОМАНДА “ДВОЕ ИЗ ЛАРЦА”</vt:lpstr>
      <vt:lpstr>КОРОТКО О РЕШЕНИИ</vt:lpstr>
      <vt:lpstr>Слайд 6</vt:lpstr>
      <vt:lpstr>Слайд 7</vt:lpstr>
      <vt:lpstr>Слайд 8</vt:lpstr>
      <vt:lpstr>Слайд 9</vt:lpstr>
      <vt:lpstr>Слайд 10</vt:lpstr>
      <vt:lpstr>Слайд 11</vt:lpstr>
      <vt:lpstr>Слайд 12</vt:lpstr>
      <vt:lpstr>Слайд 13</vt:lpstr>
      <vt:lpstr>Слайд 14</vt:lpstr>
      <vt:lpstr>Слайд 15</vt:lpstr>
      <vt:lpstr>Слайд 16</vt:lpstr>
      <vt:lpstr>Слайд 17</vt:lpstr>
      <vt:lpstr>Слайд 18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Пользователь Windows</cp:lastModifiedBy>
  <cp:revision>122</cp:revision>
  <dcterms:created xsi:type="dcterms:W3CDTF">2023-05-15T07:36:23Z</dcterms:created>
  <dcterms:modified xsi:type="dcterms:W3CDTF">2026-09-27T23:50:00Z</dcterms:modified>
</cp:coreProperties>
</file>