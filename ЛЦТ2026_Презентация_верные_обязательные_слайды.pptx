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0"/>
  </p:notesMasterIdLst>
  <p:handoutMasterIdLst>
    <p:handoutMasterId r:id="rId21"/>
  </p:handoutMasterIdLst>
  <p:sldIdLst>
    <p:sldId id="365" r:id="rId2"/>
    <p:sldId id="366" r:id="rId3"/>
    <p:sldId id="362" r:id="rId4"/>
    <p:sldId id="364" r:id="rId5"/>
    <p:sldId id="375" r:id="rId6"/>
    <p:sldId id="376" r:id="rId7"/>
    <p:sldId id="377" r:id="rId8"/>
    <p:sldId id="378" r:id="rId9"/>
    <p:sldId id="379" r:id="rId10"/>
    <p:sldId id="380" r:id="rId11"/>
    <p:sldId id="381" r:id="rId12"/>
    <p:sldId id="382" r:id="rId13"/>
    <p:sldId id="383" r:id="rId14"/>
    <p:sldId id="384" r:id="rId15"/>
    <p:sldId id="385" r:id="rId16"/>
    <p:sldId id="386" r:id="rId17"/>
    <p:sldId id="387" r:id="rId18"/>
    <p:sldId id="388" r:id="rId19"/>
  </p:sldIdLst>
  <p:sldSz cx="12192000" cy="6858000"/>
  <p:notesSz cx="6858000" cy="9144000"/>
  <p:defaultTextStyle>
    <a:defPPr>
      <a:defRPr lang="ru-RU"/>
    </a:defPPr>
    <a:lvl1pPr marL="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 xmlns="">
        <p14:section name="Информация" id="{9FA27940-A45B-471D-96EC-3FCE80AE8A9B}">
          <p14:sldIdLst>
            <p14:sldId id="333"/>
            <p14:sldId id="326"/>
            <p14:sldId id="327"/>
            <p14:sldId id="367"/>
            <p14:sldId id="325"/>
            <p14:sldId id="355"/>
          </p14:sldIdLst>
        </p14:section>
        <p14:section name="Обязательные слайды" id="{248E5CD8-1028-4246-90C7-3263F7F286D3}">
          <p14:sldIdLst>
            <p14:sldId id="365"/>
            <p14:sldId id="366"/>
            <p14:sldId id="362"/>
            <p14:sldId id="364"/>
            <p14:sldId id="375"/>
          </p14:sldIdLst>
        </p14:section>
        <p14:section name="Шаблоны слайдов" id="{24401F80-F81B-49C3-8D55-70A14F0BF8FF}">
          <p14:sldIdLst>
            <p14:sldId id="369"/>
            <p14:sldId id="372"/>
            <p14:sldId id="373"/>
            <p14:sldId id="370"/>
            <p14:sldId id="371"/>
            <p14:sldId id="374"/>
            <p14:sldId id="260"/>
            <p14:sldId id="261"/>
            <p14:sldId id="262"/>
            <p14:sldId id="263"/>
            <p14:sldId id="266"/>
            <p14:sldId id="264"/>
            <p14:sldId id="268"/>
            <p14:sldId id="267"/>
            <p14:sldId id="269"/>
            <p14:sldId id="270"/>
            <p14:sldId id="271"/>
            <p14:sldId id="272"/>
          </p14:sldIdLst>
        </p14:section>
        <p14:section name="Материалы" id="{0F84D0DE-CEB1-417E-B269-8B3EB04B5FA6}">
          <p14:sldIdLst>
            <p14:sldId id="338"/>
            <p14:sldId id="368"/>
            <p14:sldId id="341"/>
            <p14:sldId id="342"/>
            <p14:sldId id="343"/>
            <p14:sldId id="344"/>
            <p14:sldId id="346"/>
            <p14:sldId id="357"/>
          </p14:sldIdLst>
        </p14:section>
      </p14:sectionLst>
    </p:ext>
    <p:ext uri="{EFAFB233-063F-42B5-8137-9DF3F51BA10A}">
      <p15:sldGuideLst xmlns:p15="http://schemas.microsoft.com/office/powerpoint/2012/main" xmlns="">
        <p15:guide id="2" pos="597" userDrawn="1">
          <p15:clr>
            <a:srgbClr val="A4A3A4"/>
          </p15:clr>
        </p15:guide>
        <p15:guide id="3" pos="3591" userDrawn="1">
          <p15:clr>
            <a:srgbClr val="A4A3A4"/>
          </p15:clr>
        </p15:guide>
        <p15:guide id="4" pos="5496" userDrawn="1">
          <p15:clr>
            <a:srgbClr val="A4A3A4"/>
          </p15:clr>
        </p15:guide>
        <p15:guide id="5" pos="4112" userDrawn="1">
          <p15:clr>
            <a:srgbClr val="A4A3A4"/>
          </p15:clr>
        </p15:guide>
        <p15:guide id="6" pos="393" userDrawn="1">
          <p15:clr>
            <a:srgbClr val="A4A3A4"/>
          </p15:clr>
        </p15:guide>
        <p15:guide id="7" orient="horz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 xmlns="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 xmlns="">
          <a:srgbClr val="FF0000"/>
        </p14:laserClr>
      </p:ext>
      <p:ext uri="{2FDB2607-1784-4EEB-B798-7EB5836EED8A}">
        <p14:showMediaCtrls xmlns:p14="http://schemas.microsoft.com/office/powerpoint/2010/main" xmlns="" val="1"/>
      </p:ext>
    </p:extLst>
  </p:showPr>
  <p:clrMru>
    <a:srgbClr val="DCCEE4"/>
    <a:srgbClr val="FFD6E3"/>
    <a:srgbClr val="FFFFFF"/>
    <a:srgbClr val="753A93"/>
    <a:srgbClr val="976BAE"/>
    <a:srgbClr val="F92571"/>
    <a:srgbClr val="8226E3"/>
    <a:srgbClr val="2D1451"/>
    <a:srgbClr val="222A35"/>
    <a:srgbClr val="55D4EE"/>
  </p:clrMru>
  <p:extLst>
    <p:ext uri="{E76CE94A-603C-4142-B9EB-6D1370010A27}">
      <p14:discardImageEditData xmlns:p14="http://schemas.microsoft.com/office/powerpoint/2010/main" xmlns="" val="0"/>
    </p:ext>
    <p:ext uri="{D31A062A-798A-4329-ABDD-BBA856620510}">
      <p14:defaultImageDpi xmlns:p14="http://schemas.microsoft.com/office/powerpoint/2010/main" xmlns="" val="32767"/>
    </p:ext>
    <p:ext uri="{FD5EFAAD-0ECE-453E-9831-46B23BE46B34}">
      <p15:chartTrackingRefBased xmlns:p15="http://schemas.microsoft.com/office/powerpoint/2012/main" xmlns="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>
    <p:restoredLeft sz="16583" autoAdjust="0"/>
    <p:restoredTop sz="95839"/>
  </p:normalViewPr>
  <p:slideViewPr>
    <p:cSldViewPr snapToGrid="0" showGuides="1">
      <p:cViewPr varScale="1">
        <p:scale>
          <a:sx n="111" d="100"/>
          <a:sy n="111" d="100"/>
        </p:scale>
        <p:origin x="-462" y="-90"/>
      </p:cViewPr>
      <p:guideLst>
        <p:guide orient="horz" pos="2160"/>
        <p:guide pos="597"/>
        <p:guide pos="3591"/>
        <p:guide pos="5496"/>
        <p:guide pos="4112"/>
        <p:guide pos="393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86" d="100"/>
          <a:sy n="86" d="100"/>
        </p:scale>
        <p:origin x="3928" y="208"/>
      </p:cViewPr>
      <p:guideLst/>
    </p:cSldViewPr>
  </p:notesViewPr>
  <p:gridSpacing cx="73736200" cy="7373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handoutMaster" Target="handoutMasters/handoutMaster1.xml"/><Relationship Id="rId22" Type="http://schemas.openxmlformats.org/officeDocument/2006/relationships/presProps" Target="presProps.xml"/><Relationship Id="rId23" Type="http://schemas.openxmlformats.org/officeDocument/2006/relationships/viewProps" Target="viewProps.xml"/><Relationship Id="rId24" Type="http://schemas.openxmlformats.org/officeDocument/2006/relationships/theme" Target="theme/theme1.xml"/><Relationship Id="rId25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_____Microsoft_Office_Excel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5.1688300241682347E-2"/>
          <c:y val="0.12693525390367638"/>
          <c:w val="0.92608602339057577"/>
          <c:h val="0.66747142271661164"/>
        </c:manualLayout>
      </c:layout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0-AE86-41F6-8A85-7879D9C60F88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12</c:v>
                </c:pt>
                <c:pt idx="1">
                  <c:v>12</c:v>
                </c:pt>
                <c:pt idx="2">
                  <c:v>11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txPr>
              <a:bodyPr/>
              <a:lstStyle/>
              <a:p>
                <a:pPr>
                  <a:defRPr sz="1800" b="1">
                    <a:solidFill>
                      <a:srgbClr val="141414"/>
                    </a:solidFill>
                    <a:latin typeface="Montserrat"/>
                  </a:defRPr>
                </a:pPr>
                <a:endParaRPr lang="ru-RU"/>
              </a:p>
            </c:txPr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
66 заявок</c:v>
                </c:pt>
                <c:pt idx="1">
                  <c:v>Юго-восток
83 заявки</c:v>
                </c:pt>
                <c:pt idx="2">
                  <c:v>Югоцентр
56 заявок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8</c:v>
                </c:pt>
                <c:pt idx="1">
                  <c:v>10</c:v>
                </c:pt>
                <c:pt idx="2">
                  <c:v>6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1-AE86-41F6-8A85-7879D9C60F88}"/>
            </c:ext>
          </c:extLst>
        </c:ser>
        <c:dLbls>
          <c:showVal val="1"/>
        </c:dLbls>
        <c:gapWidth val="80"/>
        <c:overlap val="-15"/>
        <c:axId val="145644544"/>
        <c:axId val="157525888"/>
      </c:barChart>
      <c:catAx>
        <c:axId val="145644544"/>
        <c:scaling>
          <c:orientation val="minMax"/>
        </c:scaling>
        <c:axPos val="b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200" b="1" i="0" u="none" strike="noStrike" kern="1200" baseline="0">
                <a:solidFill>
                  <a:srgbClr val="141414"/>
                </a:solidFill>
                <a:latin typeface="Montserrat"/>
                <a:ea typeface="+mn-ea"/>
                <a:cs typeface="+mn-cs"/>
              </a:defRPr>
            </a:pPr>
            <a:endParaRPr lang="ru-RU"/>
          </a:p>
        </c:txPr>
        <c:crossAx val="157525888"/>
        <c:crosses val="autoZero"/>
        <c:auto val="1"/>
        <c:lblAlgn val="ctr"/>
        <c:lblOffset val="100"/>
      </c:catAx>
      <c:valAx>
        <c:axId val="157525888"/>
        <c:scaling>
          <c:orientation val="minMax"/>
          <c:max val="14"/>
          <c:min val="0"/>
        </c:scaling>
        <c:delete val="1"/>
        <c:axPos val="l"/>
        <c:numFmt formatCode="0.0" sourceLinked="1"/>
        <c:majorTickMark val="none"/>
        <c:tickLblPos val="none"/>
        <c:crossAx val="145644544"/>
        <c:crosses val="autoZero"/>
        <c:crossBetween val="between"/>
      </c:valAx>
      <c:spPr>
        <a:noFill/>
        <a:ln w="25400">
          <a:noFill/>
        </a:ln>
        <a:effectLst/>
      </c:spPr>
    </c:plotArea>
    <c:legend>
      <c:legendPos val="b"/>
      <c:layout>
        <c:manualLayout>
          <c:xMode val="edge"/>
          <c:yMode val="edge"/>
          <c:x val="3.0340673321854045E-2"/>
          <c:y val="0.93820074285734656"/>
          <c:w val="0.94740055839426551"/>
          <c:h val="6.179925714265315E-2"/>
        </c:manualLayout>
      </c:layout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200" b="0" i="0" u="none" strike="noStrike" kern="1200" baseline="0">
              <a:solidFill>
                <a:srgbClr val="141414"/>
              </a:solidFill>
              <a:latin typeface="Montserrat"/>
              <a:ea typeface="+mn-ea"/>
              <a:cs typeface="+mn-cs"/>
            </a:defRPr>
          </a:pPr>
          <a:endParaRPr lang="ru-RU"/>
        </a:p>
      </c:txPr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/>
      <c:barChart>
        <c:barDir val="bar"/>
        <c:grouping val="clustered"/>
        <c:ser>
          <c:idx val="1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solidFill>
              <a:srgbClr val="A1A1A1"/>
            </a:solidFill>
            <a:ln w="9525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Sheet1!$B$2:$B$4</c:f>
              <c:numCache>
                <c:formatCode>0.0</c:formatCode>
                <c:ptCount val="3"/>
                <c:pt idx="0">
                  <c:v>359.57</c:v>
                </c:pt>
                <c:pt idx="1">
                  <c:v>1006.69</c:v>
                </c:pt>
                <c:pt idx="2">
                  <c:v>303.78999999999985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2"/>
          <c:order val="1"/>
          <c:tx>
            <c:strRef>
              <c:f>Sheet1!$C$1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solidFill>
              <a:srgbClr val="141414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Sheet1!$C$2:$C$4</c:f>
              <c:numCache>
                <c:formatCode>0.0</c:formatCode>
                <c:ptCount val="3"/>
                <c:pt idx="0">
                  <c:v>282.04000000000002</c:v>
                </c:pt>
                <c:pt idx="1">
                  <c:v>342.92999999999984</c:v>
                </c:pt>
                <c:pt idx="2">
                  <c:v>231.73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ser>
          <c:idx val="3"/>
          <c:order val="2"/>
          <c:tx>
            <c:strRef>
              <c:f>Sheet1!$D$1</c:f>
              <c:strCache>
                <c:ptCount val="1"/>
                <c:pt idx="0">
                  <c:v>Наш план</c:v>
                </c:pt>
              </c:strCache>
            </c:strRef>
          </c:tx>
          <c:spPr>
            <a:solidFill>
              <a:srgbClr val="FFC800"/>
            </a:solidFill>
            <a:ln w="63500">
              <a:noFill/>
            </a:ln>
            <a:effectLst/>
          </c:spPr>
          <c:dLbls>
            <c:numFmt formatCode="0" sourceLinked="0"/>
            <c:dLblPos val="outEnd"/>
            <c:showVal val="1"/>
          </c:dLbls>
          <c:cat>
            <c:strRef>
              <c:f>Sheet1!$A$2:$A$4</c:f>
              <c:strCache>
                <c:ptCount val="3"/>
                <c:pt idx="0">
                  <c:v>Восток</c:v>
                </c:pt>
                <c:pt idx="1">
                  <c:v>Юго-восток</c:v>
                </c:pt>
                <c:pt idx="2">
                  <c:v>Югоцентр</c:v>
                </c:pt>
              </c:strCache>
            </c:strRef>
          </c:cat>
          <c:val>
            <c:numRef>
              <c:f>Sheet1!$D$2:$D$4</c:f>
              <c:numCache>
                <c:formatCode>0.0</c:formatCode>
                <c:ptCount val="3"/>
                <c:pt idx="0">
                  <c:v>241.8</c:v>
                </c:pt>
                <c:pt idx="1">
                  <c:v>361.87</c:v>
                </c:pt>
                <c:pt idx="2">
                  <c:v>171.79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6-B35E-4C45-8CA2-C11611997942}"/>
            </c:ext>
          </c:extLst>
        </c:ser>
        <c:dLbls>
          <c:showVal val="1"/>
        </c:dLbls>
        <c:gapWidth val="60"/>
        <c:overlap val="-10"/>
        <c:axId val="183964416"/>
        <c:axId val="185482624"/>
      </c:barChart>
      <c:catAx>
        <c:axId val="183964416"/>
        <c:scaling>
          <c:orientation val="maxMin"/>
        </c:scaling>
        <c:axPos val="l"/>
        <c:numFmt formatCode="General" sourceLinked="1"/>
        <c:majorTickMark val="none"/>
        <c:tickLblPos val="nextTo"/>
        <c:spPr>
          <a:noFill/>
          <a:ln w="9525" cap="flat" cmpd="sng" algn="ctr">
            <a:solidFill>
              <a:srgbClr val="D9D9D9"/>
            </a:solidFill>
            <a:round/>
          </a:ln>
          <a:effectLst/>
        </c:spPr>
        <c:txPr>
          <a:bodyPr rot="-60000000" vert="horz"/>
          <a:lstStyle/>
          <a:p>
            <a:pPr>
              <a:defRPr/>
            </a:pPr>
            <a:endParaRPr lang="ru-RU"/>
          </a:p>
        </c:txPr>
        <c:crossAx val="185482624"/>
        <c:crosses val="autoZero"/>
        <c:auto val="1"/>
        <c:lblAlgn val="ctr"/>
        <c:lblOffset val="100"/>
      </c:catAx>
      <c:valAx>
        <c:axId val="185482624"/>
        <c:scaling>
          <c:orientation val="minMax"/>
          <c:max val="1180"/>
          <c:min val="0"/>
        </c:scaling>
        <c:delete val="1"/>
        <c:axPos val="t"/>
        <c:numFmt formatCode="0.0" sourceLinked="1"/>
        <c:majorTickMark val="none"/>
        <c:tickLblPos val="none"/>
        <c:crossAx val="18396441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/>
    </c:legend>
    <c:plotVisOnly val="1"/>
    <c:dispBlanksAs val="gap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Базовый вариант из ТЗ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144</c:v>
                </c:pt>
                <c:pt idx="1">
                  <c:v>0</c:v>
                </c:pt>
                <c:pt idx="2">
                  <c:v>61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Диспетчеры Билайна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 w="63500" cap="rnd">
                <a:solidFill>
                  <a:srgbClr val="141414"/>
                </a:solidFill>
              </a:ln>
            </c:spPr>
          </c:dPt>
          <c:dPt>
            <c:idx val="2"/>
            <c:spPr>
              <a:solidFill>
                <a:srgbClr val="A1A1A1"/>
              </a:solidFill>
              <a:ln w="63500" cap="rnd">
                <a:solidFill>
                  <a:srgbClr val="A1A1A1"/>
                </a:solidFill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FFFFFF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170</c:v>
                </c:pt>
                <c:pt idx="1">
                  <c:v>33</c:v>
                </c:pt>
                <c:pt idx="2">
                  <c:v>2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1"/>
  <c:lang val="ru-RU"/>
  <c:chart>
    <c:autoTitleDeleted val="1"/>
    <c:plotArea>
      <c:layout>
        <c:manualLayout>
          <c:layoutTarget val="inner"/>
          <c:xMode val="edge"/>
          <c:yMode val="edge"/>
          <c:x val="4.0000000000000022E-2"/>
          <c:y val="4.0000000000000022E-2"/>
          <c:w val="0.92"/>
          <c:h val="0.92"/>
        </c:manualLayout>
      </c:layout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Наш план</c:v>
                </c:pt>
              </c:strCache>
            </c:strRef>
          </c:tx>
          <c:spPr>
            <a:ln w="63500"/>
          </c:spPr>
          <c:dPt>
            <c:idx val="0"/>
            <c:spPr>
              <a:solidFill>
                <a:srgbClr val="FFC800"/>
              </a:solidFill>
              <a:ln w="63500" cap="rnd">
                <a:solidFill>
                  <a:srgbClr val="FFC800"/>
                </a:solidFill>
              </a:ln>
            </c:spPr>
          </c:dPt>
          <c:dPt>
            <c:idx val="1"/>
            <c:spPr>
              <a:solidFill>
                <a:srgbClr val="141414"/>
              </a:solidFill>
              <a:ln>
                <a:noFill/>
              </a:ln>
            </c:spPr>
          </c:dPt>
          <c:dPt>
            <c:idx val="2"/>
            <c:spPr>
              <a:solidFill>
                <a:srgbClr val="A1A1A1"/>
              </a:solidFill>
              <a:ln>
                <a:noFill/>
              </a:ln>
            </c:spPr>
          </c:dPt>
          <c:dLbls>
            <c:dLbl>
              <c:idx val="0"/>
              <c:numFmt formatCode="0%" sourceLinked="0"/>
              <c:spPr>
                <a:noFill/>
                <a:ln>
                  <a:noFill/>
                </a:ln>
              </c:spPr>
              <c:txPr>
                <a:bodyPr/>
                <a:lstStyle/>
                <a:p>
                  <a:pPr>
                    <a:defRPr sz="1200" b="1">
                      <a:solidFill>
                        <a:srgbClr val="141414"/>
                      </a:solidFill>
                      <a:latin typeface="Montserrat"/>
                    </a:defRPr>
                  </a:pPr>
                  <a:endParaRPr lang="ru-RU"/>
                </a:p>
              </c:txPr>
            </c:dLbl>
            <c:dLbl>
              <c:idx val="1"/>
              <c:delete val="1"/>
            </c:dLbl>
            <c:dLbl>
              <c:idx val="2"/>
              <c:delete val="1"/>
            </c:dLbl>
            <c:numFmt formatCode="0%" sourceLinked="0"/>
            <c:spPr>
              <a:noFill/>
              <a:ln>
                <a:noFill/>
              </a:ln>
            </c:spPr>
            <c:showPercent val="1"/>
          </c:dLbls>
          <c:cat>
            <c:strRef>
              <c:f>Sheet1!$A$2:$A$4</c:f>
              <c:strCache>
                <c:ptCount val="3"/>
                <c:pt idx="0">
                  <c:v>без нарушений</c:v>
                </c:pt>
                <c:pt idx="1">
                  <c:v>с нарушением окна, смены или плеча</c:v>
                </c:pt>
                <c:pt idx="2">
                  <c:v>без исполнителя</c:v>
                </c:pt>
              </c:strCache>
            </c:strRef>
          </c:cat>
          <c:val>
            <c:numRef>
              <c:f>Sheet1!$B$2:$B$4</c:f>
              <c:numCache>
                <c:formatCode>0</c:formatCode>
                <c:ptCount val="3"/>
                <c:pt idx="0">
                  <c:v>205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  <c:extLst xmlns:c16r2="http://schemas.microsoft.com/office/drawing/2015/06/chart">
            <c:ext xmlns:c16="http://schemas.microsoft.com/office/drawing/2014/chart" uri="{C3380CC4-5D6E-409C-BE32-E72D297353CC}">
              <c16:uniqueId val="{00000008-0AC9-4320-A20C-3707168A0262}"/>
            </c:ext>
          </c:extLst>
        </c:ser>
        <c:firstSliceAng val="0"/>
        <c:holeSize val="60"/>
      </c:doughnutChart>
      <c:spPr>
        <a:noFill/>
        <a:ln>
          <a:noFill/>
        </a:ln>
        <a:effectLst/>
      </c:spPr>
    </c:plotArea>
    <c:plotVisOnly val="1"/>
    <c:dispBlanksAs val="zero"/>
    <c:extLst xmlns:c16r2="http://schemas.microsoft.com/office/drawing/2015/06/chart"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 sz="1200">
          <a:solidFill>
            <a:srgbClr val="141414"/>
          </a:solidFill>
          <a:latin typeface="Montserrat"/>
        </a:defRPr>
      </a:pPr>
      <a:endParaRPr lang="ru-RU"/>
    </a:p>
  </c:txPr>
  <c:externalData r:id="rId1"/>
</c:chartSpace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>
            <a:extLst>
              <a:ext uri="{FF2B5EF4-FFF2-40B4-BE49-F238E27FC236}">
                <a16:creationId xmlns:a16="http://schemas.microsoft.com/office/drawing/2014/main" xmlns="" id="{1C361405-0046-9D03-26A4-D7ED10EA70C2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xmlns="" id="{556CD2AD-A19E-4074-721F-6DBCBE680A42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E30D66-5BAA-C245-AD36-181B8EC875DB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xmlns="" id="{41947EE2-63DA-C2A1-5495-30E370423A5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xmlns="" id="{3752603B-A0BC-AAAA-B5D6-B44F54E18AB9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CD7201F-1F39-2140-9B4A-3BC1B61B40B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313662866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DA401BA-3150-4FF7-8D13-C8A64268AC63}" type="datetimeFigureOut">
              <a:rPr lang="ru-RU" smtClean="0"/>
              <a:pPr/>
              <a:t>27.09.2026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D5F3B14-7AC8-406F-A299-37D374056E4F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4964453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024CF317-460F-D66A-6ACF-27061C9DF4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2D066F97-A6A0-B747-71F9-577306DB29D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80F9F05F-4377-CED9-7FF7-AADFCC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618DC8F5-67F2-F257-7833-1FEA7A6F23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264532721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xmlns="" id="{E3E69046-74A9-6BC0-030F-AF9856808D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>
            <a:extLst>
              <a:ext uri="{FF2B5EF4-FFF2-40B4-BE49-F238E27FC236}">
                <a16:creationId xmlns:a16="http://schemas.microsoft.com/office/drawing/2014/main" xmlns="" id="{E235548D-D889-0AAA-F16C-FBBD8FABB95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>
            <a:extLst>
              <a:ext uri="{FF2B5EF4-FFF2-40B4-BE49-F238E27FC236}">
                <a16:creationId xmlns:a16="http://schemas.microsoft.com/office/drawing/2014/main" xmlns="" id="{62BED857-8CFB-C4D0-8AA7-4E459CD5CA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xmlns="" id="{C80FF5E7-0C77-0F13-CEBC-1525084DF81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D5F3B14-7AC8-406F-A299-37D374056E4F}" type="slidenum">
              <a:rPr lang="ru-RU" smtClean="0"/>
              <a:pPr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xmlns="" val="1852856824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Титульный слайд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Иконка задачи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BDEF1F2D-30AB-40F9-9975-F952E50B7FCA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0" y="4323440"/>
            <a:ext cx="8930641" cy="827011"/>
          </a:xfr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НАЗВАНИЕ КОМАНДЫ</a:t>
            </a:r>
          </a:p>
        </p:txBody>
      </p:sp>
      <p:sp>
        <p:nvSpPr>
          <p:cNvPr id="42" name="Рисунок 41">
            <a:extLst>
              <a:ext uri="{FF2B5EF4-FFF2-40B4-BE49-F238E27FC236}">
                <a16:creationId xmlns:a16="http://schemas.microsoft.com/office/drawing/2014/main" xmlns="" id="{37DC0E9B-2679-408D-851C-F21F4ACC673A}"/>
              </a:ext>
            </a:extLst>
          </p:cNvPr>
          <p:cNvSpPr>
            <a:spLocks noGrp="1"/>
          </p:cNvSpPr>
          <p:nvPr>
            <p:ph type="pic" sz="quarter" idx="11" hasCustomPrompt="1"/>
          </p:nvPr>
        </p:nvSpPr>
        <p:spPr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Логотип/логотипы постановщика задачи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93F843A1-4640-4AAD-9DA4-206FA9FF2A48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0" y="5149851"/>
            <a:ext cx="8930641" cy="757174"/>
          </a:xfr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r>
              <a:rPr lang="ru-RU" sz="1600" b="0" dirty="0"/>
              <a:t>Номер и название задачи</a:t>
            </a:r>
          </a:p>
        </p:txBody>
      </p:sp>
    </p:spTree>
    <p:extLst>
      <p:ext uri="{BB962C8B-B14F-4D97-AF65-F5344CB8AC3E}">
        <p14:creationId xmlns:p14="http://schemas.microsoft.com/office/powerpoint/2010/main" xmlns="" val="23497694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Описание команд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Рисунок 10">
            <a:extLst>
              <a:ext uri="{FF2B5EF4-FFF2-40B4-BE49-F238E27FC236}">
                <a16:creationId xmlns:a16="http://schemas.microsoft.com/office/drawing/2014/main" xmlns="" id="{DB9898DE-D265-4051-B751-CA3C0058CECA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r>
              <a:rPr lang="ru-RU" dirty="0"/>
              <a:t>Фото команды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1CA6654-BEE5-24C9-BC9D-BB6D2E0BEFA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</p:spTree>
    <p:extLst>
      <p:ext uri="{BB962C8B-B14F-4D97-AF65-F5344CB8AC3E}">
        <p14:creationId xmlns:p14="http://schemas.microsoft.com/office/powerpoint/2010/main" xmlns="" val="166295058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Команд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67EB9651-F031-4963-AFE9-33BCC0E8875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45" name="Заголовок 1">
            <a:extLst>
              <a:ext uri="{FF2B5EF4-FFF2-40B4-BE49-F238E27FC236}">
                <a16:creationId xmlns:a16="http://schemas.microsoft.com/office/drawing/2014/main" xmlns="" id="{DD9DB7EE-83C4-47FA-86C2-BDA70A0531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r>
              <a:rPr lang="ru-RU" dirty="0"/>
              <a:t>КОМАНДА «НАЗВАНИЕ»</a:t>
            </a:r>
          </a:p>
        </p:txBody>
      </p:sp>
      <p:sp>
        <p:nvSpPr>
          <p:cNvPr id="47" name="Текст 35">
            <a:extLst>
              <a:ext uri="{FF2B5EF4-FFF2-40B4-BE49-F238E27FC236}">
                <a16:creationId xmlns:a16="http://schemas.microsoft.com/office/drawing/2014/main" xmlns="" id="{FACA3955-006D-424E-AF29-FC0EE3BE8601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49" name="Текст 35">
            <a:extLst>
              <a:ext uri="{FF2B5EF4-FFF2-40B4-BE49-F238E27FC236}">
                <a16:creationId xmlns:a16="http://schemas.microsoft.com/office/drawing/2014/main" xmlns="" id="{D134429E-1F41-4952-92F7-E1A3625ABBD9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1" name="Текст 35">
            <a:extLst>
              <a:ext uri="{FF2B5EF4-FFF2-40B4-BE49-F238E27FC236}">
                <a16:creationId xmlns:a16="http://schemas.microsoft.com/office/drawing/2014/main" xmlns="" id="{62B71317-1166-483E-8736-3204197AE648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3" name="Текст 35">
            <a:extLst>
              <a:ext uri="{FF2B5EF4-FFF2-40B4-BE49-F238E27FC236}">
                <a16:creationId xmlns:a16="http://schemas.microsoft.com/office/drawing/2014/main" xmlns="" id="{FE441C73-4DA4-470D-B9C8-52D6075710B5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  <p:sp>
        <p:nvSpPr>
          <p:cNvPr id="55" name="Текст 35">
            <a:extLst>
              <a:ext uri="{FF2B5EF4-FFF2-40B4-BE49-F238E27FC236}">
                <a16:creationId xmlns:a16="http://schemas.microsoft.com/office/drawing/2014/main" xmlns="" id="{8792BADF-06A6-41F5-BB39-A425B78E145D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 pitchFamily="2" charset="2"/>
              <a:buChar char="§"/>
              <a:defRPr sz="1400"/>
            </a:lvl1pPr>
          </a:lstStyle>
          <a:p>
            <a:pPr lvl="0"/>
            <a:r>
              <a:rPr lang="ru-RU" dirty="0"/>
              <a:t>Роль в команде</a:t>
            </a:r>
          </a:p>
          <a:p>
            <a:pPr lvl="0"/>
            <a:r>
              <a:rPr lang="en-US" dirty="0"/>
              <a:t>Telegram</a:t>
            </a:r>
          </a:p>
          <a:p>
            <a:pPr lvl="0"/>
            <a:r>
              <a:rPr lang="ru-RU" dirty="0"/>
              <a:t>Номер</a:t>
            </a:r>
          </a:p>
        </p:txBody>
      </p:sp>
    </p:spTree>
    <p:extLst>
      <p:ext uri="{BB962C8B-B14F-4D97-AF65-F5344CB8AC3E}">
        <p14:creationId xmlns:p14="http://schemas.microsoft.com/office/powerpoint/2010/main" xmlns="" val="218743508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стой с заголовко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Дата 3">
            <a:extLst>
              <a:ext uri="{FF2B5EF4-FFF2-40B4-BE49-F238E27FC236}">
                <a16:creationId xmlns:a16="http://schemas.microsoft.com/office/drawing/2014/main" xmlns="" id="{1BE2B7EA-895D-4C57-B021-3ADF48C5983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1021F813-DBA1-42EC-A748-A9CC16659E6B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4">
            <a:extLst>
              <a:ext uri="{FF2B5EF4-FFF2-40B4-BE49-F238E27FC236}">
                <a16:creationId xmlns:a16="http://schemas.microsoft.com/office/drawing/2014/main" xmlns="" id="{8A502BD2-9512-4029-B654-E898F0583F0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1" name="Номер слайда 5">
            <a:extLst>
              <a:ext uri="{FF2B5EF4-FFF2-40B4-BE49-F238E27FC236}">
                <a16:creationId xmlns:a16="http://schemas.microsoft.com/office/drawing/2014/main" xmlns="" id="{E6724899-9B39-4945-8292-0304D1DFF6A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0664328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Текст 2">
            <a:extLst>
              <a:ext uri="{FF2B5EF4-FFF2-40B4-BE49-F238E27FC236}">
                <a16:creationId xmlns:a16="http://schemas.microsoft.com/office/drawing/2014/main" xmlns="" id="{35915C91-9468-44E0-9A6A-47C151E1C5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21" name="Дата 3">
            <a:extLst>
              <a:ext uri="{FF2B5EF4-FFF2-40B4-BE49-F238E27FC236}">
                <a16:creationId xmlns:a16="http://schemas.microsoft.com/office/drawing/2014/main" xmlns="" id="{6043336A-E468-4FC7-B11B-D72F244391A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7DE2642A-6018-4CC1-81AB-5FD8D2782D4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22" name="Нижний колонтитул 4">
            <a:extLst>
              <a:ext uri="{FF2B5EF4-FFF2-40B4-BE49-F238E27FC236}">
                <a16:creationId xmlns:a16="http://schemas.microsoft.com/office/drawing/2014/main" xmlns="" id="{49E78A2F-D265-4D7D-BF63-75BF9ACF92A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3" name="Номер слайда 5">
            <a:extLst>
              <a:ext uri="{FF2B5EF4-FFF2-40B4-BE49-F238E27FC236}">
                <a16:creationId xmlns:a16="http://schemas.microsoft.com/office/drawing/2014/main" xmlns="" id="{25A0EB89-1F02-40E6-9D89-EAA34874BF0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4" name="Заголовок 1">
            <a:extLst>
              <a:ext uri="{FF2B5EF4-FFF2-40B4-BE49-F238E27FC236}">
                <a16:creationId xmlns:a16="http://schemas.microsoft.com/office/drawing/2014/main" xmlns="" id="{D3BCB09B-B5ED-4308-BCBC-7DB6BF7E0D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468899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DE4079CB-26E5-4E7E-8375-84F47484485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315387" y="1016001"/>
            <a:ext cx="5704418" cy="518477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C0B9B70F-56BE-4BFF-9AF1-3E24439A89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6" y="1016001"/>
            <a:ext cx="5670473" cy="5184774"/>
          </a:xfrm>
        </p:spPr>
        <p:txBody>
          <a:bodyPr/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14" name="Дата 3">
            <a:extLst>
              <a:ext uri="{FF2B5EF4-FFF2-40B4-BE49-F238E27FC236}">
                <a16:creationId xmlns:a16="http://schemas.microsoft.com/office/drawing/2014/main" xmlns="" id="{A4424B46-3BA8-41B1-9808-8558C0F0E6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3014BBE-C503-4380-A869-5EE8294FE947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5" name="Нижний колонтитул 4">
            <a:extLst>
              <a:ext uri="{FF2B5EF4-FFF2-40B4-BE49-F238E27FC236}">
                <a16:creationId xmlns:a16="http://schemas.microsoft.com/office/drawing/2014/main" xmlns="" id="{4D73747B-1894-47A4-9E8B-797D1562EA7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6" name="Номер слайда 5">
            <a:extLst>
              <a:ext uri="{FF2B5EF4-FFF2-40B4-BE49-F238E27FC236}">
                <a16:creationId xmlns:a16="http://schemas.microsoft.com/office/drawing/2014/main" xmlns="" id="{0C3B5973-5E99-43F7-82C6-8E450D7A985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7" name="Заголовок 1">
            <a:extLst>
              <a:ext uri="{FF2B5EF4-FFF2-40B4-BE49-F238E27FC236}">
                <a16:creationId xmlns:a16="http://schemas.microsoft.com/office/drawing/2014/main" xmlns="" id="{96698D82-4C1C-4876-84CF-285AAC9104D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2158693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D286EEAA-87D1-47A5-B9C0-E5BAD703F0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xmlns="" id="{4A2D29F1-B583-4C98-B07B-171DC3552B4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349334" y="1598615"/>
            <a:ext cx="5648250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ru-RU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DE6D3064-465D-4982-AF9F-41FF98FCBF9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66" b="1"/>
            </a:lvl2pPr>
            <a:lvl3pPr marL="578755" indent="0">
              <a:buNone/>
              <a:defRPr sz="1141" b="1"/>
            </a:lvl3pPr>
            <a:lvl4pPr marL="868132" indent="0">
              <a:buNone/>
              <a:defRPr sz="1013" b="1"/>
            </a:lvl4pPr>
            <a:lvl5pPr marL="1157510" indent="0">
              <a:buNone/>
              <a:defRPr sz="1013" b="1"/>
            </a:lvl5pPr>
            <a:lvl6pPr marL="1446887" indent="0">
              <a:buNone/>
              <a:defRPr sz="1013" b="1"/>
            </a:lvl6pPr>
            <a:lvl7pPr marL="1736266" indent="0">
              <a:buNone/>
              <a:defRPr sz="1013" b="1"/>
            </a:lvl7pPr>
            <a:lvl8pPr marL="2025644" indent="0">
              <a:buNone/>
              <a:defRPr sz="1013" b="1"/>
            </a:lvl8pPr>
            <a:lvl9pPr marL="2315021" indent="0">
              <a:buNone/>
              <a:defRPr sz="1013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xmlns="" id="{960E92CA-C4D7-4946-B437-9FCD4AA3134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2" y="1598615"/>
            <a:ext cx="5670473" cy="460216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2" name="Дата 3">
            <a:extLst>
              <a:ext uri="{FF2B5EF4-FFF2-40B4-BE49-F238E27FC236}">
                <a16:creationId xmlns:a16="http://schemas.microsoft.com/office/drawing/2014/main" xmlns="" id="{50BC46DB-57AA-4551-8F67-742F842E120D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D568497-304A-497F-ADAE-97D3CF462C1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3" name="Нижний колонтитул 4">
            <a:extLst>
              <a:ext uri="{FF2B5EF4-FFF2-40B4-BE49-F238E27FC236}">
                <a16:creationId xmlns:a16="http://schemas.microsoft.com/office/drawing/2014/main" xmlns="" id="{F2048DE5-D653-4BDE-8495-A22EF4A50A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4" name="Номер слайда 5">
            <a:extLst>
              <a:ext uri="{FF2B5EF4-FFF2-40B4-BE49-F238E27FC236}">
                <a16:creationId xmlns:a16="http://schemas.microsoft.com/office/drawing/2014/main" xmlns="" id="{E0E8C4D1-B7B4-4A6B-87A1-354341CD6A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5" name="Заголовок 1">
            <a:extLst>
              <a:ext uri="{FF2B5EF4-FFF2-40B4-BE49-F238E27FC236}">
                <a16:creationId xmlns:a16="http://schemas.microsoft.com/office/drawing/2014/main" xmlns="" id="{B533CD5F-4B3E-426C-9977-6EFBE36EEA5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14494714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2CB240C-04A3-49D4-83F9-87A9C6C414DC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85513828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78799615-B88F-452A-A6CA-6793B831650C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xmlns="" id="{5B30D2CC-2D7F-43FF-B9B4-355F7E46430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73"/>
            </a:lvl1pPr>
            <a:lvl2pPr>
              <a:defRPr sz="1520"/>
            </a:lvl2pPr>
            <a:lvl3pPr>
              <a:defRPr sz="1266"/>
            </a:lvl3pPr>
            <a:lvl4pPr>
              <a:defRPr sz="1141"/>
            </a:lvl4pPr>
            <a:lvl5pPr>
              <a:defRPr sz="1141"/>
            </a:lvl5pPr>
            <a:lvl6pPr>
              <a:defRPr sz="1266"/>
            </a:lvl6pPr>
            <a:lvl7pPr>
              <a:defRPr sz="1266"/>
            </a:lvl7pPr>
            <a:lvl8pPr>
              <a:defRPr sz="1266"/>
            </a:lvl8pPr>
            <a:lvl9pPr>
              <a:defRPr sz="1266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xmlns="" id="{23E8D86B-609C-423A-9220-D7DC81877B7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886"/>
            </a:lvl2pPr>
            <a:lvl3pPr marL="578755" indent="0">
              <a:buNone/>
              <a:defRPr sz="760"/>
            </a:lvl3pPr>
            <a:lvl4pPr marL="868132" indent="0">
              <a:buNone/>
              <a:defRPr sz="631"/>
            </a:lvl4pPr>
            <a:lvl5pPr marL="1157510" indent="0">
              <a:buNone/>
              <a:defRPr sz="631"/>
            </a:lvl5pPr>
            <a:lvl6pPr marL="1446887" indent="0">
              <a:buNone/>
              <a:defRPr sz="631"/>
            </a:lvl6pPr>
            <a:lvl7pPr marL="1736266" indent="0">
              <a:buNone/>
              <a:defRPr sz="631"/>
            </a:lvl7pPr>
            <a:lvl8pPr marL="2025644" indent="0">
              <a:buNone/>
              <a:defRPr sz="631"/>
            </a:lvl8pPr>
            <a:lvl9pPr marL="2315021" indent="0">
              <a:buNone/>
              <a:defRPr sz="63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8" name="Дата 3">
            <a:extLst>
              <a:ext uri="{FF2B5EF4-FFF2-40B4-BE49-F238E27FC236}">
                <a16:creationId xmlns:a16="http://schemas.microsoft.com/office/drawing/2014/main" xmlns="" id="{3D3B951D-08AE-4736-8D36-4EB9974DAC4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E74468B-3512-454B-AB51-7AE95604D39E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9" name="Нижний колонтитул 4">
            <a:extLst>
              <a:ext uri="{FF2B5EF4-FFF2-40B4-BE49-F238E27FC236}">
                <a16:creationId xmlns:a16="http://schemas.microsoft.com/office/drawing/2014/main" xmlns="" id="{D1D906C7-232A-4192-A02B-35F76470023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0" name="Номер слайда 5">
            <a:extLst>
              <a:ext uri="{FF2B5EF4-FFF2-40B4-BE49-F238E27FC236}">
                <a16:creationId xmlns:a16="http://schemas.microsoft.com/office/drawing/2014/main" xmlns="" id="{0E0F42FE-1DE2-4412-B92B-28748FBE7FC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558501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4">
            <a:extLst>
              <a:ext uri="{FF2B5EF4-FFF2-40B4-BE49-F238E27FC236}">
                <a16:creationId xmlns:a16="http://schemas.microsoft.com/office/drawing/2014/main" xmlns="" id="{6492DF34-242F-4712-ACC0-85E96FE006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AB2196-A440-4E25-B9FF-D0ADB01B1A1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xmlns="" id="{A5BFC209-E220-4DB1-9582-A06EDB7066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Заголовок 1">
            <a:extLst>
              <a:ext uri="{FF2B5EF4-FFF2-40B4-BE49-F238E27FC236}">
                <a16:creationId xmlns:a16="http://schemas.microsoft.com/office/drawing/2014/main" xmlns="" id="{F045645C-2F92-4AF1-B96A-C79DEB76E78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r>
              <a:rPr lang="ru-RU" dirty="0"/>
              <a:t>ОБРАЗЕЦ ЗАГОЛОВКА</a:t>
            </a:r>
          </a:p>
        </p:txBody>
      </p:sp>
      <p:sp>
        <p:nvSpPr>
          <p:cNvPr id="18" name="Номер слайда 5">
            <a:extLst>
              <a:ext uri="{FF2B5EF4-FFF2-40B4-BE49-F238E27FC236}">
                <a16:creationId xmlns:a16="http://schemas.microsoft.com/office/drawing/2014/main" xmlns="" id="{424E19F6-1411-4AFE-9677-D4180DA214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05715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одержание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7BAE699-64F9-49EF-B784-2DEF2B221955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1" name="Текст 6">
            <a:extLst>
              <a:ext uri="{FF2B5EF4-FFF2-40B4-BE49-F238E27FC236}">
                <a16:creationId xmlns:a16="http://schemas.microsoft.com/office/drawing/2014/main" xmlns="" id="{A8E19DA3-4B31-4259-B9A7-5F7A2E642854}"/>
              </a:ext>
            </a:extLst>
          </p:cNvPr>
          <p:cNvSpPr>
            <a:spLocks noGrp="1"/>
          </p:cNvSpPr>
          <p:nvPr>
            <p:ph type="body" sz="quarter" idx="37" hasCustomPrompt="1"/>
          </p:nvPr>
        </p:nvSpPr>
        <p:spPr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2" name="Текст 9">
            <a:extLst>
              <a:ext uri="{FF2B5EF4-FFF2-40B4-BE49-F238E27FC236}">
                <a16:creationId xmlns:a16="http://schemas.microsoft.com/office/drawing/2014/main" xmlns="" id="{42FEA996-0F55-4FCB-8FCC-C78FEA766CFA}"/>
              </a:ext>
            </a:extLst>
          </p:cNvPr>
          <p:cNvSpPr>
            <a:spLocks noGrp="1"/>
          </p:cNvSpPr>
          <p:nvPr>
            <p:ph type="body" sz="quarter" idx="38" hasCustomPrompt="1"/>
          </p:nvPr>
        </p:nvSpPr>
        <p:spPr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3" name="Текст 6">
            <a:extLst>
              <a:ext uri="{FF2B5EF4-FFF2-40B4-BE49-F238E27FC236}">
                <a16:creationId xmlns:a16="http://schemas.microsoft.com/office/drawing/2014/main" xmlns="" id="{C4D8DFD8-867D-4062-800E-27B73FA83BFA}"/>
              </a:ext>
            </a:extLst>
          </p:cNvPr>
          <p:cNvSpPr>
            <a:spLocks noGrp="1"/>
          </p:cNvSpPr>
          <p:nvPr>
            <p:ph type="body" sz="quarter" idx="39" hasCustomPrompt="1"/>
          </p:nvPr>
        </p:nvSpPr>
        <p:spPr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4" name="Текст 9">
            <a:extLst>
              <a:ext uri="{FF2B5EF4-FFF2-40B4-BE49-F238E27FC236}">
                <a16:creationId xmlns:a16="http://schemas.microsoft.com/office/drawing/2014/main" xmlns="" id="{01B4FB59-79EB-42C6-8468-505204DD843D}"/>
              </a:ext>
            </a:extLst>
          </p:cNvPr>
          <p:cNvSpPr>
            <a:spLocks noGrp="1"/>
          </p:cNvSpPr>
          <p:nvPr>
            <p:ph type="body" sz="quarter" idx="40" hasCustomPrompt="1"/>
          </p:nvPr>
        </p:nvSpPr>
        <p:spPr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15" name="Текст 6">
            <a:extLst>
              <a:ext uri="{FF2B5EF4-FFF2-40B4-BE49-F238E27FC236}">
                <a16:creationId xmlns:a16="http://schemas.microsoft.com/office/drawing/2014/main" xmlns="" id="{2DD2E24E-A578-41A0-8812-3CEB5EB7DE20}"/>
              </a:ext>
            </a:extLst>
          </p:cNvPr>
          <p:cNvSpPr>
            <a:spLocks noGrp="1"/>
          </p:cNvSpPr>
          <p:nvPr>
            <p:ph type="body" sz="quarter" idx="41" hasCustomPrompt="1"/>
          </p:nvPr>
        </p:nvSpPr>
        <p:spPr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16" name="Текст 9">
            <a:extLst>
              <a:ext uri="{FF2B5EF4-FFF2-40B4-BE49-F238E27FC236}">
                <a16:creationId xmlns:a16="http://schemas.microsoft.com/office/drawing/2014/main" xmlns="" id="{29120726-8DD9-4194-A282-2630D18F49EA}"/>
              </a:ext>
            </a:extLst>
          </p:cNvPr>
          <p:cNvSpPr>
            <a:spLocks noGrp="1"/>
          </p:cNvSpPr>
          <p:nvPr>
            <p:ph type="body" sz="quarter" idx="42" hasCustomPrompt="1"/>
          </p:nvPr>
        </p:nvSpPr>
        <p:spPr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0" name="Текст 6">
            <a:extLst>
              <a:ext uri="{FF2B5EF4-FFF2-40B4-BE49-F238E27FC236}">
                <a16:creationId xmlns:a16="http://schemas.microsoft.com/office/drawing/2014/main" xmlns="" id="{F30BC2DD-F35E-474E-A833-EA478E7F80B7}"/>
              </a:ext>
            </a:extLst>
          </p:cNvPr>
          <p:cNvSpPr>
            <a:spLocks noGrp="1"/>
          </p:cNvSpPr>
          <p:nvPr>
            <p:ph type="body" sz="quarter" idx="43" hasCustomPrompt="1"/>
          </p:nvPr>
        </p:nvSpPr>
        <p:spPr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1" name="Текст 9">
            <a:extLst>
              <a:ext uri="{FF2B5EF4-FFF2-40B4-BE49-F238E27FC236}">
                <a16:creationId xmlns:a16="http://schemas.microsoft.com/office/drawing/2014/main" xmlns="" id="{7124A073-4FEB-4F54-A9B4-6797D7B46CC3}"/>
              </a:ext>
            </a:extLst>
          </p:cNvPr>
          <p:cNvSpPr>
            <a:spLocks noGrp="1"/>
          </p:cNvSpPr>
          <p:nvPr>
            <p:ph type="body" sz="quarter" idx="44" hasCustomPrompt="1"/>
          </p:nvPr>
        </p:nvSpPr>
        <p:spPr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2" name="Текст 6">
            <a:extLst>
              <a:ext uri="{FF2B5EF4-FFF2-40B4-BE49-F238E27FC236}">
                <a16:creationId xmlns:a16="http://schemas.microsoft.com/office/drawing/2014/main" xmlns="" id="{17FB4F65-9ABC-4376-8283-0F33F9BB91D6}"/>
              </a:ext>
            </a:extLst>
          </p:cNvPr>
          <p:cNvSpPr>
            <a:spLocks noGrp="1"/>
          </p:cNvSpPr>
          <p:nvPr>
            <p:ph type="body" sz="quarter" idx="45" hasCustomPrompt="1"/>
          </p:nvPr>
        </p:nvSpPr>
        <p:spPr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3" name="Текст 9">
            <a:extLst>
              <a:ext uri="{FF2B5EF4-FFF2-40B4-BE49-F238E27FC236}">
                <a16:creationId xmlns:a16="http://schemas.microsoft.com/office/drawing/2014/main" xmlns="" id="{C2E3AAAD-E9EB-4A42-ADAF-EDA850F01ED1}"/>
              </a:ext>
            </a:extLst>
          </p:cNvPr>
          <p:cNvSpPr>
            <a:spLocks noGrp="1"/>
          </p:cNvSpPr>
          <p:nvPr>
            <p:ph type="body" sz="quarter" idx="46" hasCustomPrompt="1"/>
          </p:nvPr>
        </p:nvSpPr>
        <p:spPr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4" name="Текст 6">
            <a:extLst>
              <a:ext uri="{FF2B5EF4-FFF2-40B4-BE49-F238E27FC236}">
                <a16:creationId xmlns:a16="http://schemas.microsoft.com/office/drawing/2014/main" xmlns="" id="{835470A4-56EB-4A53-A875-42155372D2DA}"/>
              </a:ext>
            </a:extLst>
          </p:cNvPr>
          <p:cNvSpPr>
            <a:spLocks noGrp="1"/>
          </p:cNvSpPr>
          <p:nvPr>
            <p:ph type="body" sz="quarter" idx="47" hasCustomPrompt="1"/>
          </p:nvPr>
        </p:nvSpPr>
        <p:spPr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Заголовок</a:t>
            </a:r>
          </a:p>
        </p:txBody>
      </p:sp>
      <p:sp>
        <p:nvSpPr>
          <p:cNvPr id="25" name="Текст 9">
            <a:extLst>
              <a:ext uri="{FF2B5EF4-FFF2-40B4-BE49-F238E27FC236}">
                <a16:creationId xmlns:a16="http://schemas.microsoft.com/office/drawing/2014/main" xmlns="" id="{ED3CC4C2-7EF9-4A4B-BDD1-B16EF36B84C3}"/>
              </a:ext>
            </a:extLst>
          </p:cNvPr>
          <p:cNvSpPr>
            <a:spLocks noGrp="1"/>
          </p:cNvSpPr>
          <p:nvPr>
            <p:ph type="body" sz="quarter" idx="48" hasCustomPrompt="1"/>
          </p:nvPr>
        </p:nvSpPr>
        <p:spPr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/>
            <a:r>
              <a:rPr lang="ru-RU" dirty="0"/>
              <a:t>Описание</a:t>
            </a:r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Текст 6">
            <a:extLst>
              <a:ext uri="{FF2B5EF4-FFF2-40B4-BE49-F238E27FC236}">
                <a16:creationId xmlns:a16="http://schemas.microsoft.com/office/drawing/2014/main" xmlns="" id="{53CEA4EC-5717-426C-A1A1-534D0A055245}"/>
              </a:ext>
            </a:extLst>
          </p:cNvPr>
          <p:cNvSpPr>
            <a:spLocks noGrp="1"/>
          </p:cNvSpPr>
          <p:nvPr>
            <p:ph type="body" sz="quarter" idx="49" hasCustomPrompt="1"/>
          </p:nvPr>
        </p:nvSpPr>
        <p:spPr>
          <a:xfrm>
            <a:off x="778493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01</a:t>
            </a:r>
          </a:p>
        </p:txBody>
      </p:sp>
      <p:sp>
        <p:nvSpPr>
          <p:cNvPr id="28" name="Текст 6">
            <a:extLst>
              <a:ext uri="{FF2B5EF4-FFF2-40B4-BE49-F238E27FC236}">
                <a16:creationId xmlns:a16="http://schemas.microsoft.com/office/drawing/2014/main" xmlns="" id="{ECD22E46-ECAB-4A6C-9243-E1661118B477}"/>
              </a:ext>
            </a:extLst>
          </p:cNvPr>
          <p:cNvSpPr>
            <a:spLocks noGrp="1"/>
          </p:cNvSpPr>
          <p:nvPr>
            <p:ph type="body" sz="quarter" idx="50" hasCustomPrompt="1"/>
          </p:nvPr>
        </p:nvSpPr>
        <p:spPr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02</a:t>
            </a:r>
          </a:p>
        </p:txBody>
      </p:sp>
      <p:sp>
        <p:nvSpPr>
          <p:cNvPr id="29" name="Текст 6">
            <a:extLst>
              <a:ext uri="{FF2B5EF4-FFF2-40B4-BE49-F238E27FC236}">
                <a16:creationId xmlns:a16="http://schemas.microsoft.com/office/drawing/2014/main" xmlns="" id="{A3CA815C-23B0-4736-B973-0A405AFC5D08}"/>
              </a:ext>
            </a:extLst>
          </p:cNvPr>
          <p:cNvSpPr>
            <a:spLocks noGrp="1"/>
          </p:cNvSpPr>
          <p:nvPr>
            <p:ph type="body" sz="quarter" idx="51" hasCustomPrompt="1"/>
          </p:nvPr>
        </p:nvSpPr>
        <p:spPr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03</a:t>
            </a:r>
          </a:p>
        </p:txBody>
      </p:sp>
      <p:sp>
        <p:nvSpPr>
          <p:cNvPr id="30" name="Текст 6">
            <a:extLst>
              <a:ext uri="{FF2B5EF4-FFF2-40B4-BE49-F238E27FC236}">
                <a16:creationId xmlns:a16="http://schemas.microsoft.com/office/drawing/2014/main" xmlns="" id="{0C64CE05-E630-4FDE-B773-3165E579B3B6}"/>
              </a:ext>
            </a:extLst>
          </p:cNvPr>
          <p:cNvSpPr>
            <a:spLocks noGrp="1"/>
          </p:cNvSpPr>
          <p:nvPr>
            <p:ph type="body" sz="quarter" idx="52" hasCustomPrompt="1"/>
          </p:nvPr>
        </p:nvSpPr>
        <p:spPr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04</a:t>
            </a:r>
          </a:p>
        </p:txBody>
      </p:sp>
      <p:sp>
        <p:nvSpPr>
          <p:cNvPr id="31" name="Текст 6">
            <a:extLst>
              <a:ext uri="{FF2B5EF4-FFF2-40B4-BE49-F238E27FC236}">
                <a16:creationId xmlns:a16="http://schemas.microsoft.com/office/drawing/2014/main" xmlns="" id="{52DBB510-86A6-45BB-B6E1-54FE5A86B490}"/>
              </a:ext>
            </a:extLst>
          </p:cNvPr>
          <p:cNvSpPr>
            <a:spLocks noGrp="1"/>
          </p:cNvSpPr>
          <p:nvPr>
            <p:ph type="body" sz="quarter" idx="53" hasCustomPrompt="1"/>
          </p:nvPr>
        </p:nvSpPr>
        <p:spPr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05</a:t>
            </a:r>
          </a:p>
        </p:txBody>
      </p:sp>
      <p:sp>
        <p:nvSpPr>
          <p:cNvPr id="32" name="Текст 6">
            <a:extLst>
              <a:ext uri="{FF2B5EF4-FFF2-40B4-BE49-F238E27FC236}">
                <a16:creationId xmlns:a16="http://schemas.microsoft.com/office/drawing/2014/main" xmlns="" id="{CA530A5B-20B1-4742-8CF2-55C8F5CC1E91}"/>
              </a:ext>
            </a:extLst>
          </p:cNvPr>
          <p:cNvSpPr>
            <a:spLocks noGrp="1"/>
          </p:cNvSpPr>
          <p:nvPr>
            <p:ph type="body" sz="quarter" idx="54" hasCustomPrompt="1"/>
          </p:nvPr>
        </p:nvSpPr>
        <p:spPr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xmlns="" val="418885800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Фотограф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CAFA80CC-940E-479C-90C0-76DA923785E9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7" name="Рисунок 7">
            <a:extLst>
              <a:ext uri="{FF2B5EF4-FFF2-40B4-BE49-F238E27FC236}">
                <a16:creationId xmlns:a16="http://schemas.microsoft.com/office/drawing/2014/main" xmlns="" id="{7F6989B1-EABA-40DD-BFD6-7E0075CDDEE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440147" y="1016001"/>
            <a:ext cx="4405777" cy="3078479"/>
          </a:xfrm>
        </p:spPr>
        <p:txBody>
          <a:bodyPr/>
          <a:lstStyle/>
          <a:p>
            <a:endParaRPr lang="ru-RU"/>
          </a:p>
        </p:txBody>
      </p:sp>
      <p:sp>
        <p:nvSpPr>
          <p:cNvPr id="28" name="Рисунок 9">
            <a:extLst>
              <a:ext uri="{FF2B5EF4-FFF2-40B4-BE49-F238E27FC236}">
                <a16:creationId xmlns:a16="http://schemas.microsoft.com/office/drawing/2014/main" xmlns="" id="{C157B27F-5477-43C4-BE9E-F7CF2A081F1A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440149" y="4389108"/>
            <a:ext cx="4405775" cy="1811668"/>
          </a:xfrm>
        </p:spPr>
        <p:txBody>
          <a:bodyPr/>
          <a:lstStyle/>
          <a:p>
            <a:endParaRPr lang="ru-RU" dirty="0"/>
          </a:p>
        </p:txBody>
      </p:sp>
      <p:sp>
        <p:nvSpPr>
          <p:cNvPr id="29" name="Рисунок 11">
            <a:extLst>
              <a:ext uri="{FF2B5EF4-FFF2-40B4-BE49-F238E27FC236}">
                <a16:creationId xmlns:a16="http://schemas.microsoft.com/office/drawing/2014/main" xmlns="" id="{3E695B26-F7D2-4380-AAA1-0FB24A689AA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46075" y="3223948"/>
            <a:ext cx="6806142" cy="2976827"/>
          </a:xfrm>
        </p:spPr>
        <p:txBody>
          <a:bodyPr/>
          <a:lstStyle/>
          <a:p>
            <a:endParaRPr lang="ru-RU"/>
          </a:p>
        </p:txBody>
      </p:sp>
      <p:sp>
        <p:nvSpPr>
          <p:cNvPr id="30" name="Текст 15">
            <a:extLst>
              <a:ext uri="{FF2B5EF4-FFF2-40B4-BE49-F238E27FC236}">
                <a16:creationId xmlns:a16="http://schemas.microsoft.com/office/drawing/2014/main" xmlns="" id="{7EA2CF14-9D94-4B6F-AAA7-0B38CBB654C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53601696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ункты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82A4DA7B-A7D8-4443-AD1C-4C7CDC678488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23" name="Текст 101">
            <a:extLst>
              <a:ext uri="{FF2B5EF4-FFF2-40B4-BE49-F238E27FC236}">
                <a16:creationId xmlns:a16="http://schemas.microsoft.com/office/drawing/2014/main" xmlns="" id="{B61EFF39-7063-4F67-A1C0-B9D05F3602E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 dirty="0"/>
            </a:lvl1pPr>
          </a:lstStyle>
          <a:p>
            <a:pPr lvl="0"/>
            <a:r>
              <a:rPr lang="ru-RU" dirty="0"/>
              <a:t>Текст</a:t>
            </a:r>
          </a:p>
        </p:txBody>
      </p:sp>
      <p:sp>
        <p:nvSpPr>
          <p:cNvPr id="75" name="Текст 74">
            <a:extLst>
              <a:ext uri="{FF2B5EF4-FFF2-40B4-BE49-F238E27FC236}">
                <a16:creationId xmlns:a16="http://schemas.microsoft.com/office/drawing/2014/main" xmlns="" id="{A0F2F041-BB01-463D-9CD2-6A231D59240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662924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74">
            <a:extLst>
              <a:ext uri="{FF2B5EF4-FFF2-40B4-BE49-F238E27FC236}">
                <a16:creationId xmlns:a16="http://schemas.microsoft.com/office/drawing/2014/main" xmlns="" id="{58BDD636-A558-406A-A768-05FF3D12BD8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662924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74">
            <a:extLst>
              <a:ext uri="{FF2B5EF4-FFF2-40B4-BE49-F238E27FC236}">
                <a16:creationId xmlns:a16="http://schemas.microsoft.com/office/drawing/2014/main" xmlns="" id="{53EE4994-79EE-43D0-B40B-E2DE25879B80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662924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74">
            <a:extLst>
              <a:ext uri="{FF2B5EF4-FFF2-40B4-BE49-F238E27FC236}">
                <a16:creationId xmlns:a16="http://schemas.microsoft.com/office/drawing/2014/main" xmlns="" id="{4CD31D83-EE69-46A0-B5B2-B2969969DCFB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62924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74">
            <a:extLst>
              <a:ext uri="{FF2B5EF4-FFF2-40B4-BE49-F238E27FC236}">
                <a16:creationId xmlns:a16="http://schemas.microsoft.com/office/drawing/2014/main" xmlns="" id="{BFB2A4EF-E632-42AC-82F0-453D4A95A9E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6662924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37610971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4E505DF-C567-47F2-9374-60838F80010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26867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807582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4584029"/>
            <a:ext cx="4790314" cy="1615356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266994856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2938A0C3-5C2F-47B8-B008-79A49A1195B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1016386434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Статистик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BF4F29EB-DFD0-428E-8E89-ED117A3553E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26" name="Заголовок 1">
            <a:extLst>
              <a:ext uri="{FF2B5EF4-FFF2-40B4-BE49-F238E27FC236}">
                <a16:creationId xmlns:a16="http://schemas.microsoft.com/office/drawing/2014/main" xmlns="" id="{55CB4C33-0A35-4822-B0EF-4E754699A1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1" name="Текст 35">
            <a:extLst>
              <a:ext uri="{FF2B5EF4-FFF2-40B4-BE49-F238E27FC236}">
                <a16:creationId xmlns:a16="http://schemas.microsoft.com/office/drawing/2014/main" xmlns="" id="{B1350734-1D64-4861-9813-14C6593B8523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6683077" y="1016000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2" name="Текст 35">
            <a:extLst>
              <a:ext uri="{FF2B5EF4-FFF2-40B4-BE49-F238E27FC236}">
                <a16:creationId xmlns:a16="http://schemas.microsoft.com/office/drawing/2014/main" xmlns="" id="{010826A5-76AC-452C-9459-7CC1CCF22ED5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" name="Текст 35">
            <a:extLst>
              <a:ext uri="{FF2B5EF4-FFF2-40B4-BE49-F238E27FC236}">
                <a16:creationId xmlns:a16="http://schemas.microsoft.com/office/drawing/2014/main" xmlns="" id="{C694E912-AC3F-437A-90AD-A48291DCE9BD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6683077" y="2284561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" name="Текст 35">
            <a:extLst>
              <a:ext uri="{FF2B5EF4-FFF2-40B4-BE49-F238E27FC236}">
                <a16:creationId xmlns:a16="http://schemas.microsoft.com/office/drawing/2014/main" xmlns="" id="{DE78EAF0-6854-4E73-A48A-917C1A86C3F4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6" name="Текст 35">
            <a:extLst>
              <a:ext uri="{FF2B5EF4-FFF2-40B4-BE49-F238E27FC236}">
                <a16:creationId xmlns:a16="http://schemas.microsoft.com/office/drawing/2014/main" xmlns="" id="{72D68DD9-6181-4C35-909B-154E5E309C97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6683077" y="3553122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7" name="Текст 35">
            <a:extLst>
              <a:ext uri="{FF2B5EF4-FFF2-40B4-BE49-F238E27FC236}">
                <a16:creationId xmlns:a16="http://schemas.microsoft.com/office/drawing/2014/main" xmlns="" id="{7D5E34DD-827F-4597-BFDE-34D8830FB250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6683077" y="3932659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8" name="Текст 35">
            <a:extLst>
              <a:ext uri="{FF2B5EF4-FFF2-40B4-BE49-F238E27FC236}">
                <a16:creationId xmlns:a16="http://schemas.microsoft.com/office/drawing/2014/main" xmlns="" id="{6305AE9F-2B19-4EA1-A48B-435746C35E60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6683077" y="4821684"/>
            <a:ext cx="4790314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9" name="Текст 35">
            <a:extLst>
              <a:ext uri="{FF2B5EF4-FFF2-40B4-BE49-F238E27FC236}">
                <a16:creationId xmlns:a16="http://schemas.microsoft.com/office/drawing/2014/main" xmlns="" id="{CF9D9CFB-62B9-4CE0-8770-0CB398D99F7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</p:spTree>
    <p:extLst>
      <p:ext uri="{BB962C8B-B14F-4D97-AF65-F5344CB8AC3E}">
        <p14:creationId xmlns:p14="http://schemas.microsoft.com/office/powerpoint/2010/main" xmlns="" val="33805881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Стади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52F0272-0FEA-44CE-966E-3D169B2F53D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8" name="Текст 35">
            <a:extLst>
              <a:ext uri="{FF2B5EF4-FFF2-40B4-BE49-F238E27FC236}">
                <a16:creationId xmlns:a16="http://schemas.microsoft.com/office/drawing/2014/main" xmlns="" id="{BE583EE3-33C6-4FCC-9F56-28AB0B4FCAD9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9" name="Текст 35">
            <a:extLst>
              <a:ext uri="{FF2B5EF4-FFF2-40B4-BE49-F238E27FC236}">
                <a16:creationId xmlns:a16="http://schemas.microsoft.com/office/drawing/2014/main" xmlns="" id="{AFEBE25F-FFFE-4B9D-94E7-7A69C7B0D747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2" name="Текст 35">
            <a:extLst>
              <a:ext uri="{FF2B5EF4-FFF2-40B4-BE49-F238E27FC236}">
                <a16:creationId xmlns:a16="http://schemas.microsoft.com/office/drawing/2014/main" xmlns="" id="{3E63DE62-DFB7-44A9-A85D-B687FAE797DC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3" name="Текст 35">
            <a:extLst>
              <a:ext uri="{FF2B5EF4-FFF2-40B4-BE49-F238E27FC236}">
                <a16:creationId xmlns:a16="http://schemas.microsoft.com/office/drawing/2014/main" xmlns="" id="{65791B9B-D32F-4C66-AD0A-B1F3CB6B2B21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4" name="Текст 35">
            <a:extLst>
              <a:ext uri="{FF2B5EF4-FFF2-40B4-BE49-F238E27FC236}">
                <a16:creationId xmlns:a16="http://schemas.microsoft.com/office/drawing/2014/main" xmlns="" id="{3052024B-27A5-4D0B-A7E7-5161FB0ED379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5" name="Текст 35">
            <a:extLst>
              <a:ext uri="{FF2B5EF4-FFF2-40B4-BE49-F238E27FC236}">
                <a16:creationId xmlns:a16="http://schemas.microsoft.com/office/drawing/2014/main" xmlns="" id="{9DFC47B0-ECC1-49CE-99A3-DC05480669A7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6" name="Текст 35">
            <a:extLst>
              <a:ext uri="{FF2B5EF4-FFF2-40B4-BE49-F238E27FC236}">
                <a16:creationId xmlns:a16="http://schemas.microsoft.com/office/drawing/2014/main" xmlns="" id="{3B86BD35-3919-4E07-B138-AAF7CFF7DF02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7" name="Текст 35">
            <a:extLst>
              <a:ext uri="{FF2B5EF4-FFF2-40B4-BE49-F238E27FC236}">
                <a16:creationId xmlns:a16="http://schemas.microsoft.com/office/drawing/2014/main" xmlns="" id="{10D94F19-5929-4A71-8C96-769ED6DD0BAE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8" name="Текст 35">
            <a:extLst>
              <a:ext uri="{FF2B5EF4-FFF2-40B4-BE49-F238E27FC236}">
                <a16:creationId xmlns:a16="http://schemas.microsoft.com/office/drawing/2014/main" xmlns="" id="{D84303F2-08F5-497F-BC9B-59F70995863F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79" name="Текст 35">
            <a:extLst>
              <a:ext uri="{FF2B5EF4-FFF2-40B4-BE49-F238E27FC236}">
                <a16:creationId xmlns:a16="http://schemas.microsoft.com/office/drawing/2014/main" xmlns="" id="{EA5C32CD-4539-4313-8B67-943CB8F5EBD9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55911799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Проблема и реш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062B0DBE-B5A9-470E-85A9-7CC062D5339A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2FAEFDC9-8968-4F3D-8F8F-5591D6F30FE0}"/>
              </a:ext>
            </a:extLst>
          </p:cNvPr>
          <p:cNvSpPr>
            <a:spLocks noGrp="1"/>
          </p:cNvSpPr>
          <p:nvPr>
            <p:ph type="body" sz="quarter" idx="26" hasCustomPrompt="1"/>
          </p:nvPr>
        </p:nvSpPr>
        <p:spPr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Описание проблемы 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A7C77525-23F2-401E-A901-0374D8239BBC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Примеры уже имеющихся способов решения данной проблемы</a:t>
            </a:r>
          </a:p>
        </p:txBody>
      </p:sp>
      <p:sp>
        <p:nvSpPr>
          <p:cNvPr id="153" name="Текст 35">
            <a:extLst>
              <a:ext uri="{FF2B5EF4-FFF2-40B4-BE49-F238E27FC236}">
                <a16:creationId xmlns:a16="http://schemas.microsoft.com/office/drawing/2014/main" xmlns="" id="{D2F4E226-3842-4532-A60F-4E8C02DAD6DC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/>
            <a:r>
              <a:rPr lang="ru-RU" dirty="0"/>
              <a:t>Ваше предложение решения данной проблемы</a:t>
            </a:r>
          </a:p>
        </p:txBody>
      </p:sp>
      <p:sp>
        <p:nvSpPr>
          <p:cNvPr id="189" name="Текст 35">
            <a:extLst>
              <a:ext uri="{FF2B5EF4-FFF2-40B4-BE49-F238E27FC236}">
                <a16:creationId xmlns:a16="http://schemas.microsoft.com/office/drawing/2014/main" xmlns="" id="{C44A233F-7BDF-4F40-844F-FC23B1912AA4}"/>
              </a:ext>
            </a:extLst>
          </p:cNvPr>
          <p:cNvSpPr>
            <a:spLocks noGrp="1"/>
          </p:cNvSpPr>
          <p:nvPr>
            <p:ph type="body" sz="quarter" idx="33" hasCustomPrompt="1"/>
          </p:nvPr>
        </p:nvSpPr>
        <p:spPr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Проблема</a:t>
            </a:r>
          </a:p>
        </p:txBody>
      </p:sp>
      <p:sp>
        <p:nvSpPr>
          <p:cNvPr id="190" name="Текст 35">
            <a:extLst>
              <a:ext uri="{FF2B5EF4-FFF2-40B4-BE49-F238E27FC236}">
                <a16:creationId xmlns:a16="http://schemas.microsoft.com/office/drawing/2014/main" xmlns="" id="{1683ED6E-2444-48B8-A78B-F1EBA53E21C2}"/>
              </a:ext>
            </a:extLst>
          </p:cNvPr>
          <p:cNvSpPr>
            <a:spLocks noGrp="1"/>
          </p:cNvSpPr>
          <p:nvPr>
            <p:ph type="body" sz="quarter" idx="34" hasCustomPrompt="1"/>
          </p:nvPr>
        </p:nvSpPr>
        <p:spPr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Альтернативные решения</a:t>
            </a:r>
          </a:p>
        </p:txBody>
      </p:sp>
      <p:sp>
        <p:nvSpPr>
          <p:cNvPr id="191" name="Текст 35">
            <a:extLst>
              <a:ext uri="{FF2B5EF4-FFF2-40B4-BE49-F238E27FC236}">
                <a16:creationId xmlns:a16="http://schemas.microsoft.com/office/drawing/2014/main" xmlns="" id="{B788F042-DAFC-4B5A-B1AA-8ADEFAAA9801}"/>
              </a:ext>
            </a:extLst>
          </p:cNvPr>
          <p:cNvSpPr>
            <a:spLocks noGrp="1"/>
          </p:cNvSpPr>
          <p:nvPr>
            <p:ph type="body" sz="quarter" idx="35" hasCustomPrompt="1"/>
          </p:nvPr>
        </p:nvSpPr>
        <p:spPr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Решение</a:t>
            </a:r>
          </a:p>
        </p:txBody>
      </p:sp>
    </p:spTree>
    <p:extLst>
      <p:ext uri="{BB962C8B-B14F-4D97-AF65-F5344CB8AC3E}">
        <p14:creationId xmlns:p14="http://schemas.microsoft.com/office/powerpoint/2010/main" xmlns="" val="87527380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4162940" y="1264478"/>
            <a:ext cx="3866121" cy="2436377"/>
          </a:xfrm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4D396B86-640F-4AD1-BBB2-E085B6CD8771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46075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4240502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1" name="Текст 7">
            <a:extLst>
              <a:ext uri="{FF2B5EF4-FFF2-40B4-BE49-F238E27FC236}">
                <a16:creationId xmlns:a16="http://schemas.microsoft.com/office/drawing/2014/main" xmlns="" id="{7C8F4076-BB2C-4FA3-9BAD-5EF87B638D5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8230203" y="4656083"/>
            <a:ext cx="3626835" cy="154469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</p:spTree>
    <p:extLst>
      <p:ext uri="{BB962C8B-B14F-4D97-AF65-F5344CB8AC3E}">
        <p14:creationId xmlns:p14="http://schemas.microsoft.com/office/powerpoint/2010/main" xmlns="" val="346991203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3AF0E63-1EB1-47F5-B09E-CA3E5DE528F3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00" name="Заголовок 1">
            <a:extLst>
              <a:ext uri="{FF2B5EF4-FFF2-40B4-BE49-F238E27FC236}">
                <a16:creationId xmlns:a16="http://schemas.microsoft.com/office/drawing/2014/main" xmlns="" id="{6641864C-9659-45A2-A61F-BB1A3067B1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8" name="Текст 7">
            <a:extLst>
              <a:ext uri="{FF2B5EF4-FFF2-40B4-BE49-F238E27FC236}">
                <a16:creationId xmlns:a16="http://schemas.microsoft.com/office/drawing/2014/main" xmlns="" id="{8340B20B-0618-415E-8908-3C85578C4D16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1210643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90" name="Текст 7">
            <a:extLst>
              <a:ext uri="{FF2B5EF4-FFF2-40B4-BE49-F238E27FC236}">
                <a16:creationId xmlns:a16="http://schemas.microsoft.com/office/drawing/2014/main" xmlns="" id="{47A76FC9-6FDA-4102-9D33-F9766B07D3E6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857950" y="4324451"/>
            <a:ext cx="4121687" cy="1612262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9" name="Picture Placeholder 1">
            <a:extLst>
              <a:ext uri="{FF2B5EF4-FFF2-40B4-BE49-F238E27FC236}">
                <a16:creationId xmlns:a16="http://schemas.microsoft.com/office/drawing/2014/main" xmlns="" id="{F4BB4485-D5EB-48AD-A465-1B1299C88CD1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210642" y="1577998"/>
            <a:ext cx="4121688" cy="2283975"/>
          </a:xfrm>
        </p:spPr>
      </p:sp>
      <p:sp>
        <p:nvSpPr>
          <p:cNvPr id="123" name="Picture Placeholder 1">
            <a:extLst>
              <a:ext uri="{FF2B5EF4-FFF2-40B4-BE49-F238E27FC236}">
                <a16:creationId xmlns:a16="http://schemas.microsoft.com/office/drawing/2014/main" xmlns="" id="{C7FB8BAF-17B6-40DC-9912-73B3494AC45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855540" y="1577998"/>
            <a:ext cx="4121688" cy="2283975"/>
          </a:xfrm>
        </p:spPr>
      </p:sp>
    </p:spTree>
    <p:extLst>
      <p:ext uri="{BB962C8B-B14F-4D97-AF65-F5344CB8AC3E}">
        <p14:creationId xmlns:p14="http://schemas.microsoft.com/office/powerpoint/2010/main" xmlns="" val="2282395395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30" name="Текст 35">
            <a:extLst>
              <a:ext uri="{FF2B5EF4-FFF2-40B4-BE49-F238E27FC236}">
                <a16:creationId xmlns:a16="http://schemas.microsoft.com/office/drawing/2014/main" xmlns="" id="{34F2EADD-49A3-44E7-AC8B-D07BF1B4F1A8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356349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6" name="Текст 35">
            <a:extLst>
              <a:ext uri="{FF2B5EF4-FFF2-40B4-BE49-F238E27FC236}">
                <a16:creationId xmlns:a16="http://schemas.microsoft.com/office/drawing/2014/main" xmlns="" id="{15551546-3EE0-4A54-9DEE-1E9FEBF43B2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7" name="Текст 35">
            <a:extLst>
              <a:ext uri="{FF2B5EF4-FFF2-40B4-BE49-F238E27FC236}">
                <a16:creationId xmlns:a16="http://schemas.microsoft.com/office/drawing/2014/main" xmlns="" id="{9D9ADB6F-AC53-4034-92EE-80435562B80A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040021" y="1641283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8" name="Текст 35">
            <a:extLst>
              <a:ext uri="{FF2B5EF4-FFF2-40B4-BE49-F238E27FC236}">
                <a16:creationId xmlns:a16="http://schemas.microsoft.com/office/drawing/2014/main" xmlns="" id="{EAB22390-1508-4419-B1B3-375A734DF0EE}"/>
              </a:ext>
            </a:extLst>
          </p:cNvPr>
          <p:cNvSpPr>
            <a:spLocks noGrp="1"/>
          </p:cNvSpPr>
          <p:nvPr>
            <p:ph type="body" sz="quarter" idx="23"/>
          </p:nvPr>
        </p:nvSpPr>
        <p:spPr>
          <a:xfrm>
            <a:off x="8040021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49" name="Текст 35">
            <a:extLst>
              <a:ext uri="{FF2B5EF4-FFF2-40B4-BE49-F238E27FC236}">
                <a16:creationId xmlns:a16="http://schemas.microsoft.com/office/drawing/2014/main" xmlns="" id="{FF699DD2-8E32-4C98-8444-90139EB2FDC6}"/>
              </a:ext>
            </a:extLst>
          </p:cNvPr>
          <p:cNvSpPr>
            <a:spLocks noGrp="1"/>
          </p:cNvSpPr>
          <p:nvPr>
            <p:ph type="body" sz="quarter" idx="24"/>
          </p:nvPr>
        </p:nvSpPr>
        <p:spPr>
          <a:xfrm>
            <a:off x="356349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0" name="Текст 35">
            <a:extLst>
              <a:ext uri="{FF2B5EF4-FFF2-40B4-BE49-F238E27FC236}">
                <a16:creationId xmlns:a16="http://schemas.microsoft.com/office/drawing/2014/main" xmlns="" id="{6496F1D2-4B4B-412C-B228-1C27099F20D3}"/>
              </a:ext>
            </a:extLst>
          </p:cNvPr>
          <p:cNvSpPr>
            <a:spLocks noGrp="1"/>
          </p:cNvSpPr>
          <p:nvPr>
            <p:ph type="body" sz="quarter" idx="25"/>
          </p:nvPr>
        </p:nvSpPr>
        <p:spPr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1" name="Текст 35">
            <a:extLst>
              <a:ext uri="{FF2B5EF4-FFF2-40B4-BE49-F238E27FC236}">
                <a16:creationId xmlns:a16="http://schemas.microsoft.com/office/drawing/2014/main" xmlns="" id="{55E268D8-B309-4AA0-8E1B-30DF4A867252}"/>
              </a:ext>
            </a:extLst>
          </p:cNvPr>
          <p:cNvSpPr>
            <a:spLocks noGrp="1"/>
          </p:cNvSpPr>
          <p:nvPr>
            <p:ph type="body" sz="quarter" idx="26"/>
          </p:nvPr>
        </p:nvSpPr>
        <p:spPr>
          <a:xfrm>
            <a:off x="8040021" y="3864598"/>
            <a:ext cx="3812931" cy="1021701"/>
          </a:xfrm>
          <a:prstGeom prst="roundRect">
            <a:avLst/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sp>
        <p:nvSpPr>
          <p:cNvPr id="152" name="Текст 35">
            <a:extLst>
              <a:ext uri="{FF2B5EF4-FFF2-40B4-BE49-F238E27FC236}">
                <a16:creationId xmlns:a16="http://schemas.microsoft.com/office/drawing/2014/main" xmlns="" id="{E6797EA4-A26A-41BA-A1AB-8E1F9B9574DE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8040021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/>
            <a:r>
              <a:rPr lang="ru-RU" dirty="0"/>
              <a:t>Образец текста</a:t>
            </a:r>
          </a:p>
        </p:txBody>
      </p:sp>
      <p:cxnSp>
        <p:nvCxnSpPr>
          <p:cNvPr id="168" name="Google Shape;2799;p94">
            <a:extLst>
              <a:ext uri="{FF2B5EF4-FFF2-40B4-BE49-F238E27FC236}">
                <a16:creationId xmlns:a16="http://schemas.microsoft.com/office/drawing/2014/main" xmlns="" id="{FA0271FA-A51F-4387-9143-29364B78BFC3}"/>
              </a:ext>
            </a:extLst>
          </p:cNvPr>
          <p:cNvCxnSpPr>
            <a:cxnSpLocks/>
          </p:cNvCxnSpPr>
          <p:nvPr userDrawn="1"/>
        </p:nvCxnSpPr>
        <p:spPr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69" name="Google Shape;2799;p94">
            <a:extLst>
              <a:ext uri="{FF2B5EF4-FFF2-40B4-BE49-F238E27FC236}">
                <a16:creationId xmlns:a16="http://schemas.microsoft.com/office/drawing/2014/main" xmlns="" id="{83B50154-F03F-4297-B4A8-C77D1687B8DA}"/>
              </a:ext>
            </a:extLst>
          </p:cNvPr>
          <p:cNvCxnSpPr>
            <a:cxnSpLocks/>
          </p:cNvCxnSpPr>
          <p:nvPr userDrawn="1"/>
        </p:nvCxnSpPr>
        <p:spPr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0" name="Google Shape;2799;p94">
            <a:extLst>
              <a:ext uri="{FF2B5EF4-FFF2-40B4-BE49-F238E27FC236}">
                <a16:creationId xmlns:a16="http://schemas.microsoft.com/office/drawing/2014/main" xmlns="" id="{89D0D73E-B609-4208-BFA6-94ED3BC232A9}"/>
              </a:ext>
            </a:extLst>
          </p:cNvPr>
          <p:cNvCxnSpPr>
            <a:cxnSpLocks/>
          </p:cNvCxnSpPr>
          <p:nvPr userDrawn="1"/>
        </p:nvCxnSpPr>
        <p:spPr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71" name="Google Shape;2799;p94">
            <a:extLst>
              <a:ext uri="{FF2B5EF4-FFF2-40B4-BE49-F238E27FC236}">
                <a16:creationId xmlns:a16="http://schemas.microsoft.com/office/drawing/2014/main" xmlns="" id="{1DD03E5E-FCF0-4EC5-BA97-518950F7A41C}"/>
              </a:ext>
            </a:extLst>
          </p:cNvPr>
          <p:cNvCxnSpPr>
            <a:cxnSpLocks/>
          </p:cNvCxnSpPr>
          <p:nvPr userDrawn="1"/>
        </p:nvCxnSpPr>
        <p:spPr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4" name="Заголовок 3">
            <a:extLst>
              <a:ext uri="{FF2B5EF4-FFF2-40B4-BE49-F238E27FC236}">
                <a16:creationId xmlns:a16="http://schemas.microsoft.com/office/drawing/2014/main" xmlns="" id="{A19765B8-4F24-5E1F-432E-F592BFAF73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9" name="Дата 8">
            <a:extLst>
              <a:ext uri="{FF2B5EF4-FFF2-40B4-BE49-F238E27FC236}">
                <a16:creationId xmlns:a16="http://schemas.microsoft.com/office/drawing/2014/main" xmlns="" id="{E19B813A-8796-C89A-4669-BFA5CA98F24A}"/>
              </a:ext>
            </a:extLst>
          </p:cNvPr>
          <p:cNvSpPr>
            <a:spLocks noGrp="1"/>
          </p:cNvSpPr>
          <p:nvPr>
            <p:ph type="dt" sz="half" idx="28"/>
          </p:nvPr>
        </p:nvSpPr>
        <p:spPr/>
        <p:txBody>
          <a:bodyPr/>
          <a:lstStyle/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10" name="Нижний колонтитул 9">
            <a:extLst>
              <a:ext uri="{FF2B5EF4-FFF2-40B4-BE49-F238E27FC236}">
                <a16:creationId xmlns:a16="http://schemas.microsoft.com/office/drawing/2014/main" xmlns="" id="{2648A9B9-3888-6E59-EA1C-76276C4EE93D}"/>
              </a:ext>
            </a:extLst>
          </p:cNvPr>
          <p:cNvSpPr>
            <a:spLocks noGrp="1"/>
          </p:cNvSpPr>
          <p:nvPr>
            <p:ph type="ftr" sz="quarter" idx="29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11" name="Номер слайда 10">
            <a:extLst>
              <a:ext uri="{FF2B5EF4-FFF2-40B4-BE49-F238E27FC236}">
                <a16:creationId xmlns:a16="http://schemas.microsoft.com/office/drawing/2014/main" xmlns="" id="{0E2B1EF5-F5AA-C72A-5C4D-8EE372388A4E}"/>
              </a:ext>
            </a:extLst>
          </p:cNvPr>
          <p:cNvSpPr>
            <a:spLocks noGrp="1"/>
          </p:cNvSpPr>
          <p:nvPr>
            <p:ph type="sldNum" sz="quarter" idx="30"/>
          </p:nvPr>
        </p:nvSpPr>
        <p:spPr/>
        <p:txBody>
          <a:bodyPr/>
          <a:lstStyle/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324641972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_Демо_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icture Placeholder 1">
            <a:extLst>
              <a:ext uri="{FF2B5EF4-FFF2-40B4-BE49-F238E27FC236}">
                <a16:creationId xmlns:a16="http://schemas.microsoft.com/office/drawing/2014/main" xmlns="" id="{2E6A2544-8689-48EB-9658-2D1DE4E4878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1001460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" name="Picture Placeholder 1">
            <a:extLst>
              <a:ext uri="{FF2B5EF4-FFF2-40B4-BE49-F238E27FC236}">
                <a16:creationId xmlns:a16="http://schemas.microsoft.com/office/drawing/2014/main" xmlns="" id="{5F8A3887-CB84-43EA-BFC4-CD93F421C5F2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2" name="Picture Placeholder 1">
            <a:extLst>
              <a:ext uri="{FF2B5EF4-FFF2-40B4-BE49-F238E27FC236}">
                <a16:creationId xmlns:a16="http://schemas.microsoft.com/office/drawing/2014/main" xmlns="" id="{E009EEBC-6069-4389-9953-A05FCC07FDF9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71" name="Picture Placeholder 1">
            <a:extLst>
              <a:ext uri="{FF2B5EF4-FFF2-40B4-BE49-F238E27FC236}">
                <a16:creationId xmlns:a16="http://schemas.microsoft.com/office/drawing/2014/main" xmlns="" id="{16E9D3D5-A966-4770-89F5-48C9F92735FE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5" name="Дата 3">
            <a:extLst>
              <a:ext uri="{FF2B5EF4-FFF2-40B4-BE49-F238E27FC236}">
                <a16:creationId xmlns:a16="http://schemas.microsoft.com/office/drawing/2014/main" xmlns="" id="{916B7A0B-21BC-45FE-AFF7-52F34B6D0F83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DC8C16AD-D907-4463-BE30-FCBB33ACAE3F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6" name="Нижний колонтитул 4">
            <a:extLst>
              <a:ext uri="{FF2B5EF4-FFF2-40B4-BE49-F238E27FC236}">
                <a16:creationId xmlns:a16="http://schemas.microsoft.com/office/drawing/2014/main" xmlns="" id="{6D393D3D-D368-4E15-8F2F-7A07229A98A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7" name="Номер слайда 5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  <p:sp>
        <p:nvSpPr>
          <p:cNvPr id="197" name="Текст 7">
            <a:extLst>
              <a:ext uri="{FF2B5EF4-FFF2-40B4-BE49-F238E27FC236}">
                <a16:creationId xmlns:a16="http://schemas.microsoft.com/office/drawing/2014/main" xmlns="" id="{B3D45624-8EA3-4B52-B030-A364BB470CC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346076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8" name="Текст 7">
            <a:extLst>
              <a:ext uri="{FF2B5EF4-FFF2-40B4-BE49-F238E27FC236}">
                <a16:creationId xmlns:a16="http://schemas.microsoft.com/office/drawing/2014/main" xmlns="" id="{CA86BD45-703D-484A-9D4A-1FEA90A4808F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269562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199" name="Текст 7">
            <a:extLst>
              <a:ext uri="{FF2B5EF4-FFF2-40B4-BE49-F238E27FC236}">
                <a16:creationId xmlns:a16="http://schemas.microsoft.com/office/drawing/2014/main" xmlns="" id="{0FE3D94F-B533-4C0D-9E9B-72F06706305C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193048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00" name="Текст 7">
            <a:extLst>
              <a:ext uri="{FF2B5EF4-FFF2-40B4-BE49-F238E27FC236}">
                <a16:creationId xmlns:a16="http://schemas.microsoft.com/office/drawing/2014/main" xmlns="" id="{0C4A1F6E-BDC1-410D-A748-7E90C2221ED1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116535" y="4929435"/>
            <a:ext cx="2739248" cy="127134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D008DEFE-D4AF-4461-AEAA-AABBFA14735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</p:spTree>
    <p:extLst>
      <p:ext uri="{BB962C8B-B14F-4D97-AF65-F5344CB8AC3E}">
        <p14:creationId xmlns:p14="http://schemas.microsoft.com/office/powerpoint/2010/main" xmlns="" val="3218645854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Пусто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xmlns="" val="3017695031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5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xmlns="" id="{F2BCE23A-38F1-44E4-8D99-E9CD24A3AF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ru-RU" dirty="0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36EAD268-7E0C-4473-BF2C-A75921B98BC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dirty="0"/>
              <a:t>Образец текста</a:t>
            </a:r>
          </a:p>
          <a:p>
            <a:pPr lvl="1"/>
            <a:r>
              <a:rPr lang="ru-RU" dirty="0"/>
              <a:t>Второй уровень</a:t>
            </a:r>
          </a:p>
          <a:p>
            <a:pPr lvl="2"/>
            <a:r>
              <a:rPr lang="ru-RU" dirty="0"/>
              <a:t>Третий уровень</a:t>
            </a:r>
          </a:p>
          <a:p>
            <a:pPr lvl="3"/>
            <a:r>
              <a:rPr lang="ru-RU" dirty="0"/>
              <a:t>Четвертый уровень</a:t>
            </a:r>
          </a:p>
          <a:p>
            <a:pPr lvl="4"/>
            <a:r>
              <a:rPr lang="ru-RU" dirty="0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xmlns="" id="{D905FB47-C828-44E8-81A6-7D70F28691C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9D490EE5-ED7D-46E8-8345-A78A0CB0F4A4}" type="datetime1">
              <a:rPr lang="ru-RU" smtClean="0"/>
              <a:pPr/>
              <a:t>27.09.2026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xmlns="" id="{738C8EAA-BD95-4729-8C84-AB6D45F44A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6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15" name="Номер слайда 5">
            <a:extLst>
              <a:ext uri="{FF2B5EF4-FFF2-40B4-BE49-F238E27FC236}">
                <a16:creationId xmlns:a16="http://schemas.microsoft.com/office/drawing/2014/main" xmlns="" id="{797EBB71-A16C-4900-8120-78386F05C8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‹#›</a:t>
            </a:fld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xmlns="" val="14261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704" r:id="rId2"/>
    <p:sldLayoutId id="2147483694" r:id="rId3"/>
    <p:sldLayoutId id="2147483688" r:id="rId4"/>
    <p:sldLayoutId id="2147483662" r:id="rId5"/>
    <p:sldLayoutId id="2147483663" r:id="rId6"/>
    <p:sldLayoutId id="2147483664" r:id="rId7"/>
    <p:sldLayoutId id="2147483666" r:id="rId8"/>
    <p:sldLayoutId id="2147483667" r:id="rId9"/>
    <p:sldLayoutId id="2147483668" r:id="rId10"/>
    <p:sldLayoutId id="2147483689" r:id="rId11"/>
    <p:sldLayoutId id="2147483690" r:id="rId12"/>
    <p:sldLayoutId id="2147483702" r:id="rId13"/>
    <p:sldLayoutId id="2147483691" r:id="rId14"/>
    <p:sldLayoutId id="2147483692" r:id="rId15"/>
    <p:sldLayoutId id="2147483693" r:id="rId16"/>
    <p:sldLayoutId id="2147483696" r:id="rId17"/>
    <p:sldLayoutId id="2147483697" r:id="rId18"/>
    <p:sldLayoutId id="2147483698" r:id="rId19"/>
    <p:sldLayoutId id="2147483699" r:id="rId20"/>
    <p:sldLayoutId id="2147483700" r:id="rId21"/>
    <p:sldLayoutId id="2147483701" r:id="rId22"/>
    <p:sldLayoutId id="2147483703" r:id="rId23"/>
  </p:sldLayoutIdLst>
  <p:hf hdr="0" ftr="0" dt="0"/>
  <p:txStyles>
    <p:titleStyle>
      <a:lvl1pPr algn="l" defTabSz="578755" rtl="0" eaLnBrk="1" latinLnBrk="0" hangingPunct="1">
        <a:lnSpc>
          <a:spcPct val="90000"/>
        </a:lnSpc>
        <a:spcBef>
          <a:spcPct val="0"/>
        </a:spcBef>
        <a:buNone/>
        <a:defRPr sz="1997" b="1" kern="1200">
          <a:solidFill>
            <a:schemeClr val="bg1">
              <a:lumMod val="95000"/>
            </a:schemeClr>
          </a:solidFill>
          <a:latin typeface="+mj-lt"/>
          <a:ea typeface="+mj-ea"/>
          <a:cs typeface="Amatic SC" panose="00000500000000000000" pitchFamily="2" charset="-79"/>
        </a:defRPr>
      </a:lvl1pPr>
    </p:titleStyle>
    <p:bodyStyle>
      <a:lvl1pPr marL="144688" indent="-144688" algn="l" defTabSz="578755" rtl="0" eaLnBrk="1" latinLnBrk="0" hangingPunct="1">
        <a:lnSpc>
          <a:spcPct val="90000"/>
        </a:lnSpc>
        <a:spcBef>
          <a:spcPts val="631"/>
        </a:spcBef>
        <a:buFont typeface="Arial" panose="020B0604020202020204" pitchFamily="34" charset="0"/>
        <a:buChar char="•"/>
        <a:defRPr sz="1452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271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9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907" kern="12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6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 eaLnBrk="1" latinLnBrk="0" hangingPunct="1">
        <a:lnSpc>
          <a:spcPct val="90000"/>
        </a:lnSpc>
        <a:spcBef>
          <a:spcPts val="317"/>
        </a:spcBef>
        <a:buFont typeface="Arial" panose="020B0604020202020204" pitchFamily="34" charset="0"/>
        <a:buChar char="•"/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 eaLnBrk="1" latinLnBrk="0" hangingPunct="1">
        <a:defRPr sz="114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 xmlns="">
        <p15:guide id="19" orient="horz" pos="4156">
          <p15:clr>
            <a:srgbClr val="F26B43"/>
          </p15:clr>
        </p15:guide>
        <p15:guide id="20" orient="horz" pos="482">
          <p15:clr>
            <a:srgbClr val="F26B43"/>
          </p15:clr>
        </p15:guide>
        <p15:guide id="21" pos="218">
          <p15:clr>
            <a:srgbClr val="F26B43"/>
          </p15:clr>
        </p15:guide>
        <p15:guide id="22" pos="7469">
          <p15:clr>
            <a:srgbClr val="F26B43"/>
          </p15:clr>
        </p15:guide>
        <p15:guide id="23" orient="horz" pos="249">
          <p15:clr>
            <a:srgbClr val="F26B43"/>
          </p15:clr>
        </p15:guide>
        <p15:guide id="24" orient="horz" pos="4042">
          <p15:clr>
            <a:srgbClr val="F26B43"/>
          </p15:clr>
        </p15:guide>
        <p15:guide id="25" orient="horz" pos="3906">
          <p15:clr>
            <a:srgbClr val="F26B43"/>
          </p15:clr>
        </p15:guide>
        <p15:guide id="26" orient="horz" pos="640">
          <p15:clr>
            <a:srgbClr val="F26B43"/>
          </p15:clr>
        </p15:guide>
        <p15:guide id="27" pos="3840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4.png"/><Relationship Id="rId3" Type="http://schemas.openxmlformats.org/officeDocument/2006/relationships/image" Target="../media/image5.jpe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6.jpeg"/><Relationship Id="rId5" Type="http://schemas.openxmlformats.org/officeDocument/2006/relationships/image" Target="../media/image7.jpe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8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14.png"/><Relationship Id="rId5" Type="http://schemas.openxmlformats.org/officeDocument/2006/relationships/image" Target="../media/image15.png"/></Relationships>
</file>

<file path=ppt/slides/_rels/slide8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4.xml"/><Relationship Id="rId2" Type="http://schemas.openxmlformats.org/officeDocument/2006/relationships/chart" Target="../charts/chart1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7" Type="http://schemas.openxmlformats.org/officeDocument/2006/relationships/image" Target="../media/image20.png"/></Relationships>
</file>

<file path=ppt/slides/_rels/slide9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6.xml"/><Relationship Id="rId2" Type="http://schemas.openxmlformats.org/officeDocument/2006/relationships/chart" Target="../charts/chart2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21.png"/><Relationship Id="rId6" Type="http://schemas.openxmlformats.org/officeDocument/2006/relationships/image" Target="../media/image22.png"/></Relationships>
</file>

<file path=ppt/slides/_rels/slide10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5.xml"/><Relationship Id="rId2" Type="http://schemas.openxmlformats.org/officeDocument/2006/relationships/chart" Target="../charts/chart3.xml"/><Relationship Id="rId3" Type="http://schemas.openxmlformats.org/officeDocument/2006/relationships/chart" Target="../charts/chart4.xml"/><Relationship Id="rId4" Type="http://schemas.openxmlformats.org/officeDocument/2006/relationships/chart" Target="../charts/chart5.xml"/><Relationship Id="rId5" Type="http://schemas.openxmlformats.org/officeDocument/2006/relationships/image" Target="../media/image23.png"/></Relationships>
</file>

<file path=ppt/slides/_rels/slide11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26.png"/><Relationship Id="rId5" Type="http://schemas.openxmlformats.org/officeDocument/2006/relationships/image" Target="../media/image27.png"/><Relationship Id="rId6" Type="http://schemas.openxmlformats.org/officeDocument/2006/relationships/image" Target="../media/image28.png"/><Relationship Id="rId7" Type="http://schemas.openxmlformats.org/officeDocument/2006/relationships/image" Target="../media/image29.png"/></Relationships>
</file>

<file path=ppt/slides/_rels/slide12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30.png"/><Relationship Id="rId3" Type="http://schemas.openxmlformats.org/officeDocument/2006/relationships/image" Target="../media/image31.png"/><Relationship Id="rId4" Type="http://schemas.openxmlformats.org/officeDocument/2006/relationships/image" Target="../media/image32.png"/><Relationship Id="rId5" Type="http://schemas.openxmlformats.org/officeDocument/2006/relationships/image" Target="../media/image33.png"/><Relationship Id="rId6" Type="http://schemas.openxmlformats.org/officeDocument/2006/relationships/image" Target="../media/image34.png"/><Relationship Id="rId7" Type="http://schemas.openxmlformats.org/officeDocument/2006/relationships/image" Target="../media/image35.png"/><Relationship Id="rId8" Type="http://schemas.openxmlformats.org/officeDocument/2006/relationships/image" Target="../media/image36.png"/></Relationships>
</file>

<file path=ppt/slides/_rels/slide13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4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37.png"/><Relationship Id="rId3" Type="http://schemas.openxmlformats.org/officeDocument/2006/relationships/image" Target="../media/image38.png"/><Relationship Id="rId4" Type="http://schemas.openxmlformats.org/officeDocument/2006/relationships/image" Target="../media/image39.png"/><Relationship Id="rId5" Type="http://schemas.openxmlformats.org/officeDocument/2006/relationships/image" Target="../media/image40.png"/></Relationships>
</file>

<file path=ppt/slides/_rels/slide14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1.xml"/><Relationship Id="rId2" Type="http://schemas.openxmlformats.org/officeDocument/2006/relationships/image" Target="../media/image41.png"/><Relationship Id="rId3" Type="http://schemas.openxmlformats.org/officeDocument/2006/relationships/image" Target="../media/image42.png"/><Relationship Id="rId4" Type="http://schemas.openxmlformats.org/officeDocument/2006/relationships/image" Target="../media/image43.png"/><Relationship Id="rId5" Type="http://schemas.openxmlformats.org/officeDocument/2006/relationships/image" Target="../media/image44.png"/><Relationship Id="rId6" Type="http://schemas.openxmlformats.org/officeDocument/2006/relationships/image" Target="../media/image45.png"/><Relationship Id="rId7" Type="http://schemas.openxmlformats.org/officeDocument/2006/relationships/image" Target="../media/image46.png"/></Relationships>
</file>

<file path=ppt/slides/_rels/slide15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8.xml"/><Relationship Id="rId2" Type="http://schemas.openxmlformats.org/officeDocument/2006/relationships/image" Target="../media/image47.png"/><Relationship Id="rId3" Type="http://schemas.openxmlformats.org/officeDocument/2006/relationships/image" Target="../media/image48.png"/><Relationship Id="rId4" Type="http://schemas.openxmlformats.org/officeDocument/2006/relationships/image" Target="../media/image49.png"/></Relationships>
</file>

<file path=ppt/slides/_rels/slide16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3.xml"/><Relationship Id="rId2" Type="http://schemas.openxmlformats.org/officeDocument/2006/relationships/image" Target="../media/image50.png"/><Relationship Id="rId3" Type="http://schemas.openxmlformats.org/officeDocument/2006/relationships/image" Target="../media/image51.png"/></Relationships>
</file>

<file path=ppt/slides/_rels/slide17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4.png"/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52.png"/><Relationship Id="rId3" Type="http://schemas.openxmlformats.org/officeDocument/2006/relationships/image" Target="../media/image53.png"/><Relationship Id="rId4" Type="http://schemas.openxmlformats.org/officeDocument/2006/relationships/image" Target="../media/image54.png"/><Relationship Id="rId5" Type="http://schemas.openxmlformats.org/officeDocument/2006/relationships/image" Target="../media/image55.png"/><Relationship Id="rId6" Type="http://schemas.openxmlformats.org/officeDocument/2006/relationships/image" Target="../media/image56.png"/><Relationship Id="rId7" Type="http://schemas.openxmlformats.org/officeDocument/2006/relationships/image" Target="../media/image57.png"/></Relationships>
</file>

<file path=ppt/slides/_rels/slide18.xml.rels><?xml version='1.0' encoding='UTF-8' standalone='yes'?>
<Relationships xmlns="http://schemas.openxmlformats.org/package/2006/relationships"><Relationship Id="rIdBrandLogos" Type="http://schemas.openxmlformats.org/officeDocument/2006/relationships/image" Target="../media/image63.png"/><Relationship Id="rId1" Type="http://schemas.openxmlformats.org/officeDocument/2006/relationships/slideLayout" Target="../slideLayouts/slideLayout19.xml"/><Relationship Id="rId2" Type="http://schemas.openxmlformats.org/officeDocument/2006/relationships/image" Target="../media/image58.png"/><Relationship Id="rId3" Type="http://schemas.openxmlformats.org/officeDocument/2006/relationships/image" Target="../media/image59.png"/><Relationship Id="rId4" Type="http://schemas.openxmlformats.org/officeDocument/2006/relationships/image" Target="../media/image60.png"/><Relationship Id="rId5" Type="http://schemas.openxmlformats.org/officeDocument/2006/relationships/image" Target="../media/image61.png"/><Relationship Id="rId6" Type="http://schemas.openxmlformats.org/officeDocument/2006/relationships/image" Target="../media/image6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xmlns="" id="{2FA84A33-0C72-0932-80BA-8E3874357B7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" y="3894513"/>
            <a:ext cx="6271845" cy="1706743"/>
          </a:xfrm>
        </p:spPr>
        <p:txBody>
          <a:bodyPr/>
          <a:lstStyle/>
          <a:p>
            <a:pPr marL="268288" indent="0"/>
            <a:r>
              <a:rPr lang="ru-RU" sz="4000" dirty="0" smtClean="0"/>
              <a:t>Двое из ларца</a:t>
            </a:r>
            <a:endParaRPr lang="ru-RU" sz="4000" dirty="0"/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xmlns="" id="{37079B28-9FB8-672E-DD52-FA978EC4A21B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0" y="5659501"/>
            <a:ext cx="8930641" cy="757174"/>
          </a:xfrm>
        </p:spPr>
        <p:txBody>
          <a:bodyPr anchor="ctr">
            <a:normAutofit/>
          </a:bodyPr>
          <a:lstStyle/>
          <a:p>
            <a:pPr indent="268288"/>
            <a:r>
              <a:rPr lang="ru-RU" sz="1400" dirty="0" smtClean="0"/>
              <a:t>Задача бизнеса №3 </a:t>
            </a:r>
            <a:r>
              <a:rPr lang="en-US" sz="1400" dirty="0" smtClean="0"/>
              <a:t>- </a:t>
            </a:r>
            <a:r>
              <a:rPr lang="ru-RU" sz="1400" dirty="0" smtClean="0"/>
              <a:t>Интеллектуальный сервис планирования рабочих маршрутов для инженеров с учетом временных окон и сложности проводимых </a:t>
            </a:r>
            <a:r>
              <a:rPr lang="ru-RU" sz="1400" dirty="0" smtClean="0"/>
              <a:t>работ</a:t>
            </a:r>
            <a:endParaRPr lang="ru-RU" sz="1400" dirty="0" smtClean="0"/>
          </a:p>
        </p:txBody>
      </p:sp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42AA0FBE-CF0A-64AF-80E8-EF1996F56DB8}"/>
              </a:ext>
            </a:extLst>
          </p:cNvPr>
          <p:cNvSpPr/>
          <p:nvPr/>
        </p:nvSpPr>
        <p:spPr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pic>
        <p:nvPicPr>
          <p:cNvPr id="8" name="Image 18" descr=" ">
            <a:extLst>
              <a:ext uri="{FF2B5EF4-FFF2-40B4-BE49-F238E27FC236}">
                <a16:creationId xmlns:a16="http://schemas.microsoft.com/office/drawing/2014/main" xmlns="" id="{C2BC9203-CF6F-6C1A-1FE4-63D3D384EF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37298" y="429398"/>
            <a:ext cx="2573227" cy="8191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xmlns="" val="19806660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Прямоугольник 2">
            <a:extLst>
              <a:ext uri="{FF2B5EF4-FFF2-40B4-BE49-F238E27FC236}">
                <a16:creationId xmlns:a16="http://schemas.microsoft.com/office/drawing/2014/main" xmlns="" id="{13BA75DB-8EAE-769C-2B17-FF7CD6EEF6C6}"/>
              </a:ext>
            </a:extLst>
          </p:cNvPr>
          <p:cNvSpPr/>
          <p:nvPr/>
        </p:nvSpPr>
        <p:spPr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dirty="0"/>
          </a:p>
        </p:txBody>
      </p:sp>
      <p:pic>
        <p:nvPicPr>
          <p:cNvPr id="20" name="Рисунок 19" descr="Снимок.JPG"/>
          <p:cNvPicPr>
            <a:picLocks noGrp="1" noChangeAspect="1"/>
          </p:cNvPicPr>
          <p:nvPr>
            <p:ph type="pic" sz="quarter" idx="10"/>
          </p:nvPr>
        </p:nvPicPr>
        <p:blipFill>
          <a:blip r:embed="rId3"/>
          <a:srcRect t="12305" b="12305"/>
          <a:stretch>
            <a:fillRect/>
          </a:stretch>
        </p:blipFill>
        <p:spPr>
          <a:xfrm>
            <a:off x="0" y="334963"/>
            <a:ext cx="6456363" cy="2971800"/>
          </a:xfrm>
        </p:spPr>
      </p:pic>
      <p:sp>
        <p:nvSpPr>
          <p:cNvPr id="6" name="Текст 8">
            <a:extLst>
              <a:ext uri="{FF2B5EF4-FFF2-40B4-BE49-F238E27FC236}">
                <a16:creationId xmlns:a16="http://schemas.microsoft.com/office/drawing/2014/main" xmlns="" id="{32D7670A-4313-AE7C-DDA9-134ADC224C94}"/>
              </a:ext>
            </a:extLst>
          </p:cNvPr>
          <p:cNvSpPr txBox="1">
            <a:spLocks/>
          </p:cNvSpPr>
          <p:nvPr/>
        </p:nvSpPr>
        <p:spPr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Краткое описание решения:</a:t>
            </a:r>
          </a:p>
        </p:txBody>
      </p:sp>
      <p:sp>
        <p:nvSpPr>
          <p:cNvPr id="8" name="Текст 8">
            <a:extLst>
              <a:ext uri="{FF2B5EF4-FFF2-40B4-BE49-F238E27FC236}">
                <a16:creationId xmlns:a16="http://schemas.microsoft.com/office/drawing/2014/main" xmlns="" id="{D8A04531-793D-BF7A-34F3-615C18C06BA5}"/>
              </a:ext>
            </a:extLst>
          </p:cNvPr>
          <p:cNvSpPr txBox="1">
            <a:spLocks/>
          </p:cNvSpPr>
          <p:nvPr/>
        </p:nvSpPr>
        <p:spPr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Каждое решение объяснено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приведены причины выбора той или иной бригады на заявку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Присутствует </a:t>
            </a:r>
            <a:r>
              <a:rPr lang="en-US" sz="1000" dirty="0" smtClean="0">
                <a:solidFill>
                  <a:schemeClr val="tx1"/>
                </a:solidFill>
              </a:rPr>
              <a:t>AI</a:t>
            </a:r>
            <a:r>
              <a:rPr lang="en-US" sz="1000" dirty="0" smtClean="0">
                <a:solidFill>
                  <a:schemeClr val="tx1"/>
                </a:solidFill>
              </a:rPr>
              <a:t>-</a:t>
            </a:r>
            <a:r>
              <a:rPr lang="ru-RU" sz="1000" dirty="0" smtClean="0">
                <a:solidFill>
                  <a:schemeClr val="tx1"/>
                </a:solidFill>
              </a:rPr>
              <a:t>помощник – переводит естественный язык в события на временной шкале</a:t>
            </a:r>
            <a:endParaRPr lang="en-US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Диспетчер может выбрать способ перераспределения бригад в результате события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ru-RU" sz="1000" dirty="0" smtClean="0">
                <a:solidFill>
                  <a:schemeClr val="tx1"/>
                </a:solidFill>
              </a:rPr>
              <a:t>либо вручную отдать заявку нужной бригаде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Возможность выбора уровня загрузки инженеров, а также переключение обеда в течение дня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4" name="Текст 8">
            <a:extLst>
              <a:ext uri="{FF2B5EF4-FFF2-40B4-BE49-F238E27FC236}">
                <a16:creationId xmlns:a16="http://schemas.microsoft.com/office/drawing/2014/main" xmlns="" id="{A66B04C6-E9BA-5BA2-7A5C-84468D491C57}"/>
              </a:ext>
            </a:extLst>
          </p:cNvPr>
          <p:cNvSpPr txBox="1">
            <a:spLocks/>
          </p:cNvSpPr>
          <p:nvPr/>
        </p:nvSpPr>
        <p:spPr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Капитан: </a:t>
            </a:r>
            <a:r>
              <a:rPr lang="ru-RU" dirty="0" smtClean="0">
                <a:solidFill>
                  <a:schemeClr val="tx1"/>
                </a:solidFill>
              </a:rPr>
              <a:t>Радченко Руслан Дмитриевич</a:t>
            </a:r>
            <a:r>
              <a:rPr lang="en-US" dirty="0" smtClean="0">
                <a:solidFill>
                  <a:schemeClr val="tx1"/>
                </a:solidFill>
              </a:rPr>
              <a:t>, backend+</a:t>
            </a:r>
            <a:r>
              <a:rPr lang="ru-RU" dirty="0" smtClean="0">
                <a:solidFill>
                  <a:schemeClr val="tx1"/>
                </a:solidFill>
              </a:rPr>
              <a:t>алгоритмы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Кол-во участников: </a:t>
            </a:r>
            <a:r>
              <a:rPr lang="ru-RU" dirty="0" smtClean="0">
                <a:solidFill>
                  <a:schemeClr val="tx1"/>
                </a:solidFill>
              </a:rPr>
              <a:t>2 человека</a:t>
            </a:r>
            <a:endParaRPr lang="ru-RU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Краткое описание: </a:t>
            </a: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i="1" dirty="0" smtClean="0">
                <a:solidFill>
                  <a:schemeClr val="tx1"/>
                </a:solidFill>
              </a:rPr>
              <a:t>Python</a:t>
            </a:r>
            <a:r>
              <a:rPr lang="ru-RU" i="1" dirty="0" smtClean="0">
                <a:solidFill>
                  <a:schemeClr val="tx1"/>
                </a:solidFill>
              </a:rPr>
              <a:t> 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FontTx/>
              <a:buChar char="-"/>
            </a:pPr>
            <a:r>
              <a:rPr lang="ru-RU" i="1" dirty="0" smtClean="0">
                <a:solidFill>
                  <a:schemeClr val="tx1"/>
                </a:solidFill>
              </a:rPr>
              <a:t>Руслан работает на </a:t>
            </a:r>
            <a:r>
              <a:rPr lang="ru-RU" i="1" dirty="0" err="1" smtClean="0">
                <a:solidFill>
                  <a:schemeClr val="tx1"/>
                </a:solidFill>
              </a:rPr>
              <a:t>фрилансе</a:t>
            </a:r>
            <a:r>
              <a:rPr lang="en-US" i="1" dirty="0" smtClean="0">
                <a:solidFill>
                  <a:schemeClr val="tx1"/>
                </a:solidFill>
              </a:rPr>
              <a:t>, </a:t>
            </a:r>
            <a:r>
              <a:rPr lang="ru-RU" i="1" dirty="0" smtClean="0">
                <a:solidFill>
                  <a:schemeClr val="tx1"/>
                </a:solidFill>
              </a:rPr>
              <a:t>Мария работает не в </a:t>
            </a:r>
            <a:r>
              <a:rPr lang="en-US" i="1" dirty="0" smtClean="0">
                <a:solidFill>
                  <a:schemeClr val="tx1"/>
                </a:solidFill>
              </a:rPr>
              <a:t>IT</a:t>
            </a:r>
            <a:endParaRPr lang="ru-RU" i="1" dirty="0">
              <a:solidFill>
                <a:schemeClr val="tx1"/>
              </a:solidFill>
            </a:endParaRPr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lang="ru-RU" b="1" dirty="0">
                <a:solidFill>
                  <a:schemeClr val="tx1"/>
                </a:solidFill>
              </a:rPr>
              <a:t>Город и регион</a:t>
            </a:r>
            <a:r>
              <a:rPr lang="ru-RU" b="1" dirty="0" smtClean="0">
                <a:solidFill>
                  <a:schemeClr val="tx1"/>
                </a:solidFill>
              </a:rPr>
              <a:t>: </a:t>
            </a:r>
            <a:r>
              <a:rPr lang="ru-RU" dirty="0" smtClean="0">
                <a:solidFill>
                  <a:schemeClr val="tx1"/>
                </a:solidFill>
              </a:rPr>
              <a:t>Москва</a:t>
            </a:r>
            <a:endParaRPr lang="ru-RU" b="1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835E7A1E-FFEA-1C2F-65E6-56769FEFB842}"/>
              </a:ext>
            </a:extLst>
          </p:cNvPr>
          <p:cNvSpPr txBox="1">
            <a:spLocks/>
          </p:cNvSpPr>
          <p:nvPr/>
        </p:nvSpPr>
        <p:spPr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О команде</a:t>
            </a:r>
          </a:p>
        </p:txBody>
      </p:sp>
      <p:sp>
        <p:nvSpPr>
          <p:cNvPr id="18" name="Заголовок 6">
            <a:extLst>
              <a:ext uri="{FF2B5EF4-FFF2-40B4-BE49-F238E27FC236}">
                <a16:creationId xmlns:a16="http://schemas.microsoft.com/office/drawing/2014/main" xmlns="" id="{7CB04CCE-DD7B-2901-A280-8E4E079451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19903" y="1039236"/>
            <a:ext cx="3636703" cy="1015128"/>
          </a:xfrm>
        </p:spPr>
        <p:txBody>
          <a:bodyPr/>
          <a:lstStyle/>
          <a:p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КОМАНДА 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“</a:t>
            </a:r>
            <a:r>
              <a:rPr lang="ru-RU" sz="2400" dirty="0" smtClean="0">
                <a:solidFill>
                  <a:schemeClr val="accent5"/>
                </a:solidFill>
                <a:latin typeface="+mn-lt"/>
              </a:rPr>
              <a:t>ДВОЕ ИЗ ЛАРЦА</a:t>
            </a:r>
            <a:r>
              <a:rPr lang="en-US" sz="2400" dirty="0" smtClean="0">
                <a:solidFill>
                  <a:schemeClr val="accent5"/>
                </a:solidFill>
                <a:latin typeface="+mn-lt"/>
              </a:rPr>
              <a:t>”</a:t>
            </a:r>
            <a:endParaRPr lang="ru-RU" sz="2400" dirty="0">
              <a:solidFill>
                <a:schemeClr val="accent5"/>
              </a:solidFill>
              <a:latin typeface="+mn-lt"/>
            </a:endParaRPr>
          </a:p>
        </p:txBody>
      </p:sp>
      <p:cxnSp>
        <p:nvCxnSpPr>
          <p:cNvPr id="7" name="Прямая соединительная линия 6">
            <a:extLst>
              <a:ext uri="{FF2B5EF4-FFF2-40B4-BE49-F238E27FC236}">
                <a16:creationId xmlns:a16="http://schemas.microsoft.com/office/drawing/2014/main" xmlns="" id="{7C7CCC6C-58F8-0E63-53E4-87AE6D59DD62}"/>
              </a:ext>
            </a:extLst>
          </p:cNvPr>
          <p:cNvCxnSpPr>
            <a:cxnSpLocks/>
          </p:cNvCxnSpPr>
          <p:nvPr/>
        </p:nvCxnSpPr>
        <p:spPr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" name="Прямая соединительная линия 15">
            <a:extLst>
              <a:ext uri="{FF2B5EF4-FFF2-40B4-BE49-F238E27FC236}">
                <a16:creationId xmlns:a16="http://schemas.microsoft.com/office/drawing/2014/main" xmlns="" id="{1B3B23E2-26F4-92D2-2DA4-7A9B6B8237E1}"/>
              </a:ext>
            </a:extLst>
          </p:cNvPr>
          <p:cNvCxnSpPr>
            <a:cxnSpLocks/>
          </p:cNvCxnSpPr>
          <p:nvPr/>
        </p:nvCxnSpPr>
        <p:spPr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7" name="Прямая соединительная линия 16">
            <a:extLst>
              <a:ext uri="{FF2B5EF4-FFF2-40B4-BE49-F238E27FC236}">
                <a16:creationId xmlns:a16="http://schemas.microsoft.com/office/drawing/2014/main" xmlns="" id="{0C8347DC-DEA9-7C56-5C73-FA89FB55D49D}"/>
              </a:ext>
            </a:extLst>
          </p:cNvPr>
          <p:cNvCxnSpPr>
            <a:cxnSpLocks/>
          </p:cNvCxnSpPr>
          <p:nvPr/>
        </p:nvCxnSpPr>
        <p:spPr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" name="Текст 8">
            <a:extLst>
              <a:ext uri="{FF2B5EF4-FFF2-40B4-BE49-F238E27FC236}">
                <a16:creationId xmlns:a16="http://schemas.microsoft.com/office/drawing/2014/main" xmlns="" id="{D556F1CE-69ED-AE0F-D388-9032B66CC535}"/>
              </a:ext>
            </a:extLst>
          </p:cNvPr>
          <p:cNvSpPr txBox="1">
            <a:spLocks/>
          </p:cNvSpPr>
          <p:nvPr/>
        </p:nvSpPr>
        <p:spPr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sz="1600" b="1" dirty="0">
                <a:solidFill>
                  <a:schemeClr val="accent5"/>
                </a:solidFill>
              </a:rPr>
              <a:t>Уникальность решения:</a:t>
            </a:r>
          </a:p>
        </p:txBody>
      </p:sp>
      <p:sp>
        <p:nvSpPr>
          <p:cNvPr id="5" name="Текст 8">
            <a:extLst>
              <a:ext uri="{FF2B5EF4-FFF2-40B4-BE49-F238E27FC236}">
                <a16:creationId xmlns:a16="http://schemas.microsoft.com/office/drawing/2014/main" xmlns="" id="{6811D897-A2AE-AA09-747E-1B90C43B5420}"/>
              </a:ext>
            </a:extLst>
          </p:cNvPr>
          <p:cNvSpPr txBox="1">
            <a:spLocks/>
          </p:cNvSpPr>
          <p:nvPr/>
        </p:nvSpPr>
        <p:spPr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Решающий алгоритм на </a:t>
            </a:r>
            <a:r>
              <a:rPr lang="en-US" sz="1000" dirty="0" smtClean="0">
                <a:solidFill>
                  <a:schemeClr val="tx1"/>
                </a:solidFill>
              </a:rPr>
              <a:t>OR-tools, </a:t>
            </a:r>
            <a:r>
              <a:rPr lang="ru-RU" sz="1000" dirty="0" smtClean="0">
                <a:solidFill>
                  <a:schemeClr val="tx1"/>
                </a:solidFill>
              </a:rPr>
              <a:t>стек – </a:t>
            </a:r>
            <a:r>
              <a:rPr lang="en-US" sz="1000" dirty="0" smtClean="0">
                <a:solidFill>
                  <a:schemeClr val="tx1"/>
                </a:solidFill>
              </a:rPr>
              <a:t>Python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FastAPI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err="1" smtClean="0">
                <a:solidFill>
                  <a:schemeClr val="tx1"/>
                </a:solidFill>
              </a:rPr>
              <a:t>Postgres</a:t>
            </a:r>
            <a:r>
              <a:rPr lang="en-US" sz="1000" dirty="0" smtClean="0">
                <a:solidFill>
                  <a:schemeClr val="tx1"/>
                </a:solidFill>
              </a:rPr>
              <a:t>, </a:t>
            </a:r>
            <a:r>
              <a:rPr lang="en-US" sz="1000" dirty="0" smtClean="0">
                <a:solidFill>
                  <a:schemeClr val="tx1"/>
                </a:solidFill>
              </a:rPr>
              <a:t>React</a:t>
            </a:r>
            <a:r>
              <a:rPr lang="ru-RU" sz="1000" dirty="0" smtClean="0">
                <a:solidFill>
                  <a:schemeClr val="tx1"/>
                </a:solidFill>
              </a:rPr>
              <a:t>, использовали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en-US" sz="1000" dirty="0" smtClean="0">
                <a:solidFill>
                  <a:schemeClr val="tx1"/>
                </a:solidFill>
              </a:rPr>
              <a:t>Claude Code </a:t>
            </a:r>
            <a:endParaRPr lang="ru-RU" sz="1000" dirty="0" smtClean="0">
              <a:solidFill>
                <a:schemeClr val="tx1"/>
              </a:solidFill>
            </a:endParaRP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Есть временная шкала с ползунком, показывающая состояние на любой момент времени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ru-RU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Поддерживается множество типов</a:t>
            </a: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событий</a:t>
            </a:r>
            <a:r>
              <a:rPr lang="en-US" sz="1000" dirty="0" smtClean="0">
                <a:solidFill>
                  <a:schemeClr val="tx1"/>
                </a:solidFill>
              </a:rPr>
              <a:t>,</a:t>
            </a:r>
            <a:r>
              <a:rPr lang="ru-RU" sz="1000" dirty="0" smtClean="0">
                <a:solidFill>
                  <a:schemeClr val="tx1"/>
                </a:solidFill>
              </a:rPr>
              <a:t> ломающих расписание</a:t>
            </a:r>
            <a:r>
              <a:rPr lang="en-US" sz="1000" dirty="0" smtClean="0">
                <a:solidFill>
                  <a:schemeClr val="tx1"/>
                </a:solidFill>
              </a:rPr>
              <a:t>: </a:t>
            </a:r>
            <a:r>
              <a:rPr lang="ru-RU" sz="1000" dirty="0" smtClean="0">
                <a:solidFill>
                  <a:schemeClr val="tx1"/>
                </a:solidFill>
              </a:rPr>
              <a:t>поломка транспорта, недоступность инженера, срочная авария</a:t>
            </a:r>
            <a:r>
              <a:rPr lang="en-US" sz="1000" dirty="0" smtClean="0">
                <a:solidFill>
                  <a:schemeClr val="tx1"/>
                </a:solidFill>
              </a:rPr>
              <a:t>, …</a:t>
            </a:r>
          </a:p>
          <a:p>
            <a:pPr marL="0" indent="0">
              <a:lnSpc>
                <a:spcPct val="100000"/>
              </a:lnSpc>
              <a:buFontTx/>
              <a:buChar char="-"/>
            </a:pPr>
            <a:r>
              <a:rPr lang="en-US" sz="1000" dirty="0" smtClean="0">
                <a:solidFill>
                  <a:schemeClr val="tx1"/>
                </a:solidFill>
              </a:rPr>
              <a:t> </a:t>
            </a:r>
            <a:r>
              <a:rPr lang="ru-RU" sz="1000" dirty="0" smtClean="0">
                <a:solidFill>
                  <a:schemeClr val="tx1"/>
                </a:solidFill>
              </a:rPr>
              <a:t>Подробная визуализация происходящего на карте Москвы и области</a:t>
            </a:r>
            <a:endParaRPr lang="ru-RU" sz="1000" dirty="0">
              <a:solidFill>
                <a:schemeClr val="tx1"/>
              </a:solidFill>
            </a:endParaRPr>
          </a:p>
        </p:txBody>
      </p:sp>
      <p:sp>
        <p:nvSpPr>
          <p:cNvPr id="10" name="Номер слайда 35">
            <a:extLst>
              <a:ext uri="{FF2B5EF4-FFF2-40B4-BE49-F238E27FC236}">
                <a16:creationId xmlns:a16="http://schemas.microsoft.com/office/drawing/2014/main" xmlns="" id="{75D9ACE7-3A6B-03B3-9BA4-502350CBAA74}"/>
              </a:ext>
            </a:extLst>
          </p:cNvPr>
          <p:cNvSpPr txBox="1">
            <a:spLocks/>
          </p:cNvSpPr>
          <p:nvPr/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fld id="{52DCC5B9-D646-4B76-891F-6FF4E74E9CB4}" type="slidenum">
              <a:rPr lang="ru-RU" sz="1200" smtClean="0">
                <a:solidFill>
                  <a:schemeClr val="accent5"/>
                </a:solidFill>
              </a:rPr>
              <a:pPr algn="ctr"/>
              <a:t>2</a:t>
            </a:fld>
            <a:endParaRPr lang="ru-RU" sz="1200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539778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D9AC977F-019F-1EBC-A1EC-CEAA645B59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Скругленный прямоугольник 55">
            <a:extLst>
              <a:ext uri="{FF2B5EF4-FFF2-40B4-BE49-F238E27FC236}">
                <a16:creationId xmlns:a16="http://schemas.microsoft.com/office/drawing/2014/main" xmlns="" id="{635392F3-78F4-5585-E25E-CDBEA7E9F10C}"/>
              </a:ext>
            </a:extLst>
          </p:cNvPr>
          <p:cNvSpPr/>
          <p:nvPr/>
        </p:nvSpPr>
        <p:spPr>
          <a:xfrm>
            <a:off x="2651394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57" name="Текст 8">
            <a:extLst>
              <a:ext uri="{FF2B5EF4-FFF2-40B4-BE49-F238E27FC236}">
                <a16:creationId xmlns:a16="http://schemas.microsoft.com/office/drawing/2014/main" xmlns="" id="{9398668D-F141-1433-7B1B-1518BC470E30}"/>
              </a:ext>
            </a:extLst>
          </p:cNvPr>
          <p:cNvSpPr txBox="1">
            <a:spLocks/>
          </p:cNvSpPr>
          <p:nvPr/>
        </p:nvSpPr>
        <p:spPr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base">
              <a:spcBef>
                <a:spcPts val="60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UX, product design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polessshhh</a:t>
            </a:r>
            <a:endParaRPr lang="ru-RU" sz="1200" dirty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+79777196837</a:t>
            </a:r>
            <a:endParaRPr lang="en-US" sz="1200" dirty="0" smtClean="0">
              <a:solidFill>
                <a:schemeClr val="tx1"/>
              </a:solidFill>
            </a:endParaRPr>
          </a:p>
          <a:p>
            <a:pPr fontAlgn="base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ru-RU" sz="1200" dirty="0" smtClean="0">
                <a:solidFill>
                  <a:schemeClr val="tx1"/>
                </a:solidFill>
              </a:rPr>
              <a:t>Работает не в </a:t>
            </a:r>
            <a:r>
              <a:rPr lang="en-US" sz="1200" dirty="0" smtClean="0">
                <a:solidFill>
                  <a:schemeClr val="tx1"/>
                </a:solidFill>
              </a:rPr>
              <a:t>IT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58" name="Текст 8">
            <a:extLst>
              <a:ext uri="{FF2B5EF4-FFF2-40B4-BE49-F238E27FC236}">
                <a16:creationId xmlns:a16="http://schemas.microsoft.com/office/drawing/2014/main" xmlns="" id="{8D1E397B-73F6-7777-9CD1-12E43986247F}"/>
              </a:ext>
            </a:extLst>
          </p:cNvPr>
          <p:cNvSpPr txBox="1">
            <a:spLocks/>
          </p:cNvSpPr>
          <p:nvPr/>
        </p:nvSpPr>
        <p:spPr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Мария </a:t>
            </a:r>
            <a:r>
              <a:rPr lang="ru-RU" sz="1600" b="1" dirty="0" err="1" smtClean="0">
                <a:solidFill>
                  <a:schemeClr val="accent5"/>
                </a:solidFill>
              </a:rPr>
              <a:t>Выштак</a:t>
            </a:r>
            <a:endParaRPr lang="ru-RU" sz="1600" b="1" dirty="0">
              <a:solidFill>
                <a:schemeClr val="accent5"/>
              </a:solidFill>
            </a:endParaRPr>
          </a:p>
        </p:txBody>
      </p:sp>
      <p:sp>
        <p:nvSpPr>
          <p:cNvPr id="17" name="Скругленный прямоугольник 16">
            <a:extLst>
              <a:ext uri="{FF2B5EF4-FFF2-40B4-BE49-F238E27FC236}">
                <a16:creationId xmlns:a16="http://schemas.microsoft.com/office/drawing/2014/main" xmlns="" id="{FC0035EA-559C-020F-D4A8-B4146A26E8E5}"/>
              </a:ext>
            </a:extLst>
          </p:cNvPr>
          <p:cNvSpPr/>
          <p:nvPr/>
        </p:nvSpPr>
        <p:spPr>
          <a:xfrm>
            <a:off x="346076" y="1522006"/>
            <a:ext cx="2192713" cy="4834352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3" name="Скругленный прямоугольник 12">
            <a:extLst>
              <a:ext uri="{FF2B5EF4-FFF2-40B4-BE49-F238E27FC236}">
                <a16:creationId xmlns:a16="http://schemas.microsoft.com/office/drawing/2014/main" xmlns="" id="{4F9EEB10-D234-64E3-5744-B3981F11A494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ADFA4405-6EC1-3A52-92A7-2CA2130BB2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3</a:t>
            </a:fld>
            <a:endParaRPr lang="ru-RU" dirty="0">
              <a:solidFill>
                <a:schemeClr val="bg1"/>
              </a:solidFill>
            </a:endParaRPr>
          </a:p>
        </p:txBody>
      </p:sp>
      <p:pic>
        <p:nvPicPr>
          <p:cNvPr id="25" name="Рисунок 24" descr="ЯЯЯЯ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4"/>
          <a:srcRect t="5914" b="5914"/>
          <a:stretch>
            <a:fillRect/>
          </a:stretch>
        </p:blipFill>
        <p:spPr>
          <a:xfrm>
            <a:off x="581025" y="1816100"/>
            <a:ext cx="1722438" cy="1552575"/>
          </a:xfrm>
        </p:spPr>
      </p:pic>
      <p:pic>
        <p:nvPicPr>
          <p:cNvPr id="26" name="Рисунок 25" descr="МАРИЯ ХАКАТОН.JPG"/>
          <p:cNvPicPr>
            <a:picLocks noGrp="1" noChangeAspect="1"/>
          </p:cNvPicPr>
          <p:nvPr>
            <p:ph type="pic" sz="quarter" idx="4294967295"/>
          </p:nvPr>
        </p:nvPicPr>
        <p:blipFill>
          <a:blip r:embed="rId5"/>
          <a:srcRect t="5960" b="5960"/>
          <a:stretch>
            <a:fillRect/>
          </a:stretch>
        </p:blipFill>
        <p:spPr>
          <a:xfrm>
            <a:off x="2886075" y="1827213"/>
            <a:ext cx="1722438" cy="1541462"/>
          </a:xfrm>
        </p:spPr>
      </p:pic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A8302BF4-F579-F30C-0D0B-9EC587DE2A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359" y="449787"/>
            <a:ext cx="9862734" cy="376138"/>
          </a:xfrm>
        </p:spPr>
        <p:txBody>
          <a:bodyPr/>
          <a:lstStyle/>
          <a:p>
            <a:r>
              <a:rPr lang="ru-RU" sz="1800" dirty="0" smtClean="0">
                <a:latin typeface="+mn-lt"/>
              </a:rPr>
              <a:t>КОМАНДА </a:t>
            </a:r>
            <a:r>
              <a:rPr lang="en-US" sz="1800" dirty="0" smtClean="0">
                <a:latin typeface="+mn-lt"/>
              </a:rPr>
              <a:t>“</a:t>
            </a:r>
            <a:r>
              <a:rPr lang="ru-RU" sz="1800" dirty="0" smtClean="0">
                <a:latin typeface="+mn-lt"/>
              </a:rPr>
              <a:t>ДВОЕ ИЗ ЛАРЦА</a:t>
            </a:r>
            <a:r>
              <a:rPr lang="en-US" sz="1800" dirty="0" smtClean="0">
                <a:latin typeface="+mn-lt"/>
              </a:rPr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8392728C-0D28-63FE-46DB-BBDA5226DAE1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 fontAlgn="base">
              <a:spcBef>
                <a:spcPts val="60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Бэкенд+алгоритмы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err="1" smtClean="0">
                <a:solidFill>
                  <a:schemeClr val="tx1"/>
                </a:solidFill>
              </a:rPr>
              <a:t>tg</a:t>
            </a:r>
            <a:r>
              <a:rPr lang="en-US" sz="1200" dirty="0" smtClean="0">
                <a:solidFill>
                  <a:schemeClr val="tx1"/>
                </a:solidFill>
              </a:rPr>
              <a:t> @</a:t>
            </a:r>
            <a:r>
              <a:rPr lang="en-US" sz="1200" dirty="0" err="1" smtClean="0">
                <a:solidFill>
                  <a:schemeClr val="tx1"/>
                </a:solidFill>
              </a:rPr>
              <a:t>kfkfkfo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1200" dirty="0" smtClean="0">
                <a:solidFill>
                  <a:schemeClr val="tx1"/>
                </a:solidFill>
              </a:rPr>
              <a:t>+79167758044</a:t>
            </a:r>
            <a:endParaRPr lang="ru-RU" sz="1200" dirty="0">
              <a:solidFill>
                <a:schemeClr val="tx1"/>
              </a:solidFill>
            </a:endParaRPr>
          </a:p>
          <a:p>
            <a:pPr rtl="0" fontAlgn="base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ru-RU" sz="1200" dirty="0" err="1" smtClean="0">
                <a:solidFill>
                  <a:schemeClr val="tx1"/>
                </a:solidFill>
              </a:rPr>
              <a:t>Фриланс</a:t>
            </a:r>
            <a:endParaRPr lang="ru-RU" sz="1200" dirty="0">
              <a:solidFill>
                <a:schemeClr val="tx1"/>
              </a:solidFill>
            </a:endParaRPr>
          </a:p>
        </p:txBody>
      </p:sp>
      <p:sp>
        <p:nvSpPr>
          <p:cNvPr id="15" name="Текст 8">
            <a:extLst>
              <a:ext uri="{FF2B5EF4-FFF2-40B4-BE49-F238E27FC236}">
                <a16:creationId xmlns:a16="http://schemas.microsoft.com/office/drawing/2014/main" xmlns="" id="{34A1767C-75B2-E3D4-5057-DD85E6AB1440}"/>
              </a:ext>
            </a:extLst>
          </p:cNvPr>
          <p:cNvSpPr txBox="1">
            <a:spLocks/>
          </p:cNvSpPr>
          <p:nvPr/>
        </p:nvSpPr>
        <p:spPr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ru-RU" sz="1600" b="1" dirty="0" smtClean="0">
                <a:solidFill>
                  <a:schemeClr val="accent5"/>
                </a:solidFill>
              </a:rPr>
              <a:t>Радченко Руслан</a:t>
            </a:r>
            <a:endParaRPr lang="ru-RU" sz="1600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92214703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E112D283-FCC2-40D9-9CEA-EF1BD3595E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Скругленный прямоугольник 1">
            <a:extLst>
              <a:ext uri="{FF2B5EF4-FFF2-40B4-BE49-F238E27FC236}">
                <a16:creationId xmlns:a16="http://schemas.microsoft.com/office/drawing/2014/main" xmlns="" id="{9376089D-9A77-730A-ADAF-A685C17F1AED}"/>
              </a:ext>
            </a:extLst>
          </p:cNvPr>
          <p:cNvSpPr/>
          <p:nvPr/>
        </p:nvSpPr>
        <p:spPr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18" name="Номер слайда 17">
            <a:extLst>
              <a:ext uri="{FF2B5EF4-FFF2-40B4-BE49-F238E27FC236}">
                <a16:creationId xmlns:a16="http://schemas.microsoft.com/office/drawing/2014/main" xmlns="" id="{74006CB4-BD4D-EF41-3DCA-EDB126B8489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accent5"/>
                </a:solidFill>
              </a:rPr>
              <a:pPr/>
              <a:t>4</a:t>
            </a:fld>
            <a:endParaRPr lang="ru-RU" dirty="0">
              <a:solidFill>
                <a:schemeClr val="accent5"/>
              </a:solidFill>
            </a:endParaRPr>
          </a:p>
        </p:txBody>
      </p:sp>
      <p:sp>
        <p:nvSpPr>
          <p:cNvPr id="7" name="Заголовок 6">
            <a:extLst>
              <a:ext uri="{FF2B5EF4-FFF2-40B4-BE49-F238E27FC236}">
                <a16:creationId xmlns:a16="http://schemas.microsoft.com/office/drawing/2014/main" xmlns="" id="{9F7DE1A9-1AD8-0498-5446-8F5D40911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7849" y="449787"/>
            <a:ext cx="9862734" cy="376138"/>
          </a:xfrm>
        </p:spPr>
        <p:txBody>
          <a:bodyPr/>
          <a:lstStyle/>
          <a:p>
            <a:r>
              <a:rPr lang="ru-RU" sz="1800" dirty="0" smtClean="0"/>
              <a:t>КОМАНДА </a:t>
            </a:r>
            <a:r>
              <a:rPr lang="en-US" sz="1800" dirty="0" smtClean="0"/>
              <a:t>“</a:t>
            </a:r>
            <a:r>
              <a:rPr lang="ru-RU" sz="1800" dirty="0" smtClean="0"/>
              <a:t>ДВОЕ ИЗ ЛАРЦА</a:t>
            </a:r>
            <a:r>
              <a:rPr lang="en-US" sz="1800" dirty="0" smtClean="0"/>
              <a:t>”</a:t>
            </a:r>
            <a:endParaRPr lang="ru-RU" sz="1800" dirty="0">
              <a:latin typeface="+mn-lt"/>
            </a:endParaRPr>
          </a:p>
        </p:txBody>
      </p:sp>
      <p:sp>
        <p:nvSpPr>
          <p:cNvPr id="37" name="Текст 8">
            <a:extLst>
              <a:ext uri="{FF2B5EF4-FFF2-40B4-BE49-F238E27FC236}">
                <a16:creationId xmlns:a16="http://schemas.microsoft.com/office/drawing/2014/main" xmlns="" id="{C7B87D78-5037-F48A-F05C-8E80D4A5A4D0}"/>
              </a:ext>
            </a:extLst>
          </p:cNvPr>
          <p:cNvSpPr>
            <a:spLocks noGrp="1"/>
          </p:cNvSpPr>
          <p:nvPr>
            <p:ph type="body" sz="quarter" idx="27"/>
          </p:nvPr>
        </p:nvSpPr>
        <p:spPr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chemeClr val="tx1"/>
                </a:solidFill>
              </a:rPr>
              <a:t>Познакомились в чате по </a:t>
            </a:r>
            <a:r>
              <a:rPr lang="en-US" dirty="0" smtClean="0">
                <a:solidFill>
                  <a:schemeClr val="tx1"/>
                </a:solidFill>
              </a:rPr>
              <a:t>Python, </a:t>
            </a:r>
            <a:r>
              <a:rPr lang="ru-RU" dirty="0" smtClean="0">
                <a:solidFill>
                  <a:schemeClr val="tx1"/>
                </a:solidFill>
              </a:rPr>
              <a:t>это наш первый совместный </a:t>
            </a:r>
            <a:r>
              <a:rPr lang="ru-RU" dirty="0" err="1" smtClean="0">
                <a:solidFill>
                  <a:schemeClr val="tx1"/>
                </a:solidFill>
              </a:rPr>
              <a:t>хакатон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38" name="Текст 8">
            <a:extLst>
              <a:ext uri="{FF2B5EF4-FFF2-40B4-BE49-F238E27FC236}">
                <a16:creationId xmlns:a16="http://schemas.microsoft.com/office/drawing/2014/main" xmlns="" id="{BAD76A99-219B-023F-35AA-74EDFF6A51FC}"/>
              </a:ext>
            </a:extLst>
          </p:cNvPr>
          <p:cNvSpPr txBox="1">
            <a:spLocks/>
          </p:cNvSpPr>
          <p:nvPr/>
        </p:nvSpPr>
        <p:spPr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Краткая история команды:</a:t>
            </a:r>
          </a:p>
        </p:txBody>
      </p:sp>
      <p:sp>
        <p:nvSpPr>
          <p:cNvPr id="40" name="Текст 8">
            <a:extLst>
              <a:ext uri="{FF2B5EF4-FFF2-40B4-BE49-F238E27FC236}">
                <a16:creationId xmlns:a16="http://schemas.microsoft.com/office/drawing/2014/main" xmlns="" id="{A812662F-49C9-0A37-1671-EE5E187C65D2}"/>
              </a:ext>
            </a:extLst>
          </p:cNvPr>
          <p:cNvSpPr txBox="1">
            <a:spLocks/>
          </p:cNvSpPr>
          <p:nvPr/>
        </p:nvSpPr>
        <p:spPr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Выбор алгоритма. Перебрали варианты и остановились на поиске с временными окнами, а потом добирали качество: до четырёх стратегий поиска в отдельных процессах за тот же лимит времени.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Подбор </a:t>
            </a:r>
            <a:r>
              <a:rPr lang="ru-RU" sz="1000" dirty="0" err="1" smtClean="0">
                <a:solidFill>
                  <a:srgbClr val="1C1D22"/>
                </a:solidFill>
              </a:rPr>
              <a:t>киллер-фич</a:t>
            </a:r>
            <a:r>
              <a:rPr lang="ru-RU" sz="1000" dirty="0" smtClean="0">
                <a:solidFill>
                  <a:srgbClr val="1C1D22"/>
                </a:solidFill>
              </a:rPr>
              <a:t>. Решали, что из задуманного действительно нужно диспетчеру: так появились варианты исправления с ценой решения, объяснения и шкала дня.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В данных не было ни инженеров, ни длительностей, ни координат. Восстанавливали их по контрольному распределению и нормативам организаторов и описали каждое допущение.</a:t>
            </a:r>
          </a:p>
          <a:p>
            <a:pPr>
              <a:buClr>
                <a:schemeClr val="accent1"/>
              </a:buClr>
            </a:pPr>
            <a:r>
              <a:rPr lang="ru-RU" sz="1000" dirty="0" smtClean="0">
                <a:solidFill>
                  <a:srgbClr val="1C1D22"/>
                </a:solidFill>
              </a:rPr>
              <a:t>Адреса из выгрузки </a:t>
            </a:r>
            <a:r>
              <a:rPr lang="ru-RU" sz="1000" dirty="0" err="1" smtClean="0">
                <a:solidFill>
                  <a:srgbClr val="1C1D22"/>
                </a:solidFill>
              </a:rPr>
              <a:t>геокодер</a:t>
            </a:r>
            <a:r>
              <a:rPr lang="ru-RU" sz="1000" dirty="0" smtClean="0">
                <a:solidFill>
                  <a:srgbClr val="1C1D22"/>
                </a:solidFill>
              </a:rPr>
              <a:t> понимал через раз — написали свой разбор адреса и </a:t>
            </a:r>
            <a:r>
              <a:rPr lang="ru-RU" sz="1000" dirty="0" err="1" smtClean="0">
                <a:solidFill>
                  <a:srgbClr val="1C1D22"/>
                </a:solidFill>
              </a:rPr>
              <a:t>закэшировали</a:t>
            </a:r>
            <a:r>
              <a:rPr lang="ru-RU" sz="1000" dirty="0" smtClean="0">
                <a:solidFill>
                  <a:srgbClr val="1C1D22"/>
                </a:solidFill>
              </a:rPr>
              <a:t> результаты.</a:t>
            </a:r>
            <a:endParaRPr lang="ru-RU" sz="1000" dirty="0">
              <a:solidFill>
                <a:srgbClr val="1C1D22"/>
              </a:solidFill>
            </a:endParaRPr>
          </a:p>
        </p:txBody>
      </p:sp>
      <p:sp>
        <p:nvSpPr>
          <p:cNvPr id="41" name="Текст 8">
            <a:extLst>
              <a:ext uri="{FF2B5EF4-FFF2-40B4-BE49-F238E27FC236}">
                <a16:creationId xmlns:a16="http://schemas.microsoft.com/office/drawing/2014/main" xmlns="" id="{1AF2119E-43D8-37AF-C511-A59B0DD883B0}"/>
              </a:ext>
            </a:extLst>
          </p:cNvPr>
          <p:cNvSpPr txBox="1">
            <a:spLocks/>
          </p:cNvSpPr>
          <p:nvPr/>
        </p:nvSpPr>
        <p:spPr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вы столкнулись и как их преодолели?</a:t>
            </a:r>
          </a:p>
        </p:txBody>
      </p:sp>
      <p:sp>
        <p:nvSpPr>
          <p:cNvPr id="43" name="Текст 8">
            <a:extLst>
              <a:ext uri="{FF2B5EF4-FFF2-40B4-BE49-F238E27FC236}">
                <a16:creationId xmlns:a16="http://schemas.microsoft.com/office/drawing/2014/main" xmlns="" id="{819ADE62-86A0-41CF-FEBE-6AC207E6AB95}"/>
              </a:ext>
            </a:extLst>
          </p:cNvPr>
          <p:cNvSpPr txBox="1">
            <a:spLocks/>
          </p:cNvSpPr>
          <p:nvPr/>
        </p:nvSpPr>
        <p:spPr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dirty="0" smtClean="0">
                <a:solidFill>
                  <a:srgbClr val="1C1D22"/>
                </a:solidFill>
              </a:rPr>
              <a:t>Задачу выбрали потому, что у неё есть проверяемый ответ: в данных лежит распределение живых диспетчеров, и с ним можно честно сравниться.</a:t>
            </a:r>
            <a:endParaRPr lang="ru-RU" dirty="0">
              <a:solidFill>
                <a:schemeClr val="tx1"/>
              </a:solidFill>
            </a:endParaRPr>
          </a:p>
        </p:txBody>
      </p:sp>
      <p:sp>
        <p:nvSpPr>
          <p:cNvPr id="44" name="Текст 8">
            <a:extLst>
              <a:ext uri="{FF2B5EF4-FFF2-40B4-BE49-F238E27FC236}">
                <a16:creationId xmlns:a16="http://schemas.microsoft.com/office/drawing/2014/main" xmlns="" id="{A0EBDB05-E223-F4C0-4AF4-743B80D718E1}"/>
              </a:ext>
            </a:extLst>
          </p:cNvPr>
          <p:cNvSpPr txBox="1">
            <a:spLocks/>
          </p:cNvSpPr>
          <p:nvPr/>
        </p:nvSpPr>
        <p:spPr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 dirty="0">
                <a:solidFill>
                  <a:schemeClr val="accent5"/>
                </a:solidFill>
              </a:rPr>
            </a:br>
            <a:r>
              <a:rPr lang="ru-RU" b="1" dirty="0">
                <a:solidFill>
                  <a:schemeClr val="accent5"/>
                </a:solidFill>
              </a:rPr>
              <a:t>из предложенных на хакатоне?</a:t>
            </a:r>
          </a:p>
        </p:txBody>
      </p:sp>
      <p:cxnSp>
        <p:nvCxnSpPr>
          <p:cNvPr id="5" name="Прямая соединительная линия 4">
            <a:extLst>
              <a:ext uri="{FF2B5EF4-FFF2-40B4-BE49-F238E27FC236}">
                <a16:creationId xmlns:a16="http://schemas.microsoft.com/office/drawing/2014/main" xmlns="" id="{8462540F-CBE5-F86F-AD60-3D1A03F73EED}"/>
              </a:ext>
            </a:extLst>
          </p:cNvPr>
          <p:cNvCxnSpPr>
            <a:cxnSpLocks/>
          </p:cNvCxnSpPr>
          <p:nvPr/>
        </p:nvCxnSpPr>
        <p:spPr>
          <a:xfrm>
            <a:off x="623888" y="2745691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6" name="Прямая соединительная линия 5">
            <a:extLst>
              <a:ext uri="{FF2B5EF4-FFF2-40B4-BE49-F238E27FC236}">
                <a16:creationId xmlns:a16="http://schemas.microsoft.com/office/drawing/2014/main" xmlns="" id="{43B6B201-8F98-911C-C812-B6DD350A7909}"/>
              </a:ext>
            </a:extLst>
          </p:cNvPr>
          <p:cNvCxnSpPr>
            <a:cxnSpLocks/>
          </p:cNvCxnSpPr>
          <p:nvPr/>
        </p:nvCxnSpPr>
        <p:spPr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8" name="Прямая соединительная линия 7">
            <a:extLst>
              <a:ext uri="{FF2B5EF4-FFF2-40B4-BE49-F238E27FC236}">
                <a16:creationId xmlns:a16="http://schemas.microsoft.com/office/drawing/2014/main" xmlns="" id="{935A7CAA-85B0-3D33-9D92-74AF00456FDE}"/>
              </a:ext>
            </a:extLst>
          </p:cNvPr>
          <p:cNvCxnSpPr>
            <a:cxnSpLocks/>
          </p:cNvCxnSpPr>
          <p:nvPr/>
        </p:nvCxnSpPr>
        <p:spPr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9" name="Текст 8">
            <a:extLst>
              <a:ext uri="{FF2B5EF4-FFF2-40B4-BE49-F238E27FC236}">
                <a16:creationId xmlns:a16="http://schemas.microsoft.com/office/drawing/2014/main" xmlns="" id="{DE3DBF43-8386-18C6-2DBB-93FBC617A211}"/>
              </a:ext>
            </a:extLst>
          </p:cNvPr>
          <p:cNvSpPr txBox="1">
            <a:spLocks/>
          </p:cNvSpPr>
          <p:nvPr/>
        </p:nvSpPr>
        <p:spPr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</a:pPr>
            <a:r>
              <a:rPr lang="ru-RU" b="1" dirty="0">
                <a:solidFill>
                  <a:schemeClr val="accent5"/>
                </a:solidFill>
              </a:rPr>
              <a:t>01</a:t>
            </a:r>
          </a:p>
        </p:txBody>
      </p:sp>
      <p:sp>
        <p:nvSpPr>
          <p:cNvPr id="11" name="Текст 8">
            <a:extLst>
              <a:ext uri="{FF2B5EF4-FFF2-40B4-BE49-F238E27FC236}">
                <a16:creationId xmlns:a16="http://schemas.microsoft.com/office/drawing/2014/main" xmlns="" id="{1C998835-697E-638C-C9A8-992A3CFE1585}"/>
              </a:ext>
            </a:extLst>
          </p:cNvPr>
          <p:cNvSpPr txBox="1">
            <a:spLocks/>
          </p:cNvSpPr>
          <p:nvPr/>
        </p:nvSpPr>
        <p:spPr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02</a:t>
            </a:r>
          </a:p>
        </p:txBody>
      </p:sp>
      <p:sp>
        <p:nvSpPr>
          <p:cNvPr id="12" name="Текст 8">
            <a:extLst>
              <a:ext uri="{FF2B5EF4-FFF2-40B4-BE49-F238E27FC236}">
                <a16:creationId xmlns:a16="http://schemas.microsoft.com/office/drawing/2014/main" xmlns="" id="{63CDAC47-57C1-8743-C534-E78438BFEAB6}"/>
              </a:ext>
            </a:extLst>
          </p:cNvPr>
          <p:cNvSpPr txBox="1">
            <a:spLocks/>
          </p:cNvSpPr>
          <p:nvPr/>
        </p:nvSpPr>
        <p:spPr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 eaLnBrk="1" latinLnBrk="0" hangingPunct="1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 pitchFamily="2" charset="2"/>
              <a:buChar char="§"/>
              <a:defRPr sz="1400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271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9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907" kern="12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6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 eaLnBrk="1" latinLnBrk="0" hangingPunct="1">
              <a:lnSpc>
                <a:spcPct val="90000"/>
              </a:lnSpc>
              <a:spcBef>
                <a:spcPts val="317"/>
              </a:spcBef>
              <a:buFont typeface="Arial" panose="020B0604020202020204" pitchFamily="34" charset="0"/>
              <a:buChar char="•"/>
              <a:defRPr sz="114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</a:pPr>
            <a:r>
              <a:rPr lang="ru-RU" b="1" dirty="0">
                <a:solidFill>
                  <a:schemeClr val="accent5"/>
                </a:solidFill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xmlns="" val="20355111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" cstate="print">
            <a:lum/>
          </a:blip>
          <a:srcRect/>
          <a:stretch>
            <a:fillRect/>
          </a:stretch>
        </a:blip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xmlns="" id="{4AD51DE2-6F1E-2FB8-52A8-A597ED4D8F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Скругленный прямоугольник 9">
            <a:extLst>
              <a:ext uri="{FF2B5EF4-FFF2-40B4-BE49-F238E27FC236}">
                <a16:creationId xmlns:a16="http://schemas.microsoft.com/office/drawing/2014/main" xmlns="" id="{99639827-4B20-41B4-B9A5-E5F859569F5A}"/>
              </a:ext>
            </a:extLst>
          </p:cNvPr>
          <p:cNvSpPr/>
          <p:nvPr/>
        </p:nvSpPr>
        <p:spPr>
          <a:xfrm>
            <a:off x="346075" y="324562"/>
            <a:ext cx="3750912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4" name="Скругленный прямоугольник 23">
            <a:extLst>
              <a:ext uri="{FF2B5EF4-FFF2-40B4-BE49-F238E27FC236}">
                <a16:creationId xmlns:a16="http://schemas.microsoft.com/office/drawing/2014/main" xmlns="" id="{D6D9A41E-4495-E50B-97DA-5E654B99A15A}"/>
              </a:ext>
            </a:extLst>
          </p:cNvPr>
          <p:cNvSpPr/>
          <p:nvPr/>
        </p:nvSpPr>
        <p:spPr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7" name="Скругленный прямоугольник 26">
            <a:extLst>
              <a:ext uri="{FF2B5EF4-FFF2-40B4-BE49-F238E27FC236}">
                <a16:creationId xmlns:a16="http://schemas.microsoft.com/office/drawing/2014/main" xmlns="" id="{4205FFC6-B5B1-7076-639B-E4DAFE652AFA}"/>
              </a:ext>
            </a:extLst>
          </p:cNvPr>
          <p:cNvSpPr/>
          <p:nvPr/>
        </p:nvSpPr>
        <p:spPr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chemeClr val="accent2"/>
              </a:solidFill>
            </a:endParaRPr>
          </a:p>
        </p:txBody>
      </p:sp>
      <p:sp>
        <p:nvSpPr>
          <p:cNvPr id="21" name="Номер слайда 20">
            <a:extLst>
              <a:ext uri="{FF2B5EF4-FFF2-40B4-BE49-F238E27FC236}">
                <a16:creationId xmlns:a16="http://schemas.microsoft.com/office/drawing/2014/main" xmlns="" id="{889AB292-D098-2ABD-0429-89B4EFAD43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/>
        <p:txBody>
          <a:bodyPr/>
          <a:lstStyle/>
          <a:p>
            <a:fld id="{52DCC5B9-D646-4B76-891F-6FF4E74E9CB4}" type="slidenum">
              <a:rPr lang="ru-RU" smtClean="0">
                <a:solidFill>
                  <a:schemeClr val="bg1"/>
                </a:solidFill>
              </a:rPr>
              <a:pPr/>
              <a:t>5</a:t>
            </a:fld>
            <a:endParaRPr lang="ru-RU" dirty="0">
              <a:solidFill>
                <a:schemeClr val="bg1"/>
              </a:solidFill>
            </a:endParaRP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xmlns="" id="{B2BA7842-46FE-F786-9D85-92BBE62C549A}"/>
              </a:ext>
            </a:extLst>
          </p:cNvPr>
          <p:cNvSpPr>
            <a:spLocks noGrp="1"/>
          </p:cNvSpPr>
          <p:nvPr>
            <p:ph type="body" sz="quarter" idx="38"/>
          </p:nvPr>
        </p:nvSpPr>
        <p:spPr>
          <a:xfrm>
            <a:off x="589493" y="1920927"/>
            <a:ext cx="4929861" cy="3868581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Задача маршрутизации с окнами в </a:t>
            </a:r>
            <a:r>
              <a:rPr lang="ru-RU" sz="1400" dirty="0" err="1" smtClean="0">
                <a:solidFill>
                  <a:srgbClr val="1C1D22"/>
                </a:solidFill>
              </a:rPr>
              <a:t>OR-Tools</a:t>
            </a:r>
            <a:r>
              <a:rPr lang="ru-RU" sz="1400" dirty="0" smtClean="0">
                <a:solidFill>
                  <a:srgbClr val="1C1D22"/>
                </a:solidFill>
              </a:rPr>
              <a:t>: навыки, окна, смены, транспорт и оборудование; до четырёх стратегий поиска разом.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Время и пробег по дорогам: OSRM с графом Москвы и области, общественный транспорт — </a:t>
            </a:r>
            <a:r>
              <a:rPr lang="ru-RU" sz="1400" dirty="0" smtClean="0">
                <a:solidFill>
                  <a:srgbClr val="1C1D22"/>
                </a:solidFill>
              </a:rPr>
              <a:t>данные из открытого </a:t>
            </a:r>
            <a:r>
              <a:rPr lang="en-US" sz="1400" dirty="0" smtClean="0">
                <a:solidFill>
                  <a:srgbClr val="1C1D22"/>
                </a:solidFill>
              </a:rPr>
              <a:t>API</a:t>
            </a:r>
            <a:r>
              <a:rPr lang="ru-RU" sz="1400" dirty="0" smtClean="0">
                <a:solidFill>
                  <a:srgbClr val="1C1D22"/>
                </a:solidFill>
              </a:rPr>
              <a:t>.</a:t>
            </a:r>
            <a:endParaRPr lang="ru-RU" sz="1400" dirty="0" smtClean="0">
              <a:solidFill>
                <a:srgbClr val="1C1D22"/>
              </a:solidFill>
            </a:endParaRP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Утренний план ищется </a:t>
            </a:r>
            <a:r>
              <a:rPr lang="ru-RU" sz="1400" dirty="0" smtClean="0">
                <a:solidFill>
                  <a:srgbClr val="1C1D22"/>
                </a:solidFill>
              </a:rPr>
              <a:t>заранее, </a:t>
            </a:r>
            <a:r>
              <a:rPr lang="ru-RU" sz="1400" dirty="0" smtClean="0">
                <a:solidFill>
                  <a:srgbClr val="1C1D22"/>
                </a:solidFill>
              </a:rPr>
              <a:t>событие дня пересчитывается за секунды: начатые визиты закреплены, остаток дня решается заново.</a:t>
            </a:r>
          </a:p>
          <a:p>
            <a:pPr>
              <a:buClr>
                <a:schemeClr val="accent1"/>
              </a:buClr>
            </a:pPr>
            <a:r>
              <a:rPr lang="ru-RU" sz="1400" dirty="0" err="1" smtClean="0">
                <a:solidFill>
                  <a:srgbClr val="1C1D22"/>
                </a:solidFill>
              </a:rPr>
              <a:t>FastAPI</a:t>
            </a:r>
            <a:r>
              <a:rPr lang="ru-RU" sz="1400" dirty="0" smtClean="0">
                <a:solidFill>
                  <a:srgbClr val="1C1D22"/>
                </a:solidFill>
              </a:rPr>
              <a:t> и </a:t>
            </a:r>
            <a:r>
              <a:rPr lang="ru-RU" sz="1400" dirty="0" err="1" smtClean="0">
                <a:solidFill>
                  <a:srgbClr val="1C1D22"/>
                </a:solidFill>
              </a:rPr>
              <a:t>React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Postgres</a:t>
            </a:r>
            <a:r>
              <a:rPr lang="ru-RU" sz="1400" dirty="0" smtClean="0">
                <a:solidFill>
                  <a:srgbClr val="1C1D22"/>
                </a:solidFill>
              </a:rPr>
              <a:t>, </a:t>
            </a:r>
            <a:r>
              <a:rPr lang="ru-RU" sz="1400" dirty="0" err="1" smtClean="0">
                <a:solidFill>
                  <a:srgbClr val="1C1D22"/>
                </a:solidFill>
              </a:rPr>
              <a:t>Docker</a:t>
            </a:r>
            <a:r>
              <a:rPr lang="ru-RU" sz="1400" dirty="0" smtClean="0">
                <a:solidFill>
                  <a:srgbClr val="1C1D22"/>
                </a:solidFill>
              </a:rPr>
              <a:t>. Помощник на LLM только предлагает события — план меняет диспетчер.</a:t>
            </a:r>
            <a:endParaRPr lang="ru-RU" sz="1400" dirty="0">
              <a:solidFill>
                <a:srgbClr val="1C1D22"/>
              </a:solidFill>
            </a:endParaRPr>
          </a:p>
        </p:txBody>
      </p:sp>
      <p:sp>
        <p:nvSpPr>
          <p:cNvPr id="7" name="Текст 6">
            <a:extLst>
              <a:ext uri="{FF2B5EF4-FFF2-40B4-BE49-F238E27FC236}">
                <a16:creationId xmlns:a16="http://schemas.microsoft.com/office/drawing/2014/main" xmlns="" id="{FADF42A3-53F4-C8E0-2D79-332DAAEB9A8A}"/>
              </a:ext>
            </a:extLst>
          </p:cNvPr>
          <p:cNvSpPr>
            <a:spLocks noGrp="1"/>
          </p:cNvSpPr>
          <p:nvPr>
            <p:ph type="body" sz="quarter" idx="42"/>
          </p:nvPr>
        </p:nvSpPr>
        <p:spPr>
          <a:xfrm>
            <a:off x="6513513" y="1920927"/>
            <a:ext cx="4957144" cy="3876445"/>
          </a:xfrm>
        </p:spPr>
        <p:txBody>
          <a:bodyPr>
            <a:normAutofit/>
          </a:bodyPr>
          <a:lstStyle/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−11 бригад в день на трёх регионах и −81 км </a:t>
            </a:r>
            <a:r>
              <a:rPr lang="ru-RU" sz="1400" dirty="0" smtClean="0">
                <a:solidFill>
                  <a:srgbClr val="1C1D22"/>
                </a:solidFill>
              </a:rPr>
              <a:t>по сравнению с  диспетчерами: </a:t>
            </a:r>
            <a:r>
              <a:rPr lang="ru-RU" sz="1400" dirty="0" smtClean="0">
                <a:solidFill>
                  <a:srgbClr val="1C1D22"/>
                </a:solidFill>
              </a:rPr>
              <a:t>освободившиеся смены — запас на аварии и новые заявки.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Диспетчер видит, почему заявка у этой бригады, кому из клиентов позвонить и итоги дня.</a:t>
            </a:r>
          </a:p>
          <a:p>
            <a:pPr>
              <a:buClr>
                <a:schemeClr val="accent1"/>
              </a:buClr>
            </a:pPr>
            <a:r>
              <a:rPr lang="ru-RU" sz="1400" dirty="0" smtClean="0">
                <a:solidFill>
                  <a:srgbClr val="1C1D22"/>
                </a:solidFill>
              </a:rPr>
              <a:t>Развитие: модель помощника внутри контура </a:t>
            </a:r>
            <a:r>
              <a:rPr lang="ru-RU" sz="1400" dirty="0" err="1" smtClean="0">
                <a:solidFill>
                  <a:srgbClr val="1C1D22"/>
                </a:solidFill>
              </a:rPr>
              <a:t>Билайна</a:t>
            </a:r>
            <a:r>
              <a:rPr lang="ru-RU" sz="1400" dirty="0" smtClean="0">
                <a:solidFill>
                  <a:srgbClr val="1C1D22"/>
                </a:solidFill>
              </a:rPr>
              <a:t>, события от самих инженеров, пробки по моменту выезда, несколько регионов сразу</a:t>
            </a:r>
            <a:r>
              <a:rPr lang="ru-RU" sz="1400" dirty="0" smtClean="0">
                <a:solidFill>
                  <a:srgbClr val="1C1D22"/>
                </a:solidFill>
              </a:rPr>
              <a:t>. Расчет графа </a:t>
            </a:r>
            <a:r>
              <a:rPr lang="en-US" sz="1400" dirty="0" smtClean="0">
                <a:solidFill>
                  <a:srgbClr val="1C1D22"/>
                </a:solidFill>
              </a:rPr>
              <a:t>OSRM</a:t>
            </a:r>
            <a:r>
              <a:rPr lang="ru-RU" sz="1400" dirty="0" smtClean="0">
                <a:solidFill>
                  <a:srgbClr val="1C1D22"/>
                </a:solidFill>
              </a:rPr>
              <a:t> и маршрутов ночью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r>
              <a:rPr lang="ru-RU" sz="1400" dirty="0" smtClean="0">
                <a:solidFill>
                  <a:srgbClr val="1C1D22"/>
                </a:solidFill>
              </a:rPr>
              <a:t>Исследование возможности динамического расчета времени в пути и планирования с учетом этого</a:t>
            </a:r>
            <a:r>
              <a:rPr lang="en-US" sz="1400" dirty="0" smtClean="0">
                <a:solidFill>
                  <a:srgbClr val="1C1D22"/>
                </a:solidFill>
              </a:rPr>
              <a:t>. </a:t>
            </a:r>
            <a:endParaRPr lang="ru-RU" sz="1400" dirty="0" smtClean="0">
              <a:solidFill>
                <a:srgbClr val="1C1D22"/>
              </a:solidFill>
            </a:endParaRPr>
          </a:p>
          <a:p>
            <a:pPr marL="0" indent="0">
              <a:buNone/>
            </a:pPr>
            <a:endParaRPr lang="ru-RU" sz="1400" dirty="0">
              <a:solidFill>
                <a:schemeClr val="tx1"/>
              </a:solidFill>
            </a:endParaRPr>
          </a:p>
        </p:txBody>
      </p:sp>
      <p:sp>
        <p:nvSpPr>
          <p:cNvPr id="14" name="Заголовок 13">
            <a:extLst>
              <a:ext uri="{FF2B5EF4-FFF2-40B4-BE49-F238E27FC236}">
                <a16:creationId xmlns:a16="http://schemas.microsoft.com/office/drawing/2014/main" xmlns="" id="{9ADE5A7A-262A-121D-63C7-92347C3B48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5817" y="456851"/>
            <a:ext cx="9862734" cy="376138"/>
          </a:xfrm>
        </p:spPr>
        <p:txBody>
          <a:bodyPr/>
          <a:lstStyle/>
          <a:p>
            <a:r>
              <a:rPr lang="ru-RU" sz="2000" dirty="0"/>
              <a:t>КОРОТКО О РЕШЕНИИ</a:t>
            </a:r>
          </a:p>
        </p:txBody>
      </p:sp>
      <p:sp>
        <p:nvSpPr>
          <p:cNvPr id="15" name="Текст 14">
            <a:extLst>
              <a:ext uri="{FF2B5EF4-FFF2-40B4-BE49-F238E27FC236}">
                <a16:creationId xmlns:a16="http://schemas.microsoft.com/office/drawing/2014/main" xmlns="" id="{26BEC078-5087-6080-D7D6-F5A0B438BDE2}"/>
              </a:ext>
            </a:extLst>
          </p:cNvPr>
          <p:cNvSpPr>
            <a:spLocks noGrp="1"/>
          </p:cNvSpPr>
          <p:nvPr>
            <p:ph type="body" sz="quarter" idx="49"/>
          </p:nvPr>
        </p:nvSpPr>
        <p:spPr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Техническая суть решения</a:t>
            </a:r>
          </a:p>
        </p:txBody>
      </p:sp>
      <p:sp>
        <p:nvSpPr>
          <p:cNvPr id="17" name="Текст 16">
            <a:extLst>
              <a:ext uri="{FF2B5EF4-FFF2-40B4-BE49-F238E27FC236}">
                <a16:creationId xmlns:a16="http://schemas.microsoft.com/office/drawing/2014/main" xmlns="" id="{2859F02A-65ED-43C1-C072-8FCD6772DA35}"/>
              </a:ext>
            </a:extLst>
          </p:cNvPr>
          <p:cNvSpPr>
            <a:spLocks noGrp="1"/>
          </p:cNvSpPr>
          <p:nvPr>
            <p:ph type="body" sz="quarter" idx="51"/>
          </p:nvPr>
        </p:nvSpPr>
        <p:spPr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</a:pPr>
            <a:r>
              <a:rPr lang="ru-RU" sz="2000" b="1" dirty="0">
                <a:solidFill>
                  <a:schemeClr val="accent5"/>
                </a:solidFill>
              </a:rPr>
              <a:t>Маркетинговая суть решения</a:t>
            </a:r>
          </a:p>
          <a:p>
            <a:pPr>
              <a:lnSpc>
                <a:spcPct val="100000"/>
              </a:lnSpc>
            </a:pPr>
            <a:endParaRPr lang="ru-RU" b="1" dirty="0">
              <a:solidFill>
                <a:schemeClr val="accent5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xmlns="" val="399877645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6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83590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+mj-lt"/>
              </a:rPr>
              <a:t>ПРОБЛЕМА И РЕШЕНИЕ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548640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41247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32" name="Круг иконки"/>
          <p:cNvSpPr/>
          <p:nvPr/>
        </p:nvSpPr>
        <p:spPr>
          <a:xfrm>
            <a:off x="3047054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3199454" y="1760220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841247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 smtClean="0">
                <a:solidFill>
                  <a:srgbClr val="141414"/>
                </a:solidFill>
                <a:latin typeface="+mj-lt"/>
              </a:rPr>
              <a:t>Проблема</a:t>
            </a:r>
            <a:endParaRPr sz="2100" b="1">
              <a:solidFill>
                <a:srgbClr val="141414"/>
              </a:solidFill>
              <a:latin typeface="+mj-lt"/>
            </a:endParaRPr>
          </a:p>
        </p:txBody>
      </p:sp>
      <p:sp>
        <p:nvSpPr>
          <p:cNvPr id="21" name="TextBox 20"/>
          <p:cNvSpPr txBox="1"/>
          <p:nvPr/>
        </p:nvSpPr>
        <p:spPr>
          <a:xfrm>
            <a:off x="841247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Диспетчер вручную раскладывает </a:t>
            </a:r>
            <a:r>
              <a:rPr sz="1500" b="1">
                <a:solidFill>
                  <a:srgbClr val="141414"/>
                </a:solidFill>
              </a:rPr>
              <a:t>56–83 заявки</a:t>
            </a:r>
            <a:r>
              <a:rPr sz="1500" b="0">
                <a:solidFill>
                  <a:srgbClr val="141414"/>
                </a:solidFill>
              </a:rPr>
              <a:t> в день на </a:t>
            </a:r>
            <a:r>
              <a:rPr sz="1500" b="1">
                <a:solidFill>
                  <a:srgbClr val="141414"/>
                </a:solidFill>
              </a:rPr>
              <a:t>11–12 бригад</a:t>
            </a:r>
            <a:r>
              <a:rPr sz="1500" b="0">
                <a:solidFill>
                  <a:srgbClr val="141414"/>
                </a:solidFill>
              </a:rPr>
              <a:t>: окна клиентов, навыки, транспорт, смены.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Базовый способ из ТЗ — «первой подходящей бригаде по порядку» — на Юго-востоке оставляет без исполнителя </a:t>
            </a:r>
            <a:r>
              <a:rPr sz="1500" b="1">
                <a:solidFill>
                  <a:srgbClr val="141414"/>
                </a:solidFill>
              </a:rPr>
              <a:t>34 заявки из 83</a:t>
            </a:r>
            <a:r>
              <a:rPr sz="1500" b="0">
                <a:solidFill>
                  <a:srgbClr val="141414"/>
                </a:solidFill>
              </a:rPr>
              <a:t> и гоняет бригады на </a:t>
            </a:r>
            <a:r>
              <a:rPr sz="1500" b="1">
                <a:solidFill>
                  <a:srgbClr val="141414"/>
                </a:solidFill>
              </a:rPr>
              <a:t>1007 км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2" name="Карточка"/>
          <p:cNvSpPr/>
          <p:nvPr/>
        </p:nvSpPr>
        <p:spPr>
          <a:xfrm>
            <a:off x="4361688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654296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33" name="Круг иконки"/>
          <p:cNvSpPr/>
          <p:nvPr/>
        </p:nvSpPr>
        <p:spPr>
          <a:xfrm>
            <a:off x="6889458" y="1607820"/>
            <a:ext cx="762000" cy="7620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7041858" y="176022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4654296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+mj-lt"/>
              </a:rPr>
              <a:t>Что есть на рынке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54296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</a:rPr>
              <a:t>Платформы маршрутизации — Яндекс Маршрутизация, Veeroute, Relog — внешние сервисы: им отдают заявки с адресами клиентов и получают готовые маршруты.</a:t>
            </a:r>
          </a:p>
          <a:p>
            <a:pPr algn="l">
              <a:spcBef>
                <a:spcPts val="1000"/>
              </a:spcBef>
            </a:pPr>
            <a:r>
              <a:rPr sz="1500" b="0">
                <a:solidFill>
                  <a:srgbClr val="141414"/>
                </a:solidFill>
              </a:rPr>
              <a:t>Объяснений решения на языке диспетчера мы у них </a:t>
            </a:r>
            <a:r>
              <a:rPr sz="1500" b="1">
                <a:solidFill>
                  <a:srgbClr val="141414"/>
                </a:solidFill>
              </a:rPr>
              <a:t>не нашли</a:t>
            </a:r>
            <a:r>
              <a:rPr sz="1500" b="0">
                <a:solidFill>
                  <a:srgbClr val="141414"/>
                </a:solidFill>
              </a:rPr>
              <a:t>.</a:t>
            </a:r>
          </a:p>
        </p:txBody>
      </p:sp>
      <p:sp>
        <p:nvSpPr>
          <p:cNvPr id="27" name="Карточка"/>
          <p:cNvSpPr/>
          <p:nvPr/>
        </p:nvSpPr>
        <p:spPr>
          <a:xfrm>
            <a:off x="8174736" y="1325880"/>
            <a:ext cx="3566160" cy="4846320"/>
          </a:xfrm>
          <a:prstGeom prst="roundRect">
            <a:avLst>
              <a:gd name="adj" fmla="val 7000"/>
            </a:avLst>
          </a:prstGeom>
          <a:solidFill>
            <a:srgbClr val="FFC800"/>
          </a:solidFill>
          <a:ln w="222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467344" y="1600200"/>
            <a:ext cx="1371600" cy="640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34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4" name="Круг иконки"/>
          <p:cNvSpPr/>
          <p:nvPr/>
        </p:nvSpPr>
        <p:spPr>
          <a:xfrm>
            <a:off x="10651236" y="1607820"/>
            <a:ext cx="762000" cy="762000"/>
          </a:xfrm>
          <a:prstGeom prst="ellipse">
            <a:avLst/>
          </a:prstGeom>
          <a:solidFill>
            <a:srgbClr val="141414"/>
          </a:solidFill>
          <a:ln>
            <a:noFill/>
          </a:ln>
          <a:effectLst/>
        </p:spPr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10803636" y="1760220"/>
            <a:ext cx="457200" cy="4572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8467344" y="2560320"/>
            <a:ext cx="3017520" cy="37109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100" b="1">
                <a:solidFill>
                  <a:srgbClr val="141414"/>
                </a:solidFill>
                <a:latin typeface="Montserrat"/>
              </a:rPr>
              <a:t>Наше решение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67344" y="3050286"/>
            <a:ext cx="3017520" cy="32918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500" b="0">
                <a:solidFill>
                  <a:srgbClr val="141414"/>
                </a:solidFill>
                <a:latin typeface="Montserrat"/>
              </a:rPr>
              <a:t>Сервис для диспетчера: раскладывает день по бригадам, строит маршруты по дорогам Москвы и области, </a:t>
            </a:r>
            <a:r>
              <a:rPr sz="1500" b="1">
                <a:solidFill>
                  <a:srgbClr val="141414"/>
                </a:solidFill>
                <a:latin typeface="Montserrat"/>
              </a:rPr>
              <a:t>объясняет каждое назначение</a:t>
            </a:r>
            <a:r>
              <a:rPr sz="1500" b="0">
                <a:solidFill>
                  <a:srgbClr val="141414"/>
                </a:solidFill>
                <a:latin typeface="Montserrat"/>
              </a:rPr>
              <a:t> и пересчитывает день на любое событие — </a:t>
            </a:r>
            <a:r>
              <a:rPr sz="1500" b="1">
                <a:solidFill>
                  <a:srgbClr val="141414"/>
                </a:solidFill>
                <a:latin typeface="Montserrat"/>
              </a:rPr>
              <a:t>с вариантами и ценой решения</a:t>
            </a:r>
            <a:r>
              <a:rPr sz="1500" b="0">
                <a:solidFill>
                  <a:srgbClr val="141414"/>
                </a:solidFill>
                <a:latin typeface="Montserrat"/>
              </a:rPr>
              <a:t>.</a:t>
            </a:r>
          </a:p>
          <a:p>
            <a:pPr algn="l">
              <a:spcBef>
                <a:spcPts val="1000"/>
              </a:spcBef>
            </a:pPr>
            <a:r>
              <a:rPr sz="1500" b="1">
                <a:solidFill>
                  <a:srgbClr val="141414"/>
                </a:solidFill>
                <a:latin typeface="Montserrat"/>
              </a:rPr>
              <a:t>Последнее слово — за человеком.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7</a:t>
            </a:fld>
            <a:endParaRPr lang="ru-RU" dirty="0"/>
          </a:p>
        </p:txBody>
      </p:sp>
      <p:sp>
        <p:nvSpPr>
          <p:cNvPr id="5" name="Панель"/>
          <p:cNvSpPr/>
          <p:nvPr/>
        </p:nvSpPr>
        <p:spPr>
          <a:xfrm>
            <a:off x="0" y="0"/>
            <a:ext cx="6455664" cy="6858000"/>
          </a:xfrm>
          <a:prstGeom prst="rect">
            <a:avLst/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02920" y="384048"/>
            <a:ext cx="566928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2800" b="1">
                <a:solidFill>
                  <a:srgbClr val="FFFFFF"/>
                </a:solidFill>
                <a:latin typeface="+mj-lt"/>
              </a:rPr>
              <a:t>ЭФФЕКТ НА ДАННЫХ БИЛАЙНА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371600"/>
            <a:ext cx="566928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Один день — 17.08.2026, три настоящих региона: Восток, Юго-восток, Югоцентр, 205 заявок. Сравниваем с решениями живых диспетчеров.</a:t>
            </a:r>
          </a:p>
        </p:txBody>
      </p:sp>
      <p:sp>
        <p:nvSpPr>
          <p:cNvPr id="21" name="Круг иконки"/>
          <p:cNvSpPr/>
          <p:nvPr/>
        </p:nvSpPr>
        <p:spPr>
          <a:xfrm>
            <a:off x="558800" y="2401824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80720" y="2523744"/>
            <a:ext cx="365760" cy="365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463040" y="2286000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24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бригады вместо 35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2871216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−11 смен в день: у диспетчеров и базового варианта — все 35</a:t>
            </a:r>
          </a:p>
        </p:txBody>
      </p:sp>
      <p:sp>
        <p:nvSpPr>
          <p:cNvPr id="22" name="Круг иконки"/>
          <p:cNvSpPr/>
          <p:nvPr/>
        </p:nvSpPr>
        <p:spPr>
          <a:xfrm>
            <a:off x="558800" y="3380232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0720" y="3502152"/>
            <a:ext cx="365760" cy="36576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463040" y="3264408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775,5 км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вместо 856,7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849624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−81 км к диспетчерам, −895 км к базовому варианту</a:t>
            </a:r>
          </a:p>
        </p:txBody>
      </p:sp>
      <p:sp>
        <p:nvSpPr>
          <p:cNvPr id="23" name="Круг иконки"/>
          <p:cNvSpPr/>
          <p:nvPr/>
        </p:nvSpPr>
        <p:spPr>
          <a:xfrm>
            <a:off x="558800" y="4358640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80720" y="4480560"/>
            <a:ext cx="365760" cy="36576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63040" y="4242816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205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из 205 заявок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63040" y="4828032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203, у базового варианта — 144</a:t>
            </a:r>
          </a:p>
        </p:txBody>
      </p:sp>
      <p:sp>
        <p:nvSpPr>
          <p:cNvPr id="24" name="Круг иконки"/>
          <p:cNvSpPr/>
          <p:nvPr/>
        </p:nvSpPr>
        <p:spPr>
          <a:xfrm>
            <a:off x="558800" y="5337048"/>
            <a:ext cx="609600" cy="609600"/>
          </a:xfrm>
          <a:prstGeom prst="ellipse">
            <a:avLst/>
          </a:prstGeom>
          <a:solidFill>
            <a:srgbClr val="FFC800"/>
          </a:solidFill>
          <a:ln>
            <a:noFill/>
          </a:ln>
          <a:effectLst/>
        </p:spPr>
      </p:sp>
      <p:pic>
        <p:nvPicPr>
          <p:cNvPr id="17" name="Picture 1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80720" y="5458968"/>
            <a:ext cx="365760" cy="36576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463040" y="5221224"/>
            <a:ext cx="484632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3600" b="1">
                <a:solidFill>
                  <a:srgbClr val="FFC800"/>
                </a:solidFill>
                <a:latin typeface="Montserrat"/>
              </a:rPr>
              <a:t>0</a:t>
            </a:r>
            <a:r>
              <a:rPr sz="1900" b="1">
                <a:solidFill>
                  <a:srgbClr val="FFFFFF"/>
                </a:solidFill>
                <a:latin typeface="Montserrat"/>
              </a:rPr>
              <a:t> нарушений окна, смены и плеча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5806440"/>
            <a:ext cx="4846320" cy="32918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50" b="0">
                <a:solidFill>
                  <a:srgbClr val="FFFFFF"/>
                </a:solidFill>
                <a:latin typeface="Montserrat"/>
              </a:rPr>
              <a:t>у диспетчеров — 35; даже при смене 09:30–23:00 —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199632"/>
            <a:ext cx="576072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FFFFFF"/>
                </a:solidFill>
                <a:latin typeface="Montserrat"/>
              </a:rPr>
              <a:t>Нарушения — по нашей модели времени в пути (дороги OSRM). У диспетчеров назначения — из выгрузки, порядок визитов (в выгрузке его нет) — по концу окна, старт из офиса, без обеда.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8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95655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БРИГАДЫ: 24 ВМЕСТО 35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143000"/>
          <a:ext cx="5852160" cy="42062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11480" y="5440680"/>
            <a:ext cx="5715000" cy="8686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17.08.2026 · бригада = один выездной инженер. Базовый вариант из ТЗ: заявки по порядку — первой подходящей бригаде. Дороги OSRM — у всех планов; у диспетчеров назначения — из выгрузки, порядок визитов — по концу окна. Смен и транспорта в выгрузке нет: смена 10:00–22:00, транспорт — жеребьёвкой по долям (docs/assumptions.md).</a:t>
            </a:r>
          </a:p>
        </p:txBody>
      </p:sp>
      <p:sp>
        <p:nvSpPr>
          <p:cNvPr id="7" name="Карточка"/>
          <p:cNvSpPr/>
          <p:nvPr/>
        </p:nvSpPr>
        <p:spPr>
          <a:xfrm>
            <a:off x="6291072" y="109728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565392" y="1344168"/>
            <a:ext cx="411480" cy="41148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132320" y="129844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−11 бригад в день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65392" y="184708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1">
                <a:solidFill>
                  <a:srgbClr val="141414"/>
                </a:solidFill>
                <a:latin typeface="Montserrat"/>
              </a:rPr>
              <a:t>24 вместо 35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на трёх регионах. Свободные смены — запас на аварии и новые заявки.</a:t>
            </a:r>
          </a:p>
        </p:txBody>
      </p:sp>
      <p:sp>
        <p:nvSpPr>
          <p:cNvPr id="11" name="Карточка"/>
          <p:cNvSpPr/>
          <p:nvPr/>
        </p:nvSpPr>
        <p:spPr>
          <a:xfrm>
            <a:off x="6291072" y="278892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65392" y="3035808"/>
            <a:ext cx="411480" cy="41148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132320" y="299008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Нагрузку задаёт диспетчер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65392" y="3538727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«Спокойный день», «Обычный день» или «На пределе» — сколько бригад выводить, решает человек.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Обед 45 минут</a:t>
            </a:r>
            <a:r>
              <a:rPr sz="1400" b="0">
                <a:solidFill>
                  <a:srgbClr val="141414"/>
                </a:solidFill>
                <a:latin typeface="Montserrat"/>
              </a:rPr>
              <a:t> — в каждом маршруте.</a:t>
            </a:r>
          </a:p>
        </p:txBody>
      </p:sp>
      <p:sp>
        <p:nvSpPr>
          <p:cNvPr id="15" name="Карточка"/>
          <p:cNvSpPr/>
          <p:nvPr/>
        </p:nvSpPr>
        <p:spPr>
          <a:xfrm>
            <a:off x="6291072" y="4480560"/>
            <a:ext cx="5568696" cy="1536192"/>
          </a:xfrm>
          <a:prstGeom prst="roundRect">
            <a:avLst>
              <a:gd name="adj" fmla="val 12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565392" y="4727448"/>
            <a:ext cx="411480" cy="411480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132320" y="4681728"/>
            <a:ext cx="44805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Запас включается сам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65392" y="5230368"/>
            <a:ext cx="5074920" cy="713232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Отдельного резерва нет: свободная бригада выходит в пересчёте, когда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без неё заявка осталась бы без исполнителя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9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28745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ПРОБЕГ ЗА ДЕНЬ</a:t>
            </a:r>
          </a:p>
        </p:txBody>
      </p:sp>
      <p:graphicFrame>
        <p:nvGraphicFramePr>
          <p:cNvPr id="5" name="Chart 4"/>
          <p:cNvGraphicFramePr>
            <a:graphicFrameLocks noGrp="1"/>
          </p:cNvGraphicFramePr>
          <p:nvPr/>
        </p:nvGraphicFramePr>
        <p:xfrm>
          <a:off x="274320" y="1097280"/>
          <a:ext cx="6126480" cy="50749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720840" y="1207008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242048" y="1188720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775,5 км — наш 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42048" y="1645920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Суммарный пробег трёх регионов за день</a:t>
            </a:r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20840" y="2423160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242048" y="2404872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−81 км к диспетчерам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42048" y="2862072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живых диспетчеров Билайна — 856,7 км</a:t>
            </a:r>
          </a:p>
        </p:txBody>
      </p:sp>
      <p:pic>
        <p:nvPicPr>
          <p:cNvPr id="12" name="Picture 1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20840" y="3639312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42048" y="3621024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В 2,2 раза меньше базового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42048" y="4078224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У базового варианта из ТЗ — 1670,1 км: −895 км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720840" y="485546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7242048" y="4837176"/>
            <a:ext cx="4572000" cy="420624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Юго-восток — честно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42048" y="5294376"/>
            <a:ext cx="4617720" cy="7315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362 км против 343 у диспетчеров, зато 10 бригад вместо 12 и 0 нарушений против 24 по нашей модели (15 даже при смене 09:30–23:00).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10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1577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205 ИЗ 205 ЗАЯВОК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078992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Все заявки дня получают исполнителя — и ни одна не выходит за окно клиента, смену инженера или предел плеча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80010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123444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144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Базовый вариант из ТЗ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2860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144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61 — без исполнителя</a:t>
            </a:r>
          </a:p>
        </p:txBody>
      </p:sp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73202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516636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170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6636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Диспетчеры Билайна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203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у 33 — нарушение окна, смены или плеча</a:t>
            </a:r>
          </a:p>
        </p:txBody>
      </p:sp>
      <p:graphicFrame>
        <p:nvGraphicFramePr>
          <p:cNvPr id="16" name="Chart 15"/>
          <p:cNvGraphicFramePr>
            <a:graphicFrameLocks noGrp="1"/>
          </p:cNvGraphicFramePr>
          <p:nvPr/>
        </p:nvGraphicFramePr>
        <p:xfrm>
          <a:off x="8663940" y="1572768"/>
          <a:ext cx="2697480" cy="26974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7" name="TextBox 16"/>
          <p:cNvSpPr txBox="1"/>
          <p:nvPr/>
        </p:nvSpPr>
        <p:spPr>
          <a:xfrm>
            <a:off x="9098280" y="2318004"/>
            <a:ext cx="1828800" cy="566928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ctr"/>
            <a:r>
              <a:rPr sz="3800" b="1">
                <a:solidFill>
                  <a:srgbClr val="141414"/>
                </a:solidFill>
                <a:latin typeface="Montserrat"/>
              </a:rPr>
              <a:t>205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98280" y="2903220"/>
            <a:ext cx="182880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без нарушений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из 205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138159" y="4407408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700" b="1">
                <a:solidFill>
                  <a:srgbClr val="141414"/>
                </a:solidFill>
                <a:latin typeface="Montserrat"/>
              </a:rPr>
              <a:t>Наш план</a:t>
            </a:r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10678794" y="4389120"/>
            <a:ext cx="411480" cy="2830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092440" y="4773168"/>
            <a:ext cx="3840480" cy="5029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205 розданы</a:t>
            </a:r>
          </a:p>
          <a:p>
            <a:pPr algn="ctr"/>
            <a:r>
              <a:rPr sz="1200" b="0">
                <a:solidFill>
                  <a:srgbClr val="141414"/>
                </a:solidFill>
                <a:latin typeface="Montserrat"/>
              </a:rPr>
              <a:t>0 нарушений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456029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1712061" y="5422392"/>
            <a:ext cx="256794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назначены без нарушений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80001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4536033" y="5422392"/>
            <a:ext cx="41656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с нарушением окна, смены или предела плеча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701633" y="5477256"/>
            <a:ext cx="182880" cy="182880"/>
          </a:xfrm>
          <a:prstGeom prst="roundRect">
            <a:avLst>
              <a:gd name="adj" fmla="val 20000"/>
            </a:avLst>
          </a:prstGeom>
          <a:solidFill>
            <a:srgbClr val="A1A1A1"/>
          </a:solidFill>
          <a:ln w="63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8957665" y="5422392"/>
            <a:ext cx="17780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141414"/>
                </a:solidFill>
                <a:latin typeface="Montserrat"/>
              </a:rPr>
              <a:t>без исполнителя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11480" y="5833872"/>
            <a:ext cx="109000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00" b="0">
                <a:solidFill>
                  <a:srgbClr val="141414"/>
                </a:solidFill>
                <a:latin typeface="Montserrat"/>
              </a:rPr>
              <a:t>Нарушения — по нашей модели времени в пути: у диспетчеров 35 записей у 33 из 203 розданных заявок — 21 опоздание к окну (14 больше чем на 10 мин), 12 окончаний работы после 22:00, 2 плеча велобригады длиннее 15 км. Организаторы разрешили смену 09:30–23:00 на дорогу к первой заявке и доработку последней: даже так у диспетчеров 24 записи у 22 заявок, а наш план укладывается в 10:00–22:00. Плечо — один переезд: велосипед до 15 км, общественный транспорт до 25 км.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11</a:t>
            </a:fld>
            <a:endParaRPr lang="ru-RU" dirty="0"/>
          </a:p>
        </p:txBody>
      </p:sp>
      <p:sp>
        <p:nvSpPr>
          <p:cNvPr id="14" name="Карточка pill"/>
          <p:cNvSpPr/>
          <p:nvPr/>
        </p:nvSpPr>
        <p:spPr>
          <a:xfrm>
            <a:off x="347472" y="320040"/>
            <a:ext cx="35488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ПРОХОДИТ ДЕНЬ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463040" y="3712463"/>
            <a:ext cx="9372600" cy="0"/>
          </a:xfrm>
          <a:prstGeom prst="line">
            <a:avLst/>
          </a:prstGeom>
          <a:ln w="22225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cxnSp>
        <p:nvCxnSpPr>
          <p:cNvPr id="16" name="Connector 15"/>
          <p:cNvCxnSpPr/>
          <p:nvPr/>
        </p:nvCxnSpPr>
        <p:spPr>
          <a:xfrm>
            <a:off x="1463040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17" name="Карточка"/>
          <p:cNvSpPr/>
          <p:nvPr/>
        </p:nvSpPr>
        <p:spPr>
          <a:xfrm>
            <a:off x="36576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114300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Ночь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Сервер считает граф дорог OSRM, время на общественном транспорте через API 2ГИС и поиском OR-Tools — маршруты каждого региона</a:t>
            </a:r>
          </a:p>
        </p:txBody>
      </p:sp>
      <p:sp>
        <p:nvSpPr>
          <p:cNvPr id="21" name="Шаг 1"/>
          <p:cNvSpPr/>
          <p:nvPr/>
        </p:nvSpPr>
        <p:spPr>
          <a:xfrm>
            <a:off x="11338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1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333756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3" name="Карточка"/>
          <p:cNvSpPr/>
          <p:nvPr/>
        </p:nvSpPr>
        <p:spPr>
          <a:xfrm>
            <a:off x="36576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14300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Утро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 диспетчера готов ночной план: маршруты бригад по дорогам, какие заявки взяты, а какие нет — с причиной словами</a:t>
            </a:r>
          </a:p>
        </p:txBody>
      </p:sp>
      <p:sp>
        <p:nvSpPr>
          <p:cNvPr id="27" name="Шаг 2"/>
          <p:cNvSpPr/>
          <p:nvPr/>
        </p:nvSpPr>
        <p:spPr>
          <a:xfrm>
            <a:off x="300837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2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521207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29" name="Карточка"/>
          <p:cNvSpPr/>
          <p:nvPr/>
        </p:nvSpPr>
        <p:spPr>
          <a:xfrm>
            <a:off x="420624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0" name="Picture 29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4434840" y="1389888"/>
            <a:ext cx="420624" cy="420624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4983479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День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3484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Проигрываем день: бригады едут по маршрутам, у заявок статусы «В пути», «В работе», «Выполнена». Метрики и сравнение с базовым вариантом и диспетчерами</a:t>
            </a:r>
          </a:p>
        </p:txBody>
      </p:sp>
      <p:sp>
        <p:nvSpPr>
          <p:cNvPr id="33" name="Шаг 3"/>
          <p:cNvSpPr/>
          <p:nvPr/>
        </p:nvSpPr>
        <p:spPr>
          <a:xfrm>
            <a:off x="4882895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3</a:t>
            </a:r>
          </a:p>
        </p:txBody>
      </p:sp>
      <p:cxnSp>
        <p:nvCxnSpPr>
          <p:cNvPr id="34" name="Connector 33"/>
          <p:cNvCxnSpPr/>
          <p:nvPr/>
        </p:nvCxnSpPr>
        <p:spPr>
          <a:xfrm>
            <a:off x="708660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35" name="Карточка"/>
          <p:cNvSpPr/>
          <p:nvPr/>
        </p:nvSpPr>
        <p:spPr>
          <a:xfrm>
            <a:off x="420624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4434840" y="4517136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4983479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«Почему?»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3484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Какие ограничения проверены, кто ещё мог взять заявку и во сколько км это обошлось бы. У заявки без исполнителя — причина словами</a:t>
            </a:r>
          </a:p>
        </p:txBody>
      </p:sp>
      <p:sp>
        <p:nvSpPr>
          <p:cNvPr id="39" name="Шаг 4"/>
          <p:cNvSpPr/>
          <p:nvPr/>
        </p:nvSpPr>
        <p:spPr>
          <a:xfrm>
            <a:off x="675741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4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8961119" y="3090672"/>
            <a:ext cx="0" cy="356616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1" name="Карточка"/>
          <p:cNvSpPr/>
          <p:nvPr/>
        </p:nvSpPr>
        <p:spPr>
          <a:xfrm>
            <a:off x="8046720" y="1188720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8275320" y="1389888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823960" y="1371600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Событие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1920240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8 типов событий одним путём: авария, отмена, правка, болезнь, транспорт, задержка, переназначение, звонок. Часы встают, только когда выбор важен</a:t>
            </a:r>
          </a:p>
        </p:txBody>
      </p:sp>
      <p:sp>
        <p:nvSpPr>
          <p:cNvPr id="45" name="Шаг 5"/>
          <p:cNvSpPr/>
          <p:nvPr/>
        </p:nvSpPr>
        <p:spPr>
          <a:xfrm>
            <a:off x="863193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5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10835640" y="3977639"/>
            <a:ext cx="0" cy="338329"/>
          </a:xfrm>
          <a:prstGeom prst="line">
            <a:avLst/>
          </a:prstGeom>
          <a:ln w="1905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47" name="Карточка"/>
          <p:cNvSpPr/>
          <p:nvPr/>
        </p:nvSpPr>
        <p:spPr>
          <a:xfrm>
            <a:off x="8046720" y="4315968"/>
            <a:ext cx="3566160" cy="190195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8275320" y="4517136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823960" y="4498848"/>
            <a:ext cx="2651760" cy="45720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Итоги дня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047488"/>
            <a:ext cx="3154679" cy="111556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Утро против итога: бригады, км, назначено, опоздания; события дня и кто из клиентов ещё ждёт звонка</a:t>
            </a:r>
          </a:p>
        </p:txBody>
      </p:sp>
      <p:sp>
        <p:nvSpPr>
          <p:cNvPr id="51" name="Шаг 6"/>
          <p:cNvSpPr/>
          <p:nvPr/>
        </p:nvSpPr>
        <p:spPr>
          <a:xfrm>
            <a:off x="10506456" y="3447288"/>
            <a:ext cx="658368" cy="530352"/>
          </a:xfrm>
          <a:prstGeom prst="roundRect">
            <a:avLst>
              <a:gd name="adj" fmla="val 18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2200" b="1">
                <a:solidFill>
                  <a:srgbClr val="141414"/>
                </a:solidFill>
                <a:latin typeface="Montserrat"/>
              </a:rPr>
              <a:t>6</a:t>
            </a: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4517136"/>
            <a:ext cx="420624" cy="420624"/>
          </a:xfrm>
          <a:prstGeom prst="rect">
            <a:avLst/>
          </a:prstGeom>
        </p:spPr>
      </p:pic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94360" y="1389888"/>
            <a:ext cx="420624" cy="420624"/>
          </a:xfrm>
          <a:prstGeom prst="rect">
            <a:avLst/>
          </a:prstGeom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12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6250000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ЛОМАЮЩИЕ СОБЫТИЯ И ЦЕНА РЕШЕНИЯ</a:t>
            </a:r>
          </a:p>
        </p:txBody>
      </p:sp>
      <p:sp>
        <p:nvSpPr>
          <p:cNvPr id="5" name="Карточка"/>
          <p:cNvSpPr/>
          <p:nvPr/>
        </p:nvSpPr>
        <p:spPr>
          <a:xfrm>
            <a:off x="347472" y="1234440"/>
            <a:ext cx="6355080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064" y="1399032"/>
            <a:ext cx="6025896" cy="2429288"/>
          </a:xfrm>
          <a:prstGeom prst="rect">
            <a:avLst/>
          </a:prstGeom>
          <a:ln w="9525">
            <a:solidFill>
              <a:srgbClr val="A1A1A1"/>
            </a:solidFill>
          </a:ln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576072" y="4139215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16152" y="4102639"/>
            <a:ext cx="5257800" cy="58521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600" b="1">
                <a:solidFill>
                  <a:srgbClr val="141414"/>
                </a:solidFill>
                <a:latin typeface="Montserrat"/>
              </a:rPr>
              <a:t>Восток, 10:00. Бригада Арташкин задерживается на 120 минут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16152" y="4761007"/>
            <a:ext cx="5257800" cy="14000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Часы встают, только если «Ничего не менять» хуже пересчёта, иначе событие применяется само. Молча бросить аварию ради обычной заявки нельзя.</a:t>
            </a:r>
          </a:p>
          <a:p>
            <a:pPr algn="l">
              <a:spcBef>
                <a:spcPts val="600"/>
              </a:spcBef>
            </a:pPr>
            <a:r>
              <a:rPr sz="1400" b="0">
                <a:solidFill>
                  <a:srgbClr val="141414"/>
                </a:solidFill>
                <a:latin typeface="Montserrat"/>
              </a:rPr>
              <a:t>Рекомендуем по порядку: клиенты → бригады → переносы → км. Выбирает диспетчер, ползунок вернёт день до события.</a:t>
            </a:r>
          </a:p>
        </p:txBody>
      </p:sp>
      <p:sp>
        <p:nvSpPr>
          <p:cNvPr id="10" name="Чип"/>
          <p:cNvSpPr/>
          <p:nvPr/>
        </p:nvSpPr>
        <p:spPr>
          <a:xfrm>
            <a:off x="6885432" y="123444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C800"/>
          </a:solidFill>
          <a:ln w="19050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1" name="Picture 1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086600" y="1490472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662672" y="130759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Оптимально по дню</a:t>
            </a:r>
          </a:p>
        </p:txBody>
      </p:sp>
      <p:sp>
        <p:nvSpPr>
          <p:cNvPr id="13" name="Рекомендуем"/>
          <p:cNvSpPr/>
          <p:nvPr/>
        </p:nvSpPr>
        <p:spPr>
          <a:xfrm>
            <a:off x="9830562" y="1325880"/>
            <a:ext cx="1180846" cy="246888"/>
          </a:xfrm>
          <a:prstGeom prst="roundRect">
            <a:avLst>
              <a:gd name="adj" fmla="val 50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lIns="0" tIns="0" rIns="0" bIns="0" rtlCol="0" anchor="ctr"/>
          <a:lstStyle/>
          <a:p>
            <a:pPr algn="ctr"/>
            <a:r>
              <a:rPr sz="1000" b="1">
                <a:solidFill>
                  <a:srgbClr val="FFFFFF"/>
                </a:solidFill>
                <a:latin typeface="Montserrat"/>
              </a:rPr>
              <a:t>Рекомендуем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62672" y="161848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7 переносов · 241,8 км</a:t>
            </a:r>
          </a:p>
        </p:txBody>
      </p:sp>
      <p:sp>
        <p:nvSpPr>
          <p:cNvPr id="15" name="Чип"/>
          <p:cNvSpPr/>
          <p:nvPr/>
        </p:nvSpPr>
        <p:spPr>
          <a:xfrm>
            <a:off x="6885432" y="225171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6" name="Picture 15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086600" y="2507742"/>
            <a:ext cx="402336" cy="402336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62672" y="232486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Минимум перестановок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62672" y="263575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9 бригад (+1) · 0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2 переноса · 244,2 км</a:t>
            </a:r>
          </a:p>
        </p:txBody>
      </p:sp>
      <p:sp>
        <p:nvSpPr>
          <p:cNvPr id="19" name="Чип"/>
          <p:cNvSpPr/>
          <p:nvPr/>
        </p:nvSpPr>
        <p:spPr>
          <a:xfrm>
            <a:off x="6885432" y="326898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0" name="Picture 19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086600" y="3525012"/>
            <a:ext cx="402336" cy="402336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7662672" y="334213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Ничего не менять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62672" y="365302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8 бригад · </a:t>
            </a:r>
            <a:r>
              <a:rPr sz="1400" b="1">
                <a:solidFill>
                  <a:srgbClr val="141414"/>
                </a:solidFill>
                <a:latin typeface="Montserrat"/>
              </a:rPr>
              <a:t>5 опозданий</a:t>
            </a:r>
          </a:p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0 переносов · 241,8 км</a:t>
            </a:r>
          </a:p>
        </p:txBody>
      </p:sp>
      <p:sp>
        <p:nvSpPr>
          <p:cNvPr id="23" name="Чип"/>
          <p:cNvSpPr/>
          <p:nvPr/>
        </p:nvSpPr>
        <p:spPr>
          <a:xfrm>
            <a:off x="6885432" y="428625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4" name="Picture 23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7086600" y="4542282"/>
            <a:ext cx="402336" cy="402336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7662672" y="435940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Своя бригада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662672" y="467029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Срочную, правку, новое окно — своей бригаде, с ценой против оптимума</a:t>
            </a:r>
          </a:p>
        </p:txBody>
      </p:sp>
      <p:sp>
        <p:nvSpPr>
          <p:cNvPr id="27" name="Чип"/>
          <p:cNvSpPr/>
          <p:nvPr/>
        </p:nvSpPr>
        <p:spPr>
          <a:xfrm>
            <a:off x="6885432" y="5303520"/>
            <a:ext cx="4974336" cy="914400"/>
          </a:xfrm>
          <a:prstGeom prst="roundRect">
            <a:avLst>
              <a:gd name="adj" fmla="val 14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8" cstate="print"/>
          <a:stretch>
            <a:fillRect/>
          </a:stretch>
        </p:blipFill>
        <p:spPr>
          <a:xfrm>
            <a:off x="7086600" y="5559552"/>
            <a:ext cx="402336" cy="402336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7662672" y="5376672"/>
            <a:ext cx="4059936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Кому позвонить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62672" y="5687568"/>
            <a:ext cx="4059936" cy="49377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Кому звонить и какой слот назвать; «✓ Согласовано» — план держит окно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13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691127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ЧЕМ МЫ ОТЛИЧАЕМСЯ</a:t>
            </a:r>
          </a:p>
        </p:txBody>
      </p:sp>
      <p:sp>
        <p:nvSpPr>
          <p:cNvPr id="17" name="Карточка"/>
          <p:cNvSpPr/>
          <p:nvPr/>
        </p:nvSpPr>
        <p:spPr>
          <a:xfrm>
            <a:off x="34747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Подложка иконки"/>
          <p:cNvSpPr/>
          <p:nvPr/>
        </p:nvSpPr>
        <p:spPr>
          <a:xfrm>
            <a:off x="57607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9" name="Picture 18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731520" y="1645920"/>
            <a:ext cx="512064" cy="51206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874519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Сравнение с живыми диспетчерами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607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Сравниваем и с базовым вариантом из ТЗ, и с днём диспетчеров Билайна. Ответ не подсматриваем: статус «Просрочена» план не видит, длительности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нормативы Билайна</a:t>
            </a:r>
            <a:r>
              <a:rPr sz="1400" b="0">
                <a:solidFill>
                  <a:srgbClr val="141414"/>
                </a:solidFill>
                <a:latin typeface="Montserrat"/>
              </a:rPr>
              <a:t>, все планы проверяет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одна функция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  <p:sp>
        <p:nvSpPr>
          <p:cNvPr id="23" name="Карточка"/>
          <p:cNvSpPr/>
          <p:nvPr/>
        </p:nvSpPr>
        <p:spPr>
          <a:xfrm>
            <a:off x="3291840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Подложка иконки"/>
          <p:cNvSpPr/>
          <p:nvPr/>
        </p:nvSpPr>
        <p:spPr>
          <a:xfrm>
            <a:off x="3520440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5" name="Picture 24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3675888" y="1645920"/>
            <a:ext cx="512064" cy="512064"/>
          </a:xfrm>
          <a:prstGeom prst="rect">
            <a:avLst/>
          </a:prstGeom>
        </p:spPr>
      </p:pic>
      <p:sp>
        <p:nvSpPr>
          <p:cNvPr id="26" name="TextBox 25"/>
          <p:cNvSpPr txBox="1"/>
          <p:nvPr/>
        </p:nvSpPr>
        <p:spPr>
          <a:xfrm>
            <a:off x="4818888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20440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Объяснение вместо чёрного ящика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20440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«Почему?» у каждой заявки и маршрута: проверки, кто ещё мог взять и за сколько км. У заявки без исполнителя —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причина словами</a:t>
            </a:r>
            <a:r>
              <a:rPr sz="1400" b="0">
                <a:solidFill>
                  <a:srgbClr val="141414"/>
                </a:solidFill>
                <a:latin typeface="Montserrat"/>
              </a:rPr>
              <a:t>. Считается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без нейросети</a:t>
            </a:r>
            <a:r>
              <a:rPr sz="1400" b="0">
                <a:solidFill>
                  <a:srgbClr val="141414"/>
                </a:solidFill>
                <a:latin typeface="Montserrat"/>
              </a:rPr>
              <a:t>, теми же проверками, что и план.</a:t>
            </a:r>
          </a:p>
        </p:txBody>
      </p:sp>
      <p:sp>
        <p:nvSpPr>
          <p:cNvPr id="29" name="Карточка"/>
          <p:cNvSpPr/>
          <p:nvPr/>
        </p:nvSpPr>
        <p:spPr>
          <a:xfrm>
            <a:off x="6227064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Подложка иконки"/>
          <p:cNvSpPr/>
          <p:nvPr/>
        </p:nvSpPr>
        <p:spPr>
          <a:xfrm>
            <a:off x="6455664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1" name="Picture 30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611112" y="1645920"/>
            <a:ext cx="512064" cy="512064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7754112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Цена решения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Диспетчер не согласен с оптимизатором? Отдаёт заявку своей бригаде и видит,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во сколько км и переносов</a:t>
            </a:r>
            <a:r>
              <a:rPr sz="1400" b="0">
                <a:solidFill>
                  <a:srgbClr val="141414"/>
                </a:solidFill>
                <a:latin typeface="Montserrat"/>
              </a:rPr>
              <a:t> это обходится. Дальше оптимизатор её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не отнимет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  <p:sp>
        <p:nvSpPr>
          <p:cNvPr id="35" name="Карточка"/>
          <p:cNvSpPr/>
          <p:nvPr/>
        </p:nvSpPr>
        <p:spPr>
          <a:xfrm>
            <a:off x="9171432" y="1234440"/>
            <a:ext cx="2670048" cy="493776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Подложка иконки"/>
          <p:cNvSpPr/>
          <p:nvPr/>
        </p:nvSpPr>
        <p:spPr>
          <a:xfrm>
            <a:off x="9400032" y="1490472"/>
            <a:ext cx="822960" cy="822960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7" name="Picture 36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9555480" y="1645920"/>
            <a:ext cx="512064" cy="512064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10698480" y="1508760"/>
            <a:ext cx="914400" cy="54864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30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2606040"/>
            <a:ext cx="2258568" cy="83591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Весь день на шкале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400032" y="3579114"/>
            <a:ext cx="2258568" cy="29260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00" b="0">
                <a:solidFill>
                  <a:srgbClr val="141414"/>
                </a:solidFill>
                <a:latin typeface="Montserrat"/>
              </a:rPr>
              <a:t>План = утро + события до ползунка. День можно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проиграть и разобрать</a:t>
            </a:r>
            <a:r>
              <a:rPr sz="1400" b="0">
                <a:solidFill>
                  <a:srgbClr val="141414"/>
                </a:solidFill>
                <a:latin typeface="Montserrat"/>
              </a:rPr>
              <a:t> по шагам, у события — сменить вариант или удалить его. Шаги хранятся в базе данных: перезапуск </a:t>
            </a:r>
            <a:r>
              <a:rPr sz="1400" b="1">
                <a:solidFill>
                  <a:srgbClr val="141414"/>
                </a:solidFill>
                <a:latin typeface="Montserrat"/>
              </a:rPr>
              <a:t>не меняет план</a:t>
            </a:r>
            <a:r>
              <a:rPr sz="14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15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14</a:t>
            </a:fld>
            <a:endParaRPr lang="ru-RU" dirty="0"/>
          </a:p>
        </p:txBody>
      </p:sp>
      <p:sp>
        <p:nvSpPr>
          <p:cNvPr id="16" name="Карточка pill"/>
          <p:cNvSpPr/>
          <p:nvPr/>
        </p:nvSpPr>
        <p:spPr>
          <a:xfrm>
            <a:off x="347472" y="320040"/>
            <a:ext cx="32720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ЭТО УСТРОЕНО</a:t>
            </a:r>
          </a:p>
        </p:txBody>
      </p:sp>
      <p:sp>
        <p:nvSpPr>
          <p:cNvPr id="17" name="Подложка иконки"/>
          <p:cNvSpPr/>
          <p:nvPr/>
        </p:nvSpPr>
        <p:spPr>
          <a:xfrm>
            <a:off x="45720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2648" y="1481328"/>
            <a:ext cx="475488" cy="475488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144475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4475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Оптимизатор OR-Tools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4475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VRPTW: навыки, смены, транспорт, оборудование, обед. Цель: все заявки → меньше бригад → меньше км; в тяжёлый день авария снимается последней.</a:t>
            </a:r>
          </a:p>
        </p:txBody>
      </p:sp>
      <p:sp>
        <p:nvSpPr>
          <p:cNvPr id="22" name="Подложка иконки"/>
          <p:cNvSpPr/>
          <p:nvPr/>
        </p:nvSpPr>
        <p:spPr>
          <a:xfrm>
            <a:off x="45720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3" name="Picture 22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12648" y="3127248"/>
            <a:ext cx="475488" cy="475488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44475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4475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 четырёх стратегий разом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4475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Сколько ядер — столько процессов за тот же лимит (на стенде — два): локальный поиск, отжиг, табу. Берём план с наименьшей стоимостью.</a:t>
            </a:r>
          </a:p>
        </p:txBody>
      </p:sp>
      <p:sp>
        <p:nvSpPr>
          <p:cNvPr id="27" name="Подложка иконки"/>
          <p:cNvSpPr/>
          <p:nvPr/>
        </p:nvSpPr>
        <p:spPr>
          <a:xfrm>
            <a:off x="45720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28" name="Picture 2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12648" y="4773168"/>
            <a:ext cx="475488" cy="475488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144475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4475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Ночной расчёт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4475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lang="ru-RU" sz="1350" dirty="0" smtClean="0" b="0">
                <a:solidFill>
                  <a:srgbClr val="141414"/>
                </a:solidFill>
                <a:latin typeface="Montserrat"/>
              </a:rPr>
              <a:t>Пока диспетчер спит, поиск идёт часами. За 30 секунд на Югоцентре выходит 7 бригад, за ночь — 6; на Юго-востоке 11 → 10.</a:t>
            </a:r>
          </a:p>
        </p:txBody>
      </p:sp>
      <p:sp>
        <p:nvSpPr>
          <p:cNvPr id="32" name="Подложка иконки"/>
          <p:cNvSpPr/>
          <p:nvPr/>
        </p:nvSpPr>
        <p:spPr>
          <a:xfrm>
            <a:off x="6263640" y="132588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419088" y="1481328"/>
            <a:ext cx="475488" cy="47548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7251192" y="126187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51192" y="151790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Пересчёт за 5 секунд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51192" y="197510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Начатое и бригада в пути закреплены, перенос к другой бригаде стоит как 20 км — без выгоды никого не перекидываем.</a:t>
            </a:r>
          </a:p>
        </p:txBody>
      </p:sp>
      <p:sp>
        <p:nvSpPr>
          <p:cNvPr id="37" name="Подложка иконки"/>
          <p:cNvSpPr/>
          <p:nvPr/>
        </p:nvSpPr>
        <p:spPr>
          <a:xfrm>
            <a:off x="6263640" y="297180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8" name="Picture 37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6419088" y="3127248"/>
            <a:ext cx="475488" cy="47548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7251192" y="290779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251192" y="316382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Дороги, а не прямые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51192" y="362102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OSRM по графу Москвы и области, пробки — коэффициентом часа; общественный транспорт — минуты 2ГИС, остальное — формула (ошибка 19%).</a:t>
            </a:r>
          </a:p>
        </p:txBody>
      </p:sp>
      <p:sp>
        <p:nvSpPr>
          <p:cNvPr id="42" name="Подложка иконки"/>
          <p:cNvSpPr/>
          <p:nvPr/>
        </p:nvSpPr>
        <p:spPr>
          <a:xfrm>
            <a:off x="6263640" y="4617720"/>
            <a:ext cx="786384" cy="786384"/>
          </a:xfrm>
          <a:prstGeom prst="roundRect">
            <a:avLst>
              <a:gd name="adj" fmla="val 22000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43" name="Picture 42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6419088" y="4773168"/>
            <a:ext cx="475488" cy="475488"/>
          </a:xfrm>
          <a:prstGeom prst="rect">
            <a:avLst/>
          </a:prstGeom>
        </p:spPr>
      </p:pic>
      <p:sp>
        <p:nvSpPr>
          <p:cNvPr id="44" name="TextBox 43"/>
          <p:cNvSpPr txBox="1"/>
          <p:nvPr/>
        </p:nvSpPr>
        <p:spPr>
          <a:xfrm>
            <a:off x="7251192" y="4553712"/>
            <a:ext cx="914400" cy="2743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1">
                <a:solidFill>
                  <a:srgbClr val="141414"/>
                </a:solidFill>
                <a:latin typeface="Montserrat"/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251192" y="4809744"/>
            <a:ext cx="4572000" cy="41148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900" b="1">
                <a:solidFill>
                  <a:srgbClr val="141414"/>
                </a:solidFill>
                <a:latin typeface="Montserrat"/>
              </a:rPr>
              <a:t>Воспроизводимо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251192" y="5266944"/>
            <a:ext cx="4572000" cy="9144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Граф — в публичном бакете, ночные планы — в репозитории: чистый клон даёт те же цифры. 1842 автотеста, выкат — только после зелёных.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1F1F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15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493318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ОТЕЧЕСТВЕННОЕ ОБЛАКО И ИИ</a:t>
            </a:r>
          </a:p>
        </p:txBody>
      </p:sp>
      <p:cxnSp>
        <p:nvCxnSpPr>
          <p:cNvPr id="5" name="Google Shape;2799;p94">
            <a:extLst>
              <a:ext uri="{FF2B5EF4-FFF2-40B4-BE49-F238E27FC236}">
                <a16:creationId xmlns:a16="http://schemas.microsoft.com/office/drawing/2014/main" xmlns="" id="{567FA9A9-3099-4088-80A0-9601CEE4D42E}"/>
              </a:ext>
            </a:extLst>
          </p:cNvPr>
          <p:cNvCxnSpPr>
            <a:cxnSpLocks/>
          </p:cNvCxnSpPr>
          <p:nvPr/>
        </p:nvCxnSpPr>
        <p:spPr>
          <a:xfrm flipV="1">
            <a:off x="2980944" y="1819656"/>
            <a:ext cx="2523744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cxnSp>
        <p:nvCxnSpPr>
          <p:cNvPr id="6" name="Google Shape;2799;p94">
            <a:extLst>
              <a:ext uri="{FF2B5EF4-FFF2-40B4-BE49-F238E27FC236}">
                <a16:creationId xmlns:a16="http://schemas.microsoft.com/office/drawing/2014/main" xmlns="" id="{0372E42A-E229-C83D-8A7D-7D33518B16A2}"/>
              </a:ext>
            </a:extLst>
          </p:cNvPr>
          <p:cNvCxnSpPr>
            <a:cxnSpLocks/>
          </p:cNvCxnSpPr>
          <p:nvPr/>
        </p:nvCxnSpPr>
        <p:spPr>
          <a:xfrm flipV="1">
            <a:off x="6876288" y="1819656"/>
            <a:ext cx="2532887" cy="9144"/>
          </a:xfrm>
          <a:prstGeom prst="straightConnector1">
            <a:avLst/>
          </a:prstGeom>
          <a:ln w="12700">
            <a:solidFill>
              <a:srgbClr val="141414"/>
            </a:solidFill>
            <a:headEnd type="none" w="med" len="med"/>
            <a:tailEnd type="none" w="med" len="med"/>
          </a:ln>
        </p:spPr>
        <p:style>
          <a:lnRef idx="1">
            <a:srgbClr val="141414"/>
          </a:lnRef>
          <a:fillRef idx="0">
            <a:srgbClr val="141414"/>
          </a:fillRef>
          <a:effectRef idx="0">
            <a:srgbClr val="141414"/>
          </a:effectRef>
          <a:fontRef idx="minor">
            <a:srgbClr val="141414"/>
          </a:fontRef>
        </p:style>
      </p:cxnSp>
      <p:sp>
        <p:nvSpPr>
          <p:cNvPr id="7" name="Скругленный прямоугольник 6">
            <a:extLst>
              <a:ext uri="{FF2B5EF4-FFF2-40B4-BE49-F238E27FC236}">
                <a16:creationId xmlns:a16="http://schemas.microsoft.com/office/drawing/2014/main" xmlns="" id="{2E5EC51C-6A42-A386-6730-F35F8E0CF56A}"/>
              </a:ext>
            </a:extLst>
          </p:cNvPr>
          <p:cNvSpPr/>
          <p:nvPr/>
        </p:nvSpPr>
        <p:spPr>
          <a:xfrm>
            <a:off x="1609343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1956815" y="1481328"/>
            <a:ext cx="676656" cy="676656"/>
          </a:xfrm>
          <a:prstGeom prst="rect">
            <a:avLst/>
          </a:prstGeom>
        </p:spPr>
      </p:pic>
      <p:sp>
        <p:nvSpPr>
          <p:cNvPr id="9" name="Карточка"/>
          <p:cNvSpPr/>
          <p:nvPr/>
        </p:nvSpPr>
        <p:spPr>
          <a:xfrm>
            <a:off x="429768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4088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Стенд в Yandex Cloud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04088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Сервис, база дня и граф дорог — на одной машине в Yandex Cloud, данные в России. Интерфейс и API — за паролем, снаружи только веб и SSH по ключу. Шаги дня — в Postgres: перезапуск не меняет план. Выкат через OIDC, без долгоживущих ключей облака.</a:t>
            </a:r>
          </a:p>
        </p:txBody>
      </p:sp>
      <p:sp>
        <p:nvSpPr>
          <p:cNvPr id="12" name="Скругленный прямоугольник 16">
            <a:extLst>
              <a:ext uri="{FF2B5EF4-FFF2-40B4-BE49-F238E27FC236}">
                <a16:creationId xmlns:a16="http://schemas.microsoft.com/office/drawing/2014/main" xmlns="" id="{10651A50-CFFD-C440-F1DF-F703C14C9202}"/>
              </a:ext>
            </a:extLst>
          </p:cNvPr>
          <p:cNvSpPr/>
          <p:nvPr/>
        </p:nvSpPr>
        <p:spPr>
          <a:xfrm>
            <a:off x="5504688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3" name="Picture 1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0" y="1481328"/>
            <a:ext cx="676656" cy="676656"/>
          </a:xfrm>
          <a:prstGeom prst="rect">
            <a:avLst/>
          </a:prstGeom>
        </p:spPr>
      </p:pic>
      <p:sp>
        <p:nvSpPr>
          <p:cNvPr id="14" name="Карточка"/>
          <p:cNvSpPr/>
          <p:nvPr/>
        </p:nvSpPr>
        <p:spPr>
          <a:xfrm>
            <a:off x="4325112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4599432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Помощник на Yandex AI Studio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99432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Основная модель — YandexGPT, запасная — Qwen3 с открытыми весами, там же. Модель только предлагает, план меняет диспетчер кнопкой «Применить». Непонятное не угадывает: отвечает «Не понял» и чего не хватает. «Арташкин заболел после обеда» → событие.</a:t>
            </a:r>
          </a:p>
        </p:txBody>
      </p:sp>
      <p:sp>
        <p:nvSpPr>
          <p:cNvPr id="17" name="Скругленный прямоугольник 17">
            <a:extLst>
              <a:ext uri="{FF2B5EF4-FFF2-40B4-BE49-F238E27FC236}">
                <a16:creationId xmlns:a16="http://schemas.microsoft.com/office/drawing/2014/main" xmlns="" id="{4E66C5A3-A3C5-30B4-C393-E9B38DD05805}"/>
              </a:ext>
            </a:extLst>
          </p:cNvPr>
          <p:cNvSpPr/>
          <p:nvPr/>
        </p:nvSpPr>
        <p:spPr>
          <a:xfrm>
            <a:off x="9409176" y="1188720"/>
            <a:ext cx="1371600" cy="1261872"/>
          </a:xfrm>
          <a:prstGeom prst="roundRect">
            <a:avLst/>
          </a:prstGeom>
          <a:solidFill>
            <a:srgbClr val="FFC800"/>
          </a:solidFill>
          <a:ln>
            <a:noFill/>
          </a:ln>
        </p:spPr>
        <p:style>
          <a:lnRef idx="2">
            <a:srgbClr val="141414"/>
          </a:lnRef>
          <a:fillRef idx="1">
            <a:srgbClr val="141414"/>
          </a:fillRef>
          <a:effectRef idx="0">
            <a:srgbClr val="141414"/>
          </a:effectRef>
          <a:fontRef idx="minor">
            <a:srgbClr val="141414"/>
          </a:fontRef>
        </p:style>
        <p:txBody>
          <a:bodyPr rtlCol="0" anchor="t"/>
          <a:lstStyle/>
          <a:p>
            <a:pPr algn="ctr"/>
            <a:endParaRPr lang="ru-RU" b="1" dirty="0">
              <a:solidFill>
                <a:srgbClr val="141414"/>
              </a:solidFill>
            </a:endParaRPr>
          </a:p>
        </p:txBody>
      </p:sp>
      <p:pic>
        <p:nvPicPr>
          <p:cNvPr id="18" name="Picture 17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9756648" y="1481328"/>
            <a:ext cx="676656" cy="676656"/>
          </a:xfrm>
          <a:prstGeom prst="rect">
            <a:avLst/>
          </a:prstGeom>
        </p:spPr>
      </p:pic>
      <p:sp>
        <p:nvSpPr>
          <p:cNvPr id="19" name="Карточка"/>
          <p:cNvSpPr/>
          <p:nvPr/>
        </p:nvSpPr>
        <p:spPr>
          <a:xfrm>
            <a:off x="8229600" y="2697480"/>
            <a:ext cx="3730752" cy="3063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503920" y="2953512"/>
            <a:ext cx="3182112" cy="603504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800" b="1">
                <a:solidFill>
                  <a:srgbClr val="141414"/>
                </a:solidFill>
                <a:latin typeface="Montserrat"/>
              </a:rPr>
              <a:t>Маршруты считаем сами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503920" y="3675888"/>
            <a:ext cx="3182112" cy="2103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50" b="0">
                <a:solidFill>
                  <a:srgbClr val="141414"/>
                </a:solidFill>
                <a:latin typeface="Montserrat"/>
              </a:rPr>
              <a:t>OR-Tools и OSRM — открытый код на нашем сервере: планы и пересчёты не уходят во внешние сервисы. Без внешних сервисов не падает: нет OSRM — расстояния по прямой, нет ключа карт — OpenStreetMap, нет модели — выключен только помощник.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29768" y="5897880"/>
            <a:ext cx="11338560" cy="45720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300" b="0">
                <a:solidFill>
                  <a:srgbClr val="141414"/>
                </a:solidFill>
                <a:latin typeface="Montserrat"/>
              </a:rPr>
              <a:t>С сервера наружу уходят только новые адреса в геокодер (без квартиры) и сообщения помощнику — в промышленной версии модель и геокодер ставятся </a:t>
            </a:r>
            <a:r>
              <a:rPr sz="1300" b="1">
                <a:solidFill>
                  <a:srgbClr val="141414"/>
                </a:solidFill>
                <a:latin typeface="Montserrat"/>
              </a:rPr>
              <a:t>внутрь контура Билайна</a:t>
            </a:r>
            <a:r>
              <a:rPr sz="1300" b="0">
                <a:solidFill>
                  <a:srgbClr val="141414"/>
                </a:solidFill>
                <a:latin typeface="Montserrat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C80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3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294967295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16</a:t>
            </a:fld>
            <a:endParaRPr lang="ru-RU" dirty="0"/>
          </a:p>
        </p:txBody>
      </p:sp>
      <p:sp>
        <p:nvSpPr>
          <p:cNvPr id="4" name="Карточка pill"/>
          <p:cNvSpPr/>
          <p:nvPr/>
        </p:nvSpPr>
        <p:spPr>
          <a:xfrm>
            <a:off x="347472" y="320040"/>
            <a:ext cx="3863848" cy="621792"/>
          </a:xfrm>
          <a:prstGeom prst="roundRect">
            <a:avLst>
              <a:gd name="adj" fmla="val 20588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FFFFFF"/>
                </a:solidFill>
                <a:latin typeface="Montserrat"/>
              </a:rPr>
              <a:t>ЧТО ЭТО ДАЁТ БИЗНЕСУ</a:t>
            </a:r>
          </a:p>
        </p:txBody>
      </p:sp>
      <p:grpSp>
        <p:nvGrpSpPr>
          <p:cNvPr id="2" name="Google Shape;2818;p94">
            <a:extLst>
              <a:ext uri="{FF2B5EF4-FFF2-40B4-BE49-F238E27FC236}">
                <a16:creationId xmlns:a16="http://schemas.microsoft.com/office/drawing/2014/main" xmlns="" id="{C0241749-B161-4D51-AE4A-9F151E800A9E}"/>
              </a:ext>
            </a:extLst>
          </p:cNvPr>
          <p:cNvGrpSpPr/>
          <p:nvPr/>
        </p:nvGrpSpPr>
        <p:grpSpPr>
          <a:xfrm>
            <a:off x="548640" y="1310713"/>
            <a:ext cx="658368" cy="652125"/>
            <a:chOff x="4078718" y="2222819"/>
            <a:chExt cx="340504" cy="339803"/>
          </a:xfrm>
        </p:grpSpPr>
        <p:sp>
          <p:nvSpPr>
            <p:cNvPr id="6" name="Google Shape;2819;p94">
              <a:extLst>
                <a:ext uri="{FF2B5EF4-FFF2-40B4-BE49-F238E27FC236}">
                  <a16:creationId xmlns:a16="http://schemas.microsoft.com/office/drawing/2014/main" xmlns="" id="{148574C2-EBD4-4199-9829-8DFDEA9C78B4}"/>
                </a:ext>
              </a:extLst>
            </p:cNvPr>
            <p:cNvSpPr/>
            <p:nvPr/>
          </p:nvSpPr>
          <p:spPr>
            <a:xfrm>
              <a:off x="4267775" y="2311674"/>
              <a:ext cx="17661" cy="13382"/>
            </a:xfrm>
            <a:custGeom>
              <a:avLst/>
              <a:gdLst/>
              <a:ahLst/>
              <a:cxnLst/>
              <a:rect l="l" t="t" r="r" b="b"/>
              <a:pathLst>
                <a:path w="525" h="389" extrusionOk="0">
                  <a:moveTo>
                    <a:pt x="348" y="1"/>
                  </a:moveTo>
                  <a:cubicBezTo>
                    <a:pt x="335" y="1"/>
                    <a:pt x="323" y="3"/>
                    <a:pt x="310" y="7"/>
                  </a:cubicBezTo>
                  <a:lnTo>
                    <a:pt x="96" y="102"/>
                  </a:lnTo>
                  <a:cubicBezTo>
                    <a:pt x="24" y="126"/>
                    <a:pt x="1" y="221"/>
                    <a:pt x="24" y="293"/>
                  </a:cubicBezTo>
                  <a:cubicBezTo>
                    <a:pt x="48" y="340"/>
                    <a:pt x="96" y="388"/>
                    <a:pt x="143" y="388"/>
                  </a:cubicBezTo>
                  <a:cubicBezTo>
                    <a:pt x="167" y="388"/>
                    <a:pt x="191" y="388"/>
                    <a:pt x="215" y="364"/>
                  </a:cubicBezTo>
                  <a:lnTo>
                    <a:pt x="405" y="293"/>
                  </a:lnTo>
                  <a:cubicBezTo>
                    <a:pt x="477" y="269"/>
                    <a:pt x="524" y="174"/>
                    <a:pt x="501" y="102"/>
                  </a:cubicBezTo>
                  <a:cubicBezTo>
                    <a:pt x="461" y="44"/>
                    <a:pt x="406" y="1"/>
                    <a:pt x="34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7" name="Google Shape;2820;p94">
              <a:extLst>
                <a:ext uri="{FF2B5EF4-FFF2-40B4-BE49-F238E27FC236}">
                  <a16:creationId xmlns:a16="http://schemas.microsoft.com/office/drawing/2014/main" xmlns="" id="{57E0AF51-B6FC-41BD-911C-FDDBED10DCD6}"/>
                </a:ext>
              </a:extLst>
            </p:cNvPr>
            <p:cNvSpPr/>
            <p:nvPr/>
          </p:nvSpPr>
          <p:spPr>
            <a:xfrm>
              <a:off x="4257347" y="2292719"/>
              <a:ext cx="16080" cy="15927"/>
            </a:xfrm>
            <a:custGeom>
              <a:avLst/>
              <a:gdLst/>
              <a:ahLst/>
              <a:cxnLst/>
              <a:rect l="l" t="t" r="r" b="b"/>
              <a:pathLst>
                <a:path w="478" h="463" extrusionOk="0">
                  <a:moveTo>
                    <a:pt x="298" y="1"/>
                  </a:moveTo>
                  <a:cubicBezTo>
                    <a:pt x="258" y="1"/>
                    <a:pt x="218" y="19"/>
                    <a:pt x="191" y="58"/>
                  </a:cubicBezTo>
                  <a:lnTo>
                    <a:pt x="49" y="225"/>
                  </a:lnTo>
                  <a:cubicBezTo>
                    <a:pt x="1" y="296"/>
                    <a:pt x="25" y="391"/>
                    <a:pt x="96" y="439"/>
                  </a:cubicBezTo>
                  <a:cubicBezTo>
                    <a:pt x="120" y="463"/>
                    <a:pt x="144" y="463"/>
                    <a:pt x="168" y="463"/>
                  </a:cubicBezTo>
                  <a:cubicBezTo>
                    <a:pt x="215" y="463"/>
                    <a:pt x="263" y="439"/>
                    <a:pt x="287" y="415"/>
                  </a:cubicBezTo>
                  <a:lnTo>
                    <a:pt x="430" y="225"/>
                  </a:lnTo>
                  <a:cubicBezTo>
                    <a:pt x="477" y="177"/>
                    <a:pt x="453" y="82"/>
                    <a:pt x="382" y="34"/>
                  </a:cubicBezTo>
                  <a:cubicBezTo>
                    <a:pt x="361" y="13"/>
                    <a:pt x="330" y="1"/>
                    <a:pt x="29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8" name="Google Shape;2821;p94">
              <a:extLst>
                <a:ext uri="{FF2B5EF4-FFF2-40B4-BE49-F238E27FC236}">
                  <a16:creationId xmlns:a16="http://schemas.microsoft.com/office/drawing/2014/main" xmlns="" id="{57B8954A-C826-4A9B-B657-89922358B024}"/>
                </a:ext>
              </a:extLst>
            </p:cNvPr>
            <p:cNvSpPr/>
            <p:nvPr/>
          </p:nvSpPr>
          <p:spPr>
            <a:xfrm>
              <a:off x="4271778" y="2333208"/>
              <a:ext cx="17661" cy="11490"/>
            </a:xfrm>
            <a:custGeom>
              <a:avLst/>
              <a:gdLst/>
              <a:ahLst/>
              <a:cxnLst/>
              <a:rect l="l" t="t" r="r" b="b"/>
              <a:pathLst>
                <a:path w="525" h="334" extrusionOk="0">
                  <a:moveTo>
                    <a:pt x="191" y="0"/>
                  </a:moveTo>
                  <a:cubicBezTo>
                    <a:pt x="96" y="0"/>
                    <a:pt x="24" y="48"/>
                    <a:pt x="24" y="119"/>
                  </a:cubicBezTo>
                  <a:cubicBezTo>
                    <a:pt x="1" y="215"/>
                    <a:pt x="48" y="286"/>
                    <a:pt x="143" y="286"/>
                  </a:cubicBezTo>
                  <a:lnTo>
                    <a:pt x="358" y="334"/>
                  </a:lnTo>
                  <a:lnTo>
                    <a:pt x="382" y="334"/>
                  </a:lnTo>
                  <a:cubicBezTo>
                    <a:pt x="453" y="334"/>
                    <a:pt x="501" y="286"/>
                    <a:pt x="525" y="215"/>
                  </a:cubicBezTo>
                  <a:cubicBezTo>
                    <a:pt x="525" y="119"/>
                    <a:pt x="477" y="48"/>
                    <a:pt x="405" y="48"/>
                  </a:cubicBezTo>
                  <a:lnTo>
                    <a:pt x="191" y="0"/>
                  </a:ln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9" name="Google Shape;2822;p94">
              <a:extLst>
                <a:ext uri="{FF2B5EF4-FFF2-40B4-BE49-F238E27FC236}">
                  <a16:creationId xmlns:a16="http://schemas.microsoft.com/office/drawing/2014/main" xmlns="" id="{0E034DD0-4B55-4B91-A037-3246A0A29407}"/>
                </a:ext>
              </a:extLst>
            </p:cNvPr>
            <p:cNvSpPr/>
            <p:nvPr/>
          </p:nvSpPr>
          <p:spPr>
            <a:xfrm>
              <a:off x="4078718" y="2222819"/>
              <a:ext cx="340504" cy="339803"/>
            </a:xfrm>
            <a:custGeom>
              <a:avLst/>
              <a:gdLst/>
              <a:ahLst/>
              <a:cxnLst/>
              <a:rect l="l" t="t" r="r" b="b"/>
              <a:pathLst>
                <a:path w="10122" h="9878" extrusionOk="0">
                  <a:moveTo>
                    <a:pt x="4787" y="423"/>
                  </a:moveTo>
                  <a:lnTo>
                    <a:pt x="6168" y="994"/>
                  </a:lnTo>
                  <a:lnTo>
                    <a:pt x="5240" y="1376"/>
                  </a:lnTo>
                  <a:cubicBezTo>
                    <a:pt x="5233" y="1382"/>
                    <a:pt x="5226" y="1385"/>
                    <a:pt x="5219" y="1385"/>
                  </a:cubicBezTo>
                  <a:cubicBezTo>
                    <a:pt x="5202" y="1385"/>
                    <a:pt x="5185" y="1369"/>
                    <a:pt x="5168" y="1352"/>
                  </a:cubicBezTo>
                  <a:lnTo>
                    <a:pt x="4787" y="423"/>
                  </a:lnTo>
                  <a:close/>
                  <a:moveTo>
                    <a:pt x="8216" y="2066"/>
                  </a:moveTo>
                  <a:cubicBezTo>
                    <a:pt x="8264" y="2066"/>
                    <a:pt x="8312" y="2090"/>
                    <a:pt x="8312" y="2138"/>
                  </a:cubicBezTo>
                  <a:lnTo>
                    <a:pt x="8312" y="2566"/>
                  </a:lnTo>
                  <a:cubicBezTo>
                    <a:pt x="8312" y="2614"/>
                    <a:pt x="8264" y="2661"/>
                    <a:pt x="8216" y="2661"/>
                  </a:cubicBezTo>
                  <a:lnTo>
                    <a:pt x="7407" y="2661"/>
                  </a:lnTo>
                  <a:lnTo>
                    <a:pt x="7168" y="2066"/>
                  </a:lnTo>
                  <a:close/>
                  <a:moveTo>
                    <a:pt x="8788" y="1280"/>
                  </a:moveTo>
                  <a:cubicBezTo>
                    <a:pt x="8931" y="1280"/>
                    <a:pt x="9050" y="1399"/>
                    <a:pt x="9050" y="1542"/>
                  </a:cubicBezTo>
                  <a:lnTo>
                    <a:pt x="9050" y="3924"/>
                  </a:lnTo>
                  <a:lnTo>
                    <a:pt x="7954" y="3924"/>
                  </a:lnTo>
                  <a:lnTo>
                    <a:pt x="7550" y="2947"/>
                  </a:lnTo>
                  <a:lnTo>
                    <a:pt x="8216" y="2947"/>
                  </a:lnTo>
                  <a:cubicBezTo>
                    <a:pt x="8431" y="2947"/>
                    <a:pt x="8597" y="2781"/>
                    <a:pt x="8597" y="2566"/>
                  </a:cubicBezTo>
                  <a:lnTo>
                    <a:pt x="8597" y="2138"/>
                  </a:lnTo>
                  <a:cubicBezTo>
                    <a:pt x="8597" y="1923"/>
                    <a:pt x="8431" y="1757"/>
                    <a:pt x="8216" y="1757"/>
                  </a:cubicBezTo>
                  <a:lnTo>
                    <a:pt x="7049" y="1757"/>
                  </a:lnTo>
                  <a:lnTo>
                    <a:pt x="6835" y="1280"/>
                  </a:lnTo>
                  <a:close/>
                  <a:moveTo>
                    <a:pt x="4430" y="352"/>
                  </a:moveTo>
                  <a:lnTo>
                    <a:pt x="4906" y="1471"/>
                  </a:lnTo>
                  <a:cubicBezTo>
                    <a:pt x="4954" y="1614"/>
                    <a:pt x="5073" y="1685"/>
                    <a:pt x="5216" y="1685"/>
                  </a:cubicBezTo>
                  <a:cubicBezTo>
                    <a:pt x="5263" y="1685"/>
                    <a:pt x="5311" y="1685"/>
                    <a:pt x="5359" y="1661"/>
                  </a:cubicBezTo>
                  <a:lnTo>
                    <a:pt x="6478" y="1185"/>
                  </a:lnTo>
                  <a:lnTo>
                    <a:pt x="7621" y="3947"/>
                  </a:lnTo>
                  <a:lnTo>
                    <a:pt x="6907" y="3947"/>
                  </a:lnTo>
                  <a:cubicBezTo>
                    <a:pt x="6835" y="3947"/>
                    <a:pt x="6764" y="3995"/>
                    <a:pt x="6764" y="4090"/>
                  </a:cubicBezTo>
                  <a:cubicBezTo>
                    <a:pt x="6764" y="4162"/>
                    <a:pt x="6835" y="4233"/>
                    <a:pt x="6907" y="4233"/>
                  </a:cubicBezTo>
                  <a:lnTo>
                    <a:pt x="9574" y="4233"/>
                  </a:lnTo>
                  <a:cubicBezTo>
                    <a:pt x="9717" y="4233"/>
                    <a:pt x="9812" y="4352"/>
                    <a:pt x="9812" y="4471"/>
                  </a:cubicBezTo>
                  <a:lnTo>
                    <a:pt x="9812" y="8972"/>
                  </a:lnTo>
                  <a:cubicBezTo>
                    <a:pt x="9812" y="9330"/>
                    <a:pt x="9550" y="9591"/>
                    <a:pt x="9193" y="9591"/>
                  </a:cubicBezTo>
                  <a:lnTo>
                    <a:pt x="1596" y="9591"/>
                  </a:lnTo>
                  <a:cubicBezTo>
                    <a:pt x="1739" y="9425"/>
                    <a:pt x="1834" y="9210"/>
                    <a:pt x="1834" y="8972"/>
                  </a:cubicBezTo>
                  <a:lnTo>
                    <a:pt x="1834" y="7353"/>
                  </a:lnTo>
                  <a:cubicBezTo>
                    <a:pt x="1834" y="7281"/>
                    <a:pt x="1763" y="7210"/>
                    <a:pt x="1667" y="7210"/>
                  </a:cubicBezTo>
                  <a:cubicBezTo>
                    <a:pt x="1596" y="7210"/>
                    <a:pt x="1524" y="7281"/>
                    <a:pt x="1524" y="7353"/>
                  </a:cubicBezTo>
                  <a:lnTo>
                    <a:pt x="1524" y="8972"/>
                  </a:lnTo>
                  <a:cubicBezTo>
                    <a:pt x="1524" y="9330"/>
                    <a:pt x="1262" y="9591"/>
                    <a:pt x="905" y="9591"/>
                  </a:cubicBezTo>
                  <a:cubicBezTo>
                    <a:pt x="572" y="9591"/>
                    <a:pt x="286" y="9330"/>
                    <a:pt x="286" y="8972"/>
                  </a:cubicBezTo>
                  <a:lnTo>
                    <a:pt x="286" y="2590"/>
                  </a:lnTo>
                  <a:cubicBezTo>
                    <a:pt x="286" y="2447"/>
                    <a:pt x="405" y="2328"/>
                    <a:pt x="548" y="2328"/>
                  </a:cubicBezTo>
                  <a:lnTo>
                    <a:pt x="834" y="2328"/>
                  </a:lnTo>
                  <a:lnTo>
                    <a:pt x="1120" y="3066"/>
                  </a:lnTo>
                  <a:cubicBezTo>
                    <a:pt x="1155" y="3120"/>
                    <a:pt x="1204" y="3147"/>
                    <a:pt x="1257" y="3147"/>
                  </a:cubicBezTo>
                  <a:cubicBezTo>
                    <a:pt x="1274" y="3147"/>
                    <a:pt x="1292" y="3144"/>
                    <a:pt x="1310" y="3138"/>
                  </a:cubicBezTo>
                  <a:cubicBezTo>
                    <a:pt x="1382" y="3114"/>
                    <a:pt x="1429" y="3019"/>
                    <a:pt x="1405" y="2947"/>
                  </a:cubicBezTo>
                  <a:lnTo>
                    <a:pt x="953" y="1876"/>
                  </a:lnTo>
                  <a:cubicBezTo>
                    <a:pt x="929" y="1852"/>
                    <a:pt x="953" y="1804"/>
                    <a:pt x="977" y="1804"/>
                  </a:cubicBezTo>
                  <a:lnTo>
                    <a:pt x="4430" y="352"/>
                  </a:lnTo>
                  <a:close/>
                  <a:moveTo>
                    <a:pt x="4513" y="0"/>
                  </a:moveTo>
                  <a:cubicBezTo>
                    <a:pt x="4495" y="0"/>
                    <a:pt x="4477" y="6"/>
                    <a:pt x="4454" y="18"/>
                  </a:cubicBezTo>
                  <a:lnTo>
                    <a:pt x="858" y="1518"/>
                  </a:lnTo>
                  <a:cubicBezTo>
                    <a:pt x="691" y="1590"/>
                    <a:pt x="596" y="1804"/>
                    <a:pt x="667" y="1971"/>
                  </a:cubicBezTo>
                  <a:lnTo>
                    <a:pt x="691" y="2042"/>
                  </a:lnTo>
                  <a:lnTo>
                    <a:pt x="548" y="2042"/>
                  </a:lnTo>
                  <a:cubicBezTo>
                    <a:pt x="238" y="2042"/>
                    <a:pt x="0" y="2280"/>
                    <a:pt x="0" y="2590"/>
                  </a:cubicBezTo>
                  <a:lnTo>
                    <a:pt x="0" y="8972"/>
                  </a:lnTo>
                  <a:cubicBezTo>
                    <a:pt x="0" y="9472"/>
                    <a:pt x="405" y="9877"/>
                    <a:pt x="905" y="9877"/>
                  </a:cubicBezTo>
                  <a:lnTo>
                    <a:pt x="9193" y="9877"/>
                  </a:lnTo>
                  <a:cubicBezTo>
                    <a:pt x="9717" y="9877"/>
                    <a:pt x="10121" y="9472"/>
                    <a:pt x="10121" y="8972"/>
                  </a:cubicBezTo>
                  <a:lnTo>
                    <a:pt x="10121" y="4471"/>
                  </a:lnTo>
                  <a:cubicBezTo>
                    <a:pt x="10121" y="4162"/>
                    <a:pt x="9860" y="3924"/>
                    <a:pt x="9574" y="3924"/>
                  </a:cubicBezTo>
                  <a:lnTo>
                    <a:pt x="9336" y="3924"/>
                  </a:lnTo>
                  <a:lnTo>
                    <a:pt x="9336" y="1542"/>
                  </a:lnTo>
                  <a:cubicBezTo>
                    <a:pt x="9336" y="1233"/>
                    <a:pt x="9097" y="994"/>
                    <a:pt x="8788" y="994"/>
                  </a:cubicBezTo>
                  <a:lnTo>
                    <a:pt x="6716" y="994"/>
                  </a:lnTo>
                  <a:lnTo>
                    <a:pt x="6692" y="923"/>
                  </a:lnTo>
                  <a:cubicBezTo>
                    <a:pt x="6668" y="899"/>
                    <a:pt x="6645" y="852"/>
                    <a:pt x="6621" y="852"/>
                  </a:cubicBezTo>
                  <a:lnTo>
                    <a:pt x="4573" y="18"/>
                  </a:lnTo>
                  <a:cubicBezTo>
                    <a:pt x="4549" y="6"/>
                    <a:pt x="4531" y="0"/>
                    <a:pt x="451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0" name="Google Shape;2823;p94">
              <a:extLst>
                <a:ext uri="{FF2B5EF4-FFF2-40B4-BE49-F238E27FC236}">
                  <a16:creationId xmlns:a16="http://schemas.microsoft.com/office/drawing/2014/main" xmlns="" id="{06B94662-6FE6-4CF5-B934-EE5CBA83D325}"/>
                </a:ext>
              </a:extLst>
            </p:cNvPr>
            <p:cNvSpPr/>
            <p:nvPr/>
          </p:nvSpPr>
          <p:spPr>
            <a:xfrm>
              <a:off x="4123561" y="2296744"/>
              <a:ext cx="170689" cy="161818"/>
            </a:xfrm>
            <a:custGeom>
              <a:avLst/>
              <a:gdLst/>
              <a:ahLst/>
              <a:cxnLst/>
              <a:rect l="l" t="t" r="r" b="b"/>
              <a:pathLst>
                <a:path w="5074" h="4704" extrusionOk="0">
                  <a:moveTo>
                    <a:pt x="2760" y="301"/>
                  </a:moveTo>
                  <a:cubicBezTo>
                    <a:pt x="2892" y="301"/>
                    <a:pt x="3021" y="325"/>
                    <a:pt x="3144" y="370"/>
                  </a:cubicBezTo>
                  <a:cubicBezTo>
                    <a:pt x="3430" y="489"/>
                    <a:pt x="3645" y="703"/>
                    <a:pt x="3740" y="965"/>
                  </a:cubicBezTo>
                  <a:cubicBezTo>
                    <a:pt x="3859" y="1227"/>
                    <a:pt x="3859" y="1513"/>
                    <a:pt x="3764" y="1775"/>
                  </a:cubicBezTo>
                  <a:lnTo>
                    <a:pt x="3287" y="1775"/>
                  </a:lnTo>
                  <a:cubicBezTo>
                    <a:pt x="3335" y="1679"/>
                    <a:pt x="3359" y="1560"/>
                    <a:pt x="3311" y="1441"/>
                  </a:cubicBezTo>
                  <a:cubicBezTo>
                    <a:pt x="3264" y="1346"/>
                    <a:pt x="3168" y="1275"/>
                    <a:pt x="3073" y="1227"/>
                  </a:cubicBezTo>
                  <a:cubicBezTo>
                    <a:pt x="3025" y="1203"/>
                    <a:pt x="2972" y="1191"/>
                    <a:pt x="2918" y="1191"/>
                  </a:cubicBezTo>
                  <a:cubicBezTo>
                    <a:pt x="2865" y="1191"/>
                    <a:pt x="2811" y="1203"/>
                    <a:pt x="2763" y="1227"/>
                  </a:cubicBezTo>
                  <a:lnTo>
                    <a:pt x="2621" y="1298"/>
                  </a:lnTo>
                  <a:cubicBezTo>
                    <a:pt x="2607" y="1303"/>
                    <a:pt x="2594" y="1305"/>
                    <a:pt x="2581" y="1305"/>
                  </a:cubicBezTo>
                  <a:cubicBezTo>
                    <a:pt x="2524" y="1305"/>
                    <a:pt x="2473" y="1266"/>
                    <a:pt x="2454" y="1227"/>
                  </a:cubicBezTo>
                  <a:cubicBezTo>
                    <a:pt x="2430" y="1155"/>
                    <a:pt x="2478" y="1108"/>
                    <a:pt x="2525" y="1084"/>
                  </a:cubicBezTo>
                  <a:lnTo>
                    <a:pt x="2668" y="1013"/>
                  </a:lnTo>
                  <a:cubicBezTo>
                    <a:pt x="2692" y="1001"/>
                    <a:pt x="2710" y="995"/>
                    <a:pt x="2728" y="995"/>
                  </a:cubicBezTo>
                  <a:cubicBezTo>
                    <a:pt x="2746" y="995"/>
                    <a:pt x="2763" y="1001"/>
                    <a:pt x="2787" y="1013"/>
                  </a:cubicBezTo>
                  <a:cubicBezTo>
                    <a:pt x="2815" y="1031"/>
                    <a:pt x="2842" y="1039"/>
                    <a:pt x="2868" y="1039"/>
                  </a:cubicBezTo>
                  <a:cubicBezTo>
                    <a:pt x="2910" y="1039"/>
                    <a:pt x="2948" y="1018"/>
                    <a:pt x="2978" y="989"/>
                  </a:cubicBezTo>
                  <a:cubicBezTo>
                    <a:pt x="3025" y="917"/>
                    <a:pt x="3002" y="822"/>
                    <a:pt x="2954" y="774"/>
                  </a:cubicBezTo>
                  <a:cubicBezTo>
                    <a:pt x="2892" y="728"/>
                    <a:pt x="2821" y="702"/>
                    <a:pt x="2746" y="702"/>
                  </a:cubicBezTo>
                  <a:cubicBezTo>
                    <a:pt x="2705" y="702"/>
                    <a:pt x="2663" y="710"/>
                    <a:pt x="2621" y="727"/>
                  </a:cubicBezTo>
                  <a:lnTo>
                    <a:pt x="2597" y="679"/>
                  </a:lnTo>
                  <a:cubicBezTo>
                    <a:pt x="2577" y="620"/>
                    <a:pt x="2509" y="578"/>
                    <a:pt x="2446" y="578"/>
                  </a:cubicBezTo>
                  <a:cubicBezTo>
                    <a:pt x="2432" y="578"/>
                    <a:pt x="2419" y="580"/>
                    <a:pt x="2406" y="584"/>
                  </a:cubicBezTo>
                  <a:cubicBezTo>
                    <a:pt x="2335" y="632"/>
                    <a:pt x="2311" y="703"/>
                    <a:pt x="2335" y="774"/>
                  </a:cubicBezTo>
                  <a:lnTo>
                    <a:pt x="2359" y="822"/>
                  </a:lnTo>
                  <a:cubicBezTo>
                    <a:pt x="2192" y="941"/>
                    <a:pt x="2120" y="1155"/>
                    <a:pt x="2192" y="1346"/>
                  </a:cubicBezTo>
                  <a:cubicBezTo>
                    <a:pt x="2264" y="1490"/>
                    <a:pt x="2418" y="1594"/>
                    <a:pt x="2582" y="1594"/>
                  </a:cubicBezTo>
                  <a:cubicBezTo>
                    <a:pt x="2635" y="1594"/>
                    <a:pt x="2688" y="1583"/>
                    <a:pt x="2740" y="1560"/>
                  </a:cubicBezTo>
                  <a:lnTo>
                    <a:pt x="2882" y="1489"/>
                  </a:lnTo>
                  <a:lnTo>
                    <a:pt x="2978" y="1489"/>
                  </a:lnTo>
                  <a:cubicBezTo>
                    <a:pt x="3002" y="1513"/>
                    <a:pt x="3025" y="1537"/>
                    <a:pt x="3025" y="1560"/>
                  </a:cubicBezTo>
                  <a:cubicBezTo>
                    <a:pt x="3049" y="1608"/>
                    <a:pt x="3025" y="1679"/>
                    <a:pt x="2978" y="1703"/>
                  </a:cubicBezTo>
                  <a:lnTo>
                    <a:pt x="2811" y="1775"/>
                  </a:lnTo>
                  <a:lnTo>
                    <a:pt x="2763" y="1775"/>
                  </a:lnTo>
                  <a:cubicBezTo>
                    <a:pt x="2740" y="1775"/>
                    <a:pt x="2716" y="1775"/>
                    <a:pt x="2692" y="1751"/>
                  </a:cubicBezTo>
                  <a:cubicBezTo>
                    <a:pt x="2668" y="1715"/>
                    <a:pt x="2632" y="1697"/>
                    <a:pt x="2594" y="1697"/>
                  </a:cubicBezTo>
                  <a:cubicBezTo>
                    <a:pt x="2555" y="1697"/>
                    <a:pt x="2513" y="1715"/>
                    <a:pt x="2478" y="1751"/>
                  </a:cubicBezTo>
                  <a:cubicBezTo>
                    <a:pt x="2478" y="1751"/>
                    <a:pt x="2478" y="1775"/>
                    <a:pt x="2454" y="1775"/>
                  </a:cubicBezTo>
                  <a:lnTo>
                    <a:pt x="1739" y="1775"/>
                  </a:lnTo>
                  <a:cubicBezTo>
                    <a:pt x="1620" y="1513"/>
                    <a:pt x="1620" y="1227"/>
                    <a:pt x="1739" y="965"/>
                  </a:cubicBezTo>
                  <a:cubicBezTo>
                    <a:pt x="1835" y="703"/>
                    <a:pt x="2049" y="489"/>
                    <a:pt x="2311" y="393"/>
                  </a:cubicBezTo>
                  <a:cubicBezTo>
                    <a:pt x="2462" y="331"/>
                    <a:pt x="2613" y="301"/>
                    <a:pt x="2760" y="301"/>
                  </a:cubicBezTo>
                  <a:close/>
                  <a:moveTo>
                    <a:pt x="2740" y="0"/>
                  </a:moveTo>
                  <a:cubicBezTo>
                    <a:pt x="2561" y="0"/>
                    <a:pt x="2382" y="36"/>
                    <a:pt x="2216" y="108"/>
                  </a:cubicBezTo>
                  <a:cubicBezTo>
                    <a:pt x="1858" y="251"/>
                    <a:pt x="1596" y="512"/>
                    <a:pt x="1454" y="846"/>
                  </a:cubicBezTo>
                  <a:cubicBezTo>
                    <a:pt x="1335" y="1155"/>
                    <a:pt x="1311" y="1489"/>
                    <a:pt x="1406" y="1775"/>
                  </a:cubicBezTo>
                  <a:lnTo>
                    <a:pt x="739" y="1775"/>
                  </a:lnTo>
                  <a:cubicBezTo>
                    <a:pt x="644" y="1775"/>
                    <a:pt x="572" y="1798"/>
                    <a:pt x="501" y="1822"/>
                  </a:cubicBezTo>
                  <a:lnTo>
                    <a:pt x="311" y="1394"/>
                  </a:lnTo>
                  <a:cubicBezTo>
                    <a:pt x="293" y="1342"/>
                    <a:pt x="239" y="1303"/>
                    <a:pt x="183" y="1303"/>
                  </a:cubicBezTo>
                  <a:cubicBezTo>
                    <a:pt x="162" y="1303"/>
                    <a:pt x="140" y="1309"/>
                    <a:pt x="120" y="1322"/>
                  </a:cubicBezTo>
                  <a:cubicBezTo>
                    <a:pt x="49" y="1346"/>
                    <a:pt x="1" y="1441"/>
                    <a:pt x="49" y="1513"/>
                  </a:cubicBezTo>
                  <a:lnTo>
                    <a:pt x="263" y="2037"/>
                  </a:lnTo>
                  <a:cubicBezTo>
                    <a:pt x="215" y="2132"/>
                    <a:pt x="191" y="2227"/>
                    <a:pt x="191" y="2322"/>
                  </a:cubicBezTo>
                  <a:lnTo>
                    <a:pt x="191" y="4537"/>
                  </a:lnTo>
                  <a:cubicBezTo>
                    <a:pt x="191" y="4632"/>
                    <a:pt x="263" y="4704"/>
                    <a:pt x="334" y="4704"/>
                  </a:cubicBezTo>
                  <a:cubicBezTo>
                    <a:pt x="430" y="4704"/>
                    <a:pt x="501" y="4632"/>
                    <a:pt x="501" y="4537"/>
                  </a:cubicBezTo>
                  <a:lnTo>
                    <a:pt x="501" y="2322"/>
                  </a:lnTo>
                  <a:cubicBezTo>
                    <a:pt x="501" y="2179"/>
                    <a:pt x="596" y="2084"/>
                    <a:pt x="739" y="2084"/>
                  </a:cubicBezTo>
                  <a:lnTo>
                    <a:pt x="4907" y="2084"/>
                  </a:lnTo>
                  <a:cubicBezTo>
                    <a:pt x="5002" y="2084"/>
                    <a:pt x="5073" y="2013"/>
                    <a:pt x="5073" y="1918"/>
                  </a:cubicBezTo>
                  <a:cubicBezTo>
                    <a:pt x="5073" y="1846"/>
                    <a:pt x="5002" y="1775"/>
                    <a:pt x="4907" y="1775"/>
                  </a:cubicBezTo>
                  <a:lnTo>
                    <a:pt x="4073" y="1775"/>
                  </a:lnTo>
                  <a:cubicBezTo>
                    <a:pt x="4168" y="1465"/>
                    <a:pt x="4145" y="1155"/>
                    <a:pt x="4026" y="846"/>
                  </a:cubicBezTo>
                  <a:cubicBezTo>
                    <a:pt x="3883" y="512"/>
                    <a:pt x="3597" y="251"/>
                    <a:pt x="3264" y="108"/>
                  </a:cubicBezTo>
                  <a:cubicBezTo>
                    <a:pt x="3097" y="36"/>
                    <a:pt x="2918" y="0"/>
                    <a:pt x="274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1" name="Google Shape;2824;p94">
              <a:extLst>
                <a:ext uri="{FF2B5EF4-FFF2-40B4-BE49-F238E27FC236}">
                  <a16:creationId xmlns:a16="http://schemas.microsoft.com/office/drawing/2014/main" xmlns="" id="{02B037F2-DC45-4341-8A79-CB3209AED39D}"/>
                </a:ext>
              </a:extLst>
            </p:cNvPr>
            <p:cNvSpPr/>
            <p:nvPr/>
          </p:nvSpPr>
          <p:spPr>
            <a:xfrm>
              <a:off x="4130793" y="2276448"/>
              <a:ext cx="47298" cy="25662"/>
            </a:xfrm>
            <a:custGeom>
              <a:avLst/>
              <a:gdLst/>
              <a:ahLst/>
              <a:cxnLst/>
              <a:rect l="l" t="t" r="r" b="b"/>
              <a:pathLst>
                <a:path w="1406" h="746" extrusionOk="0">
                  <a:moveTo>
                    <a:pt x="1207" y="1"/>
                  </a:moveTo>
                  <a:cubicBezTo>
                    <a:pt x="1193" y="1"/>
                    <a:pt x="1180" y="3"/>
                    <a:pt x="1167" y="7"/>
                  </a:cubicBezTo>
                  <a:lnTo>
                    <a:pt x="119" y="460"/>
                  </a:lnTo>
                  <a:cubicBezTo>
                    <a:pt x="48" y="483"/>
                    <a:pt x="0" y="579"/>
                    <a:pt x="24" y="650"/>
                  </a:cubicBezTo>
                  <a:cubicBezTo>
                    <a:pt x="48" y="721"/>
                    <a:pt x="119" y="745"/>
                    <a:pt x="167" y="745"/>
                  </a:cubicBezTo>
                  <a:lnTo>
                    <a:pt x="215" y="745"/>
                  </a:lnTo>
                  <a:lnTo>
                    <a:pt x="1286" y="293"/>
                  </a:lnTo>
                  <a:cubicBezTo>
                    <a:pt x="1358" y="269"/>
                    <a:pt x="1405" y="174"/>
                    <a:pt x="1358" y="102"/>
                  </a:cubicBezTo>
                  <a:cubicBezTo>
                    <a:pt x="1338" y="44"/>
                    <a:pt x="1270" y="1"/>
                    <a:pt x="120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2" name="Google Shape;2825;p94">
              <a:extLst>
                <a:ext uri="{FF2B5EF4-FFF2-40B4-BE49-F238E27FC236}">
                  <a16:creationId xmlns:a16="http://schemas.microsoft.com/office/drawing/2014/main" xmlns="" id="{C50B4741-907E-42DE-BA0B-3176B42ED322}"/>
                </a:ext>
              </a:extLst>
            </p:cNvPr>
            <p:cNvSpPr/>
            <p:nvPr/>
          </p:nvSpPr>
          <p:spPr>
            <a:xfrm>
              <a:off x="4137992" y="2301423"/>
              <a:ext cx="25667" cy="16237"/>
            </a:xfrm>
            <a:custGeom>
              <a:avLst/>
              <a:gdLst/>
              <a:ahLst/>
              <a:cxnLst/>
              <a:rect l="l" t="t" r="r" b="b"/>
              <a:pathLst>
                <a:path w="763" h="472" extrusionOk="0">
                  <a:moveTo>
                    <a:pt x="599" y="0"/>
                  </a:moveTo>
                  <a:cubicBezTo>
                    <a:pt x="576" y="0"/>
                    <a:pt x="551" y="6"/>
                    <a:pt x="525" y="19"/>
                  </a:cubicBezTo>
                  <a:lnTo>
                    <a:pt x="96" y="186"/>
                  </a:lnTo>
                  <a:cubicBezTo>
                    <a:pt x="24" y="234"/>
                    <a:pt x="1" y="305"/>
                    <a:pt x="24" y="376"/>
                  </a:cubicBezTo>
                  <a:cubicBezTo>
                    <a:pt x="48" y="448"/>
                    <a:pt x="96" y="472"/>
                    <a:pt x="167" y="472"/>
                  </a:cubicBezTo>
                  <a:lnTo>
                    <a:pt x="215" y="472"/>
                  </a:lnTo>
                  <a:lnTo>
                    <a:pt x="644" y="281"/>
                  </a:lnTo>
                  <a:cubicBezTo>
                    <a:pt x="715" y="257"/>
                    <a:pt x="763" y="162"/>
                    <a:pt x="739" y="91"/>
                  </a:cubicBezTo>
                  <a:cubicBezTo>
                    <a:pt x="705" y="39"/>
                    <a:pt x="658" y="0"/>
                    <a:pt x="59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3" name="Google Shape;2826;p94">
              <a:extLst>
                <a:ext uri="{FF2B5EF4-FFF2-40B4-BE49-F238E27FC236}">
                  <a16:creationId xmlns:a16="http://schemas.microsoft.com/office/drawing/2014/main" xmlns="" id="{36AB534A-DCD7-4445-B575-A5862273CEB8}"/>
                </a:ext>
              </a:extLst>
            </p:cNvPr>
            <p:cNvSpPr/>
            <p:nvPr/>
          </p:nvSpPr>
          <p:spPr>
            <a:xfrm>
              <a:off x="4161237" y="2507685"/>
              <a:ext cx="35288" cy="9873"/>
            </a:xfrm>
            <a:custGeom>
              <a:avLst/>
              <a:gdLst/>
              <a:ahLst/>
              <a:cxnLst/>
              <a:rect l="l" t="t" r="r" b="b"/>
              <a:pathLst>
                <a:path w="1049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6"/>
                    <a:pt x="143" y="286"/>
                  </a:cubicBezTo>
                  <a:lnTo>
                    <a:pt x="905" y="286"/>
                  </a:lnTo>
                  <a:cubicBezTo>
                    <a:pt x="977" y="286"/>
                    <a:pt x="1048" y="215"/>
                    <a:pt x="1048" y="144"/>
                  </a:cubicBezTo>
                  <a:cubicBezTo>
                    <a:pt x="1048" y="48"/>
                    <a:pt x="977" y="1"/>
                    <a:pt x="90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14" name="Google Shape;2827;p94">
              <a:extLst>
                <a:ext uri="{FF2B5EF4-FFF2-40B4-BE49-F238E27FC236}">
                  <a16:creationId xmlns:a16="http://schemas.microsoft.com/office/drawing/2014/main" xmlns="" id="{B5DD2815-B50D-4491-A04C-6F99AB0237E5}"/>
                </a:ext>
              </a:extLst>
            </p:cNvPr>
            <p:cNvSpPr/>
            <p:nvPr/>
          </p:nvSpPr>
          <p:spPr>
            <a:xfrm>
              <a:off x="4161237" y="2525711"/>
              <a:ext cx="81745" cy="10698"/>
            </a:xfrm>
            <a:custGeom>
              <a:avLst/>
              <a:gdLst/>
              <a:ahLst/>
              <a:cxnLst/>
              <a:rect l="l" t="t" r="r" b="b"/>
              <a:pathLst>
                <a:path w="2430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86" y="310"/>
                  </a:lnTo>
                  <a:cubicBezTo>
                    <a:pt x="2358" y="310"/>
                    <a:pt x="2429" y="239"/>
                    <a:pt x="2429" y="143"/>
                  </a:cubicBezTo>
                  <a:cubicBezTo>
                    <a:pt x="2429" y="72"/>
                    <a:pt x="2358" y="1"/>
                    <a:pt x="228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15" name="TextBox 14"/>
          <p:cNvSpPr txBox="1"/>
          <p:nvPr/>
        </p:nvSpPr>
        <p:spPr>
          <a:xfrm>
            <a:off x="1463040" y="1170432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−11 смен в день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32120" y="1170432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24 бригады вместо 35 закрывают все 205 заявок трёх регионов. Свободные смены — запас на аварии и новые заявки.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457200" y="2103120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5" name="Google Shape;2829;p94">
            <a:extLst>
              <a:ext uri="{FF2B5EF4-FFF2-40B4-BE49-F238E27FC236}">
                <a16:creationId xmlns:a16="http://schemas.microsoft.com/office/drawing/2014/main" xmlns="" id="{4C77747E-B18D-4A2B-BA4F-6DC51DACDF20}"/>
              </a:ext>
            </a:extLst>
          </p:cNvPr>
          <p:cNvGrpSpPr/>
          <p:nvPr/>
        </p:nvGrpSpPr>
        <p:grpSpPr>
          <a:xfrm>
            <a:off x="548640" y="2262843"/>
            <a:ext cx="658368" cy="613240"/>
            <a:chOff x="3385734" y="2233242"/>
            <a:chExt cx="340504" cy="319542"/>
          </a:xfrm>
        </p:grpSpPr>
        <p:sp>
          <p:nvSpPr>
            <p:cNvPr id="19" name="Google Shape;2830;p94">
              <a:extLst>
                <a:ext uri="{FF2B5EF4-FFF2-40B4-BE49-F238E27FC236}">
                  <a16:creationId xmlns:a16="http://schemas.microsoft.com/office/drawing/2014/main" xmlns="" id="{F538E3A9-5C7B-406B-80D1-B9EEBFF33FF0}"/>
                </a:ext>
              </a:extLst>
            </p:cNvPr>
            <p:cNvSpPr/>
            <p:nvPr/>
          </p:nvSpPr>
          <p:spPr>
            <a:xfrm>
              <a:off x="3385734" y="2233242"/>
              <a:ext cx="340504" cy="319542"/>
            </a:xfrm>
            <a:custGeom>
              <a:avLst/>
              <a:gdLst/>
              <a:ahLst/>
              <a:cxnLst/>
              <a:rect l="l" t="t" r="r" b="b"/>
              <a:pathLst>
                <a:path w="10122" h="9289" extrusionOk="0">
                  <a:moveTo>
                    <a:pt x="9574" y="310"/>
                  </a:moveTo>
                  <a:cubicBezTo>
                    <a:pt x="9717" y="310"/>
                    <a:pt x="9812" y="406"/>
                    <a:pt x="9812" y="549"/>
                  </a:cubicBezTo>
                  <a:lnTo>
                    <a:pt x="9812" y="5669"/>
                  </a:lnTo>
                  <a:lnTo>
                    <a:pt x="8622" y="5669"/>
                  </a:lnTo>
                  <a:cubicBezTo>
                    <a:pt x="8550" y="5669"/>
                    <a:pt x="8479" y="5740"/>
                    <a:pt x="8479" y="5812"/>
                  </a:cubicBezTo>
                  <a:cubicBezTo>
                    <a:pt x="8479" y="5907"/>
                    <a:pt x="8550" y="5978"/>
                    <a:pt x="8622" y="5978"/>
                  </a:cubicBezTo>
                  <a:lnTo>
                    <a:pt x="9812" y="5978"/>
                  </a:lnTo>
                  <a:lnTo>
                    <a:pt x="9812" y="6455"/>
                  </a:lnTo>
                  <a:cubicBezTo>
                    <a:pt x="9812" y="6597"/>
                    <a:pt x="9717" y="6717"/>
                    <a:pt x="9574" y="6717"/>
                  </a:cubicBezTo>
                  <a:lnTo>
                    <a:pt x="549" y="6717"/>
                  </a:lnTo>
                  <a:cubicBezTo>
                    <a:pt x="406" y="6717"/>
                    <a:pt x="287" y="6597"/>
                    <a:pt x="287" y="6455"/>
                  </a:cubicBezTo>
                  <a:lnTo>
                    <a:pt x="287" y="5978"/>
                  </a:lnTo>
                  <a:lnTo>
                    <a:pt x="7979" y="5978"/>
                  </a:lnTo>
                  <a:cubicBezTo>
                    <a:pt x="8050" y="5978"/>
                    <a:pt x="8122" y="5907"/>
                    <a:pt x="8122" y="5812"/>
                  </a:cubicBezTo>
                  <a:cubicBezTo>
                    <a:pt x="8122" y="5740"/>
                    <a:pt x="8050" y="5669"/>
                    <a:pt x="7979" y="5669"/>
                  </a:cubicBezTo>
                  <a:lnTo>
                    <a:pt x="6216" y="5669"/>
                  </a:lnTo>
                  <a:lnTo>
                    <a:pt x="6216" y="310"/>
                  </a:lnTo>
                  <a:close/>
                  <a:moveTo>
                    <a:pt x="5335" y="7002"/>
                  </a:moveTo>
                  <a:lnTo>
                    <a:pt x="5335" y="7193"/>
                  </a:lnTo>
                  <a:cubicBezTo>
                    <a:pt x="5335" y="7360"/>
                    <a:pt x="5216" y="7479"/>
                    <a:pt x="5049" y="7479"/>
                  </a:cubicBezTo>
                  <a:cubicBezTo>
                    <a:pt x="4907" y="7479"/>
                    <a:pt x="4764" y="7360"/>
                    <a:pt x="4764" y="7193"/>
                  </a:cubicBezTo>
                  <a:lnTo>
                    <a:pt x="4764" y="7002"/>
                  </a:lnTo>
                  <a:close/>
                  <a:moveTo>
                    <a:pt x="6073" y="7002"/>
                  </a:moveTo>
                  <a:lnTo>
                    <a:pt x="6169" y="8241"/>
                  </a:lnTo>
                  <a:lnTo>
                    <a:pt x="3954" y="8241"/>
                  </a:lnTo>
                  <a:lnTo>
                    <a:pt x="4049" y="7002"/>
                  </a:lnTo>
                  <a:lnTo>
                    <a:pt x="4478" y="7002"/>
                  </a:lnTo>
                  <a:lnTo>
                    <a:pt x="4478" y="7193"/>
                  </a:lnTo>
                  <a:cubicBezTo>
                    <a:pt x="4478" y="7526"/>
                    <a:pt x="4740" y="7788"/>
                    <a:pt x="5049" y="7788"/>
                  </a:cubicBezTo>
                  <a:cubicBezTo>
                    <a:pt x="5383" y="7788"/>
                    <a:pt x="5645" y="7526"/>
                    <a:pt x="5645" y="7193"/>
                  </a:cubicBezTo>
                  <a:lnTo>
                    <a:pt x="5645" y="7002"/>
                  </a:lnTo>
                  <a:close/>
                  <a:moveTo>
                    <a:pt x="6859" y="8526"/>
                  </a:moveTo>
                  <a:cubicBezTo>
                    <a:pt x="6883" y="8526"/>
                    <a:pt x="6907" y="8550"/>
                    <a:pt x="6907" y="8574"/>
                  </a:cubicBezTo>
                  <a:lnTo>
                    <a:pt x="6907" y="8955"/>
                  </a:lnTo>
                  <a:cubicBezTo>
                    <a:pt x="6907" y="8979"/>
                    <a:pt x="6883" y="9003"/>
                    <a:pt x="6859" y="9003"/>
                  </a:cubicBezTo>
                  <a:lnTo>
                    <a:pt x="3263" y="9003"/>
                  </a:lnTo>
                  <a:cubicBezTo>
                    <a:pt x="3240" y="9003"/>
                    <a:pt x="3216" y="8979"/>
                    <a:pt x="3216" y="8955"/>
                  </a:cubicBezTo>
                  <a:lnTo>
                    <a:pt x="3216" y="8574"/>
                  </a:lnTo>
                  <a:cubicBezTo>
                    <a:pt x="3216" y="8550"/>
                    <a:pt x="3240" y="8526"/>
                    <a:pt x="3263" y="8526"/>
                  </a:cubicBezTo>
                  <a:close/>
                  <a:moveTo>
                    <a:pt x="549" y="1"/>
                  </a:moveTo>
                  <a:cubicBezTo>
                    <a:pt x="239" y="1"/>
                    <a:pt x="1" y="239"/>
                    <a:pt x="1" y="549"/>
                  </a:cubicBezTo>
                  <a:lnTo>
                    <a:pt x="1" y="1477"/>
                  </a:lnTo>
                  <a:cubicBezTo>
                    <a:pt x="1" y="1573"/>
                    <a:pt x="72" y="1644"/>
                    <a:pt x="144" y="1644"/>
                  </a:cubicBezTo>
                  <a:cubicBezTo>
                    <a:pt x="215" y="1644"/>
                    <a:pt x="287" y="1573"/>
                    <a:pt x="287" y="1477"/>
                  </a:cubicBezTo>
                  <a:lnTo>
                    <a:pt x="287" y="549"/>
                  </a:lnTo>
                  <a:cubicBezTo>
                    <a:pt x="287" y="406"/>
                    <a:pt x="406" y="310"/>
                    <a:pt x="549" y="310"/>
                  </a:cubicBezTo>
                  <a:lnTo>
                    <a:pt x="5907" y="310"/>
                  </a:lnTo>
                  <a:lnTo>
                    <a:pt x="5907" y="5669"/>
                  </a:lnTo>
                  <a:lnTo>
                    <a:pt x="287" y="5669"/>
                  </a:lnTo>
                  <a:lnTo>
                    <a:pt x="287" y="2144"/>
                  </a:lnTo>
                  <a:cubicBezTo>
                    <a:pt x="287" y="2049"/>
                    <a:pt x="239" y="2001"/>
                    <a:pt x="144" y="2001"/>
                  </a:cubicBezTo>
                  <a:cubicBezTo>
                    <a:pt x="72" y="2001"/>
                    <a:pt x="1" y="2049"/>
                    <a:pt x="1" y="2144"/>
                  </a:cubicBezTo>
                  <a:lnTo>
                    <a:pt x="1" y="6455"/>
                  </a:lnTo>
                  <a:cubicBezTo>
                    <a:pt x="1" y="6764"/>
                    <a:pt x="239" y="7002"/>
                    <a:pt x="549" y="7002"/>
                  </a:cubicBezTo>
                  <a:lnTo>
                    <a:pt x="3763" y="7002"/>
                  </a:lnTo>
                  <a:lnTo>
                    <a:pt x="3644" y="8241"/>
                  </a:lnTo>
                  <a:lnTo>
                    <a:pt x="3263" y="8241"/>
                  </a:lnTo>
                  <a:cubicBezTo>
                    <a:pt x="3073" y="8241"/>
                    <a:pt x="2930" y="8384"/>
                    <a:pt x="2930" y="8574"/>
                  </a:cubicBezTo>
                  <a:lnTo>
                    <a:pt x="2930" y="8955"/>
                  </a:lnTo>
                  <a:cubicBezTo>
                    <a:pt x="2930" y="9146"/>
                    <a:pt x="3073" y="9288"/>
                    <a:pt x="3263" y="9288"/>
                  </a:cubicBezTo>
                  <a:lnTo>
                    <a:pt x="6859" y="9288"/>
                  </a:lnTo>
                  <a:cubicBezTo>
                    <a:pt x="7050" y="9288"/>
                    <a:pt x="7193" y="9146"/>
                    <a:pt x="7193" y="8955"/>
                  </a:cubicBezTo>
                  <a:lnTo>
                    <a:pt x="7193" y="8574"/>
                  </a:lnTo>
                  <a:cubicBezTo>
                    <a:pt x="7193" y="8384"/>
                    <a:pt x="7050" y="8241"/>
                    <a:pt x="6859" y="8241"/>
                  </a:cubicBezTo>
                  <a:lnTo>
                    <a:pt x="6478" y="8241"/>
                  </a:lnTo>
                  <a:lnTo>
                    <a:pt x="6359" y="7002"/>
                  </a:lnTo>
                  <a:lnTo>
                    <a:pt x="9574" y="7002"/>
                  </a:lnTo>
                  <a:cubicBezTo>
                    <a:pt x="9860" y="7002"/>
                    <a:pt x="10122" y="6764"/>
                    <a:pt x="10122" y="6455"/>
                  </a:cubicBezTo>
                  <a:lnTo>
                    <a:pt x="10122" y="549"/>
                  </a:lnTo>
                  <a:cubicBezTo>
                    <a:pt x="10122" y="239"/>
                    <a:pt x="9884" y="1"/>
                    <a:pt x="957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0" name="Google Shape;2831;p94">
              <a:extLst>
                <a:ext uri="{FF2B5EF4-FFF2-40B4-BE49-F238E27FC236}">
                  <a16:creationId xmlns:a16="http://schemas.microsoft.com/office/drawing/2014/main" xmlns="" id="{6A25AEAC-89F0-49CB-B7BE-42F11987AD9D}"/>
                </a:ext>
              </a:extLst>
            </p:cNvPr>
            <p:cNvSpPr/>
            <p:nvPr/>
          </p:nvSpPr>
          <p:spPr>
            <a:xfrm>
              <a:off x="3420989" y="2296022"/>
              <a:ext cx="143441" cy="113382"/>
            </a:xfrm>
            <a:custGeom>
              <a:avLst/>
              <a:gdLst/>
              <a:ahLst/>
              <a:cxnLst/>
              <a:rect l="l" t="t" r="r" b="b"/>
              <a:pathLst>
                <a:path w="4264" h="3296" extrusionOk="0">
                  <a:moveTo>
                    <a:pt x="3897" y="0"/>
                  </a:moveTo>
                  <a:cubicBezTo>
                    <a:pt x="3848" y="0"/>
                    <a:pt x="3805" y="22"/>
                    <a:pt x="3787" y="57"/>
                  </a:cubicBezTo>
                  <a:lnTo>
                    <a:pt x="2835" y="1176"/>
                  </a:lnTo>
                  <a:lnTo>
                    <a:pt x="2596" y="986"/>
                  </a:lnTo>
                  <a:cubicBezTo>
                    <a:pt x="2573" y="962"/>
                    <a:pt x="2537" y="950"/>
                    <a:pt x="2501" y="950"/>
                  </a:cubicBezTo>
                  <a:cubicBezTo>
                    <a:pt x="2465" y="950"/>
                    <a:pt x="2430" y="962"/>
                    <a:pt x="2406" y="986"/>
                  </a:cubicBezTo>
                  <a:lnTo>
                    <a:pt x="1811" y="1629"/>
                  </a:lnTo>
                  <a:lnTo>
                    <a:pt x="1096" y="1367"/>
                  </a:lnTo>
                  <a:cubicBezTo>
                    <a:pt x="1084" y="1355"/>
                    <a:pt x="1066" y="1349"/>
                    <a:pt x="1045" y="1349"/>
                  </a:cubicBezTo>
                  <a:cubicBezTo>
                    <a:pt x="1025" y="1349"/>
                    <a:pt x="1001" y="1355"/>
                    <a:pt x="977" y="1367"/>
                  </a:cubicBezTo>
                  <a:lnTo>
                    <a:pt x="286" y="1772"/>
                  </a:lnTo>
                  <a:lnTo>
                    <a:pt x="286" y="462"/>
                  </a:lnTo>
                  <a:cubicBezTo>
                    <a:pt x="286" y="391"/>
                    <a:pt x="239" y="319"/>
                    <a:pt x="144" y="319"/>
                  </a:cubicBezTo>
                  <a:cubicBezTo>
                    <a:pt x="72" y="319"/>
                    <a:pt x="1" y="391"/>
                    <a:pt x="1" y="462"/>
                  </a:cubicBezTo>
                  <a:lnTo>
                    <a:pt x="1" y="3153"/>
                  </a:lnTo>
                  <a:cubicBezTo>
                    <a:pt x="1" y="3225"/>
                    <a:pt x="72" y="3296"/>
                    <a:pt x="144" y="3296"/>
                  </a:cubicBezTo>
                  <a:lnTo>
                    <a:pt x="4121" y="3296"/>
                  </a:lnTo>
                  <a:cubicBezTo>
                    <a:pt x="4192" y="3296"/>
                    <a:pt x="4263" y="3225"/>
                    <a:pt x="4263" y="3153"/>
                  </a:cubicBezTo>
                  <a:cubicBezTo>
                    <a:pt x="4263" y="3082"/>
                    <a:pt x="4216" y="3010"/>
                    <a:pt x="4121" y="3010"/>
                  </a:cubicBezTo>
                  <a:lnTo>
                    <a:pt x="4049" y="3010"/>
                  </a:lnTo>
                  <a:lnTo>
                    <a:pt x="4049" y="2200"/>
                  </a:lnTo>
                  <a:cubicBezTo>
                    <a:pt x="4049" y="2105"/>
                    <a:pt x="3978" y="2034"/>
                    <a:pt x="3906" y="2034"/>
                  </a:cubicBezTo>
                  <a:cubicBezTo>
                    <a:pt x="3811" y="2034"/>
                    <a:pt x="3739" y="2105"/>
                    <a:pt x="3739" y="2200"/>
                  </a:cubicBezTo>
                  <a:lnTo>
                    <a:pt x="3739" y="3010"/>
                  </a:lnTo>
                  <a:lnTo>
                    <a:pt x="3382" y="3010"/>
                  </a:lnTo>
                  <a:lnTo>
                    <a:pt x="3382" y="2891"/>
                  </a:lnTo>
                  <a:cubicBezTo>
                    <a:pt x="3382" y="2820"/>
                    <a:pt x="3311" y="2748"/>
                    <a:pt x="3239" y="2748"/>
                  </a:cubicBezTo>
                  <a:cubicBezTo>
                    <a:pt x="3144" y="2748"/>
                    <a:pt x="3073" y="2796"/>
                    <a:pt x="3073" y="2891"/>
                  </a:cubicBezTo>
                  <a:lnTo>
                    <a:pt x="3073" y="3010"/>
                  </a:lnTo>
                  <a:lnTo>
                    <a:pt x="2573" y="3010"/>
                  </a:lnTo>
                  <a:lnTo>
                    <a:pt x="2573" y="2891"/>
                  </a:lnTo>
                  <a:cubicBezTo>
                    <a:pt x="2573" y="2820"/>
                    <a:pt x="2525" y="2748"/>
                    <a:pt x="2430" y="2748"/>
                  </a:cubicBezTo>
                  <a:cubicBezTo>
                    <a:pt x="2358" y="2748"/>
                    <a:pt x="2287" y="2796"/>
                    <a:pt x="2287" y="2891"/>
                  </a:cubicBezTo>
                  <a:lnTo>
                    <a:pt x="2287" y="3010"/>
                  </a:lnTo>
                  <a:lnTo>
                    <a:pt x="1787" y="3010"/>
                  </a:lnTo>
                  <a:lnTo>
                    <a:pt x="1787" y="2891"/>
                  </a:lnTo>
                  <a:cubicBezTo>
                    <a:pt x="1787" y="2820"/>
                    <a:pt x="1715" y="2748"/>
                    <a:pt x="1644" y="2748"/>
                  </a:cubicBezTo>
                  <a:cubicBezTo>
                    <a:pt x="1549" y="2748"/>
                    <a:pt x="1501" y="2796"/>
                    <a:pt x="1501" y="2891"/>
                  </a:cubicBezTo>
                  <a:lnTo>
                    <a:pt x="1501" y="3010"/>
                  </a:lnTo>
                  <a:lnTo>
                    <a:pt x="1001" y="3010"/>
                  </a:lnTo>
                  <a:lnTo>
                    <a:pt x="1001" y="2891"/>
                  </a:lnTo>
                  <a:cubicBezTo>
                    <a:pt x="1001" y="2820"/>
                    <a:pt x="929" y="2748"/>
                    <a:pt x="834" y="2748"/>
                  </a:cubicBezTo>
                  <a:cubicBezTo>
                    <a:pt x="763" y="2748"/>
                    <a:pt x="691" y="2796"/>
                    <a:pt x="691" y="2891"/>
                  </a:cubicBezTo>
                  <a:lnTo>
                    <a:pt x="691" y="3010"/>
                  </a:lnTo>
                  <a:lnTo>
                    <a:pt x="286" y="3010"/>
                  </a:lnTo>
                  <a:lnTo>
                    <a:pt x="286" y="2105"/>
                  </a:lnTo>
                  <a:lnTo>
                    <a:pt x="1048" y="1653"/>
                  </a:lnTo>
                  <a:lnTo>
                    <a:pt x="1811" y="1962"/>
                  </a:lnTo>
                  <a:cubicBezTo>
                    <a:pt x="1823" y="1969"/>
                    <a:pt x="1838" y="1972"/>
                    <a:pt x="1853" y="1972"/>
                  </a:cubicBezTo>
                  <a:cubicBezTo>
                    <a:pt x="1893" y="1972"/>
                    <a:pt x="1936" y="1950"/>
                    <a:pt x="1953" y="1915"/>
                  </a:cubicBezTo>
                  <a:lnTo>
                    <a:pt x="2525" y="1296"/>
                  </a:lnTo>
                  <a:lnTo>
                    <a:pt x="2763" y="1486"/>
                  </a:lnTo>
                  <a:cubicBezTo>
                    <a:pt x="2795" y="1518"/>
                    <a:pt x="2828" y="1531"/>
                    <a:pt x="2860" y="1531"/>
                  </a:cubicBezTo>
                  <a:cubicBezTo>
                    <a:pt x="2899" y="1531"/>
                    <a:pt x="2938" y="1512"/>
                    <a:pt x="2977" y="1486"/>
                  </a:cubicBezTo>
                  <a:lnTo>
                    <a:pt x="3739" y="557"/>
                  </a:lnTo>
                  <a:lnTo>
                    <a:pt x="3739" y="1534"/>
                  </a:lnTo>
                  <a:cubicBezTo>
                    <a:pt x="3739" y="1629"/>
                    <a:pt x="3811" y="1677"/>
                    <a:pt x="3882" y="1677"/>
                  </a:cubicBezTo>
                  <a:cubicBezTo>
                    <a:pt x="3978" y="1677"/>
                    <a:pt x="4049" y="1629"/>
                    <a:pt x="4049" y="1534"/>
                  </a:cubicBezTo>
                  <a:lnTo>
                    <a:pt x="4049" y="152"/>
                  </a:lnTo>
                  <a:cubicBezTo>
                    <a:pt x="4049" y="81"/>
                    <a:pt x="4001" y="33"/>
                    <a:pt x="3954" y="10"/>
                  </a:cubicBezTo>
                  <a:cubicBezTo>
                    <a:pt x="3935" y="3"/>
                    <a:pt x="3916" y="0"/>
                    <a:pt x="389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1" name="Google Shape;2832;p94">
              <a:extLst>
                <a:ext uri="{FF2B5EF4-FFF2-40B4-BE49-F238E27FC236}">
                  <a16:creationId xmlns:a16="http://schemas.microsoft.com/office/drawing/2014/main" xmlns="" id="{3504136F-174E-465D-95D8-13EE2C34474F}"/>
                </a:ext>
              </a:extLst>
            </p:cNvPr>
            <p:cNvSpPr/>
            <p:nvPr/>
          </p:nvSpPr>
          <p:spPr>
            <a:xfrm>
              <a:off x="3451433" y="2319276"/>
              <a:ext cx="9655" cy="13966"/>
            </a:xfrm>
            <a:custGeom>
              <a:avLst/>
              <a:gdLst/>
              <a:ahLst/>
              <a:cxnLst/>
              <a:rect l="l" t="t" r="r" b="b"/>
              <a:pathLst>
                <a:path w="287" h="406" extrusionOk="0">
                  <a:moveTo>
                    <a:pt x="143" y="0"/>
                  </a:moveTo>
                  <a:cubicBezTo>
                    <a:pt x="72" y="0"/>
                    <a:pt x="1" y="72"/>
                    <a:pt x="1" y="167"/>
                  </a:cubicBezTo>
                  <a:lnTo>
                    <a:pt x="1" y="262"/>
                  </a:lnTo>
                  <a:cubicBezTo>
                    <a:pt x="1" y="358"/>
                    <a:pt x="72" y="405"/>
                    <a:pt x="143" y="405"/>
                  </a:cubicBezTo>
                  <a:cubicBezTo>
                    <a:pt x="239" y="405"/>
                    <a:pt x="286" y="358"/>
                    <a:pt x="286" y="262"/>
                  </a:cubicBezTo>
                  <a:lnTo>
                    <a:pt x="286" y="167"/>
                  </a:lnTo>
                  <a:cubicBezTo>
                    <a:pt x="286" y="72"/>
                    <a:pt x="239" y="0"/>
                    <a:pt x="14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2" name="Google Shape;2833;p94">
              <a:extLst>
                <a:ext uri="{FF2B5EF4-FFF2-40B4-BE49-F238E27FC236}">
                  <a16:creationId xmlns:a16="http://schemas.microsoft.com/office/drawing/2014/main" xmlns="" id="{1A03FD0C-7738-4A35-B44B-4D9C0E75CBAB}"/>
                </a:ext>
              </a:extLst>
            </p:cNvPr>
            <p:cNvSpPr/>
            <p:nvPr/>
          </p:nvSpPr>
          <p:spPr>
            <a:xfrm>
              <a:off x="3500312" y="2305344"/>
              <a:ext cx="10428" cy="13966"/>
            </a:xfrm>
            <a:custGeom>
              <a:avLst/>
              <a:gdLst/>
              <a:ahLst/>
              <a:cxnLst/>
              <a:rect l="l" t="t" r="r" b="b"/>
              <a:pathLst>
                <a:path w="310" h="406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lnTo>
                    <a:pt x="0" y="262"/>
                  </a:lnTo>
                  <a:cubicBezTo>
                    <a:pt x="0" y="334"/>
                    <a:pt x="72" y="405"/>
                    <a:pt x="143" y="405"/>
                  </a:cubicBezTo>
                  <a:cubicBezTo>
                    <a:pt x="238" y="405"/>
                    <a:pt x="310" y="334"/>
                    <a:pt x="310" y="262"/>
                  </a:cubicBezTo>
                  <a:lnTo>
                    <a:pt x="310" y="143"/>
                  </a:lnTo>
                  <a:cubicBezTo>
                    <a:pt x="310" y="72"/>
                    <a:pt x="238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3" name="Google Shape;2834;p94">
              <a:extLst>
                <a:ext uri="{FF2B5EF4-FFF2-40B4-BE49-F238E27FC236}">
                  <a16:creationId xmlns:a16="http://schemas.microsoft.com/office/drawing/2014/main" xmlns="" id="{66009B1B-C6FD-49B8-8022-7BA95FBA9273}"/>
                </a:ext>
              </a:extLst>
            </p:cNvPr>
            <p:cNvSpPr/>
            <p:nvPr/>
          </p:nvSpPr>
          <p:spPr>
            <a:xfrm>
              <a:off x="3546769" y="2275038"/>
              <a:ext cx="10462" cy="13966"/>
            </a:xfrm>
            <a:custGeom>
              <a:avLst/>
              <a:gdLst/>
              <a:ahLst/>
              <a:cxnLst/>
              <a:rect l="l" t="t" r="r" b="b"/>
              <a:pathLst>
                <a:path w="311" h="406" extrusionOk="0">
                  <a:moveTo>
                    <a:pt x="167" y="0"/>
                  </a:moveTo>
                  <a:cubicBezTo>
                    <a:pt x="72" y="0"/>
                    <a:pt x="0" y="48"/>
                    <a:pt x="0" y="143"/>
                  </a:cubicBezTo>
                  <a:lnTo>
                    <a:pt x="0" y="239"/>
                  </a:lnTo>
                  <a:cubicBezTo>
                    <a:pt x="0" y="334"/>
                    <a:pt x="72" y="405"/>
                    <a:pt x="167" y="405"/>
                  </a:cubicBezTo>
                  <a:cubicBezTo>
                    <a:pt x="239" y="405"/>
                    <a:pt x="310" y="334"/>
                    <a:pt x="310" y="239"/>
                  </a:cubicBezTo>
                  <a:lnTo>
                    <a:pt x="310" y="143"/>
                  </a:lnTo>
                  <a:cubicBezTo>
                    <a:pt x="310" y="48"/>
                    <a:pt x="239" y="0"/>
                    <a:pt x="16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4" name="Google Shape;2835;p94">
              <a:extLst>
                <a:ext uri="{FF2B5EF4-FFF2-40B4-BE49-F238E27FC236}">
                  <a16:creationId xmlns:a16="http://schemas.microsoft.com/office/drawing/2014/main" xmlns="" id="{842A40FB-E85F-45B5-A562-0F31875BC8DD}"/>
                </a:ext>
              </a:extLst>
            </p:cNvPr>
            <p:cNvSpPr/>
            <p:nvPr/>
          </p:nvSpPr>
          <p:spPr>
            <a:xfrm>
              <a:off x="3420989" y="2260280"/>
              <a:ext cx="27282" cy="9873"/>
            </a:xfrm>
            <a:custGeom>
              <a:avLst/>
              <a:gdLst/>
              <a:ahLst/>
              <a:cxnLst/>
              <a:rect l="l" t="t" r="r" b="b"/>
              <a:pathLst>
                <a:path w="811" h="287" extrusionOk="0">
                  <a:moveTo>
                    <a:pt x="144" y="1"/>
                  </a:moveTo>
                  <a:cubicBezTo>
                    <a:pt x="72" y="1"/>
                    <a:pt x="1" y="72"/>
                    <a:pt x="1" y="144"/>
                  </a:cubicBezTo>
                  <a:cubicBezTo>
                    <a:pt x="1" y="239"/>
                    <a:pt x="72" y="287"/>
                    <a:pt x="144" y="287"/>
                  </a:cubicBezTo>
                  <a:lnTo>
                    <a:pt x="667" y="287"/>
                  </a:lnTo>
                  <a:cubicBezTo>
                    <a:pt x="739" y="287"/>
                    <a:pt x="810" y="239"/>
                    <a:pt x="810" y="144"/>
                  </a:cubicBezTo>
                  <a:cubicBezTo>
                    <a:pt x="810" y="72"/>
                    <a:pt x="739" y="1"/>
                    <a:pt x="6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5" name="Google Shape;2836;p94">
              <a:extLst>
                <a:ext uri="{FF2B5EF4-FFF2-40B4-BE49-F238E27FC236}">
                  <a16:creationId xmlns:a16="http://schemas.microsoft.com/office/drawing/2014/main" xmlns="" id="{543973E7-B229-4280-95BA-F224FDE6583D}"/>
                </a:ext>
              </a:extLst>
            </p:cNvPr>
            <p:cNvSpPr/>
            <p:nvPr/>
          </p:nvSpPr>
          <p:spPr>
            <a:xfrm>
              <a:off x="3420989" y="2279131"/>
              <a:ext cx="47298" cy="10698"/>
            </a:xfrm>
            <a:custGeom>
              <a:avLst/>
              <a:gdLst/>
              <a:ahLst/>
              <a:cxnLst/>
              <a:rect l="l" t="t" r="r" b="b"/>
              <a:pathLst>
                <a:path w="1406" h="311" extrusionOk="0">
                  <a:moveTo>
                    <a:pt x="144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9"/>
                    <a:pt x="72" y="310"/>
                    <a:pt x="144" y="310"/>
                  </a:cubicBezTo>
                  <a:lnTo>
                    <a:pt x="1239" y="310"/>
                  </a:lnTo>
                  <a:cubicBezTo>
                    <a:pt x="1334" y="310"/>
                    <a:pt x="1406" y="239"/>
                    <a:pt x="1406" y="143"/>
                  </a:cubicBezTo>
                  <a:cubicBezTo>
                    <a:pt x="1406" y="72"/>
                    <a:pt x="1334" y="0"/>
                    <a:pt x="123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6" name="Google Shape;2837;p94">
              <a:extLst>
                <a:ext uri="{FF2B5EF4-FFF2-40B4-BE49-F238E27FC236}">
                  <a16:creationId xmlns:a16="http://schemas.microsoft.com/office/drawing/2014/main" xmlns="" id="{41575783-12EF-40FC-B478-EC50906BBB87}"/>
                </a:ext>
              </a:extLst>
            </p:cNvPr>
            <p:cNvSpPr/>
            <p:nvPr/>
          </p:nvSpPr>
          <p:spPr>
            <a:xfrm>
              <a:off x="3640490" y="2276689"/>
              <a:ext cx="31285" cy="54077"/>
            </a:xfrm>
            <a:custGeom>
              <a:avLst/>
              <a:gdLst/>
              <a:ahLst/>
              <a:cxnLst/>
              <a:rect l="l" t="t" r="r" b="b"/>
              <a:pathLst>
                <a:path w="930" h="1572" extrusionOk="0">
                  <a:moveTo>
                    <a:pt x="453" y="0"/>
                  </a:moveTo>
                  <a:cubicBezTo>
                    <a:pt x="382" y="0"/>
                    <a:pt x="310" y="48"/>
                    <a:pt x="310" y="143"/>
                  </a:cubicBezTo>
                  <a:lnTo>
                    <a:pt x="310" y="167"/>
                  </a:lnTo>
                  <a:cubicBezTo>
                    <a:pt x="144" y="214"/>
                    <a:pt x="1" y="357"/>
                    <a:pt x="1" y="548"/>
                  </a:cubicBezTo>
                  <a:cubicBezTo>
                    <a:pt x="1" y="762"/>
                    <a:pt x="167" y="929"/>
                    <a:pt x="382" y="929"/>
                  </a:cubicBezTo>
                  <a:lnTo>
                    <a:pt x="525" y="929"/>
                  </a:lnTo>
                  <a:cubicBezTo>
                    <a:pt x="572" y="929"/>
                    <a:pt x="620" y="976"/>
                    <a:pt x="620" y="1024"/>
                  </a:cubicBezTo>
                  <a:cubicBezTo>
                    <a:pt x="620" y="1072"/>
                    <a:pt x="572" y="1119"/>
                    <a:pt x="525" y="1119"/>
                  </a:cubicBezTo>
                  <a:lnTo>
                    <a:pt x="382" y="1119"/>
                  </a:lnTo>
                  <a:cubicBezTo>
                    <a:pt x="358" y="1119"/>
                    <a:pt x="310" y="1095"/>
                    <a:pt x="310" y="1048"/>
                  </a:cubicBezTo>
                  <a:cubicBezTo>
                    <a:pt x="293" y="994"/>
                    <a:pt x="234" y="967"/>
                    <a:pt x="176" y="967"/>
                  </a:cubicBezTo>
                  <a:cubicBezTo>
                    <a:pt x="157" y="967"/>
                    <a:pt x="138" y="970"/>
                    <a:pt x="120" y="976"/>
                  </a:cubicBezTo>
                  <a:cubicBezTo>
                    <a:pt x="48" y="1024"/>
                    <a:pt x="1" y="1095"/>
                    <a:pt x="48" y="1167"/>
                  </a:cubicBezTo>
                  <a:cubicBezTo>
                    <a:pt x="96" y="1286"/>
                    <a:pt x="191" y="1381"/>
                    <a:pt x="310" y="1405"/>
                  </a:cubicBezTo>
                  <a:cubicBezTo>
                    <a:pt x="310" y="1500"/>
                    <a:pt x="382" y="1572"/>
                    <a:pt x="453" y="1572"/>
                  </a:cubicBezTo>
                  <a:cubicBezTo>
                    <a:pt x="549" y="1572"/>
                    <a:pt x="620" y="1500"/>
                    <a:pt x="620" y="1405"/>
                  </a:cubicBezTo>
                  <a:cubicBezTo>
                    <a:pt x="787" y="1357"/>
                    <a:pt x="930" y="1215"/>
                    <a:pt x="930" y="1024"/>
                  </a:cubicBezTo>
                  <a:cubicBezTo>
                    <a:pt x="930" y="810"/>
                    <a:pt x="739" y="643"/>
                    <a:pt x="525" y="643"/>
                  </a:cubicBezTo>
                  <a:lnTo>
                    <a:pt x="382" y="643"/>
                  </a:lnTo>
                  <a:cubicBezTo>
                    <a:pt x="334" y="643"/>
                    <a:pt x="310" y="595"/>
                    <a:pt x="310" y="548"/>
                  </a:cubicBezTo>
                  <a:cubicBezTo>
                    <a:pt x="310" y="500"/>
                    <a:pt x="334" y="453"/>
                    <a:pt x="382" y="453"/>
                  </a:cubicBezTo>
                  <a:lnTo>
                    <a:pt x="525" y="453"/>
                  </a:lnTo>
                  <a:cubicBezTo>
                    <a:pt x="572" y="453"/>
                    <a:pt x="596" y="476"/>
                    <a:pt x="620" y="500"/>
                  </a:cubicBezTo>
                  <a:cubicBezTo>
                    <a:pt x="635" y="546"/>
                    <a:pt x="681" y="573"/>
                    <a:pt x="730" y="573"/>
                  </a:cubicBezTo>
                  <a:cubicBezTo>
                    <a:pt x="757" y="573"/>
                    <a:pt x="785" y="565"/>
                    <a:pt x="810" y="548"/>
                  </a:cubicBezTo>
                  <a:cubicBezTo>
                    <a:pt x="882" y="500"/>
                    <a:pt x="906" y="405"/>
                    <a:pt x="858" y="333"/>
                  </a:cubicBezTo>
                  <a:cubicBezTo>
                    <a:pt x="787" y="238"/>
                    <a:pt x="715" y="191"/>
                    <a:pt x="620" y="167"/>
                  </a:cubicBezTo>
                  <a:lnTo>
                    <a:pt x="620" y="143"/>
                  </a:lnTo>
                  <a:cubicBezTo>
                    <a:pt x="620" y="48"/>
                    <a:pt x="549" y="0"/>
                    <a:pt x="453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7" name="Google Shape;2838;p94">
              <a:extLst>
                <a:ext uri="{FF2B5EF4-FFF2-40B4-BE49-F238E27FC236}">
                  <a16:creationId xmlns:a16="http://schemas.microsoft.com/office/drawing/2014/main" xmlns="" id="{6F0CCC03-3E72-49CA-80F0-A626E2390658}"/>
                </a:ext>
              </a:extLst>
            </p:cNvPr>
            <p:cNvSpPr/>
            <p:nvPr/>
          </p:nvSpPr>
          <p:spPr>
            <a:xfrm>
              <a:off x="3614049" y="2260280"/>
              <a:ext cx="84167" cy="86069"/>
            </a:xfrm>
            <a:custGeom>
              <a:avLst/>
              <a:gdLst/>
              <a:ahLst/>
              <a:cxnLst/>
              <a:rect l="l" t="t" r="r" b="b"/>
              <a:pathLst>
                <a:path w="2502" h="2502" extrusionOk="0">
                  <a:moveTo>
                    <a:pt x="1239" y="287"/>
                  </a:moveTo>
                  <a:cubicBezTo>
                    <a:pt x="1763" y="287"/>
                    <a:pt x="2216" y="715"/>
                    <a:pt x="2216" y="1263"/>
                  </a:cubicBezTo>
                  <a:cubicBezTo>
                    <a:pt x="2216" y="1787"/>
                    <a:pt x="1787" y="2215"/>
                    <a:pt x="1239" y="2215"/>
                  </a:cubicBezTo>
                  <a:cubicBezTo>
                    <a:pt x="715" y="2215"/>
                    <a:pt x="287" y="1787"/>
                    <a:pt x="287" y="1263"/>
                  </a:cubicBezTo>
                  <a:cubicBezTo>
                    <a:pt x="287" y="715"/>
                    <a:pt x="715" y="287"/>
                    <a:pt x="1239" y="287"/>
                  </a:cubicBezTo>
                  <a:close/>
                  <a:moveTo>
                    <a:pt x="1239" y="1"/>
                  </a:moveTo>
                  <a:cubicBezTo>
                    <a:pt x="549" y="1"/>
                    <a:pt x="1" y="548"/>
                    <a:pt x="1" y="1239"/>
                  </a:cubicBezTo>
                  <a:cubicBezTo>
                    <a:pt x="1" y="1954"/>
                    <a:pt x="549" y="2501"/>
                    <a:pt x="1239" y="2501"/>
                  </a:cubicBezTo>
                  <a:cubicBezTo>
                    <a:pt x="1930" y="2501"/>
                    <a:pt x="2501" y="1954"/>
                    <a:pt x="2501" y="1239"/>
                  </a:cubicBezTo>
                  <a:cubicBezTo>
                    <a:pt x="2501" y="572"/>
                    <a:pt x="1930" y="1"/>
                    <a:pt x="123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8" name="Google Shape;2839;p94">
              <a:extLst>
                <a:ext uri="{FF2B5EF4-FFF2-40B4-BE49-F238E27FC236}">
                  <a16:creationId xmlns:a16="http://schemas.microsoft.com/office/drawing/2014/main" xmlns="" id="{18635451-A733-4CC9-B50F-300CE78CFF2E}"/>
                </a:ext>
              </a:extLst>
            </p:cNvPr>
            <p:cNvSpPr/>
            <p:nvPr/>
          </p:nvSpPr>
          <p:spPr>
            <a:xfrm>
              <a:off x="3610046" y="2358595"/>
              <a:ext cx="45717" cy="10698"/>
            </a:xfrm>
            <a:custGeom>
              <a:avLst/>
              <a:gdLst/>
              <a:ahLst/>
              <a:cxnLst/>
              <a:rect l="l" t="t" r="r" b="b"/>
              <a:pathLst>
                <a:path w="1359" h="311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1215" y="310"/>
                  </a:lnTo>
                  <a:cubicBezTo>
                    <a:pt x="1287" y="310"/>
                    <a:pt x="1358" y="239"/>
                    <a:pt x="1358" y="143"/>
                  </a:cubicBezTo>
                  <a:cubicBezTo>
                    <a:pt x="1358" y="72"/>
                    <a:pt x="1311" y="0"/>
                    <a:pt x="1215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29" name="Google Shape;2840;p94">
              <a:extLst>
                <a:ext uri="{FF2B5EF4-FFF2-40B4-BE49-F238E27FC236}">
                  <a16:creationId xmlns:a16="http://schemas.microsoft.com/office/drawing/2014/main" xmlns="" id="{26780036-310A-4D31-A416-A5EB695F5FF5}"/>
                </a:ext>
              </a:extLst>
            </p:cNvPr>
            <p:cNvSpPr/>
            <p:nvPr/>
          </p:nvSpPr>
          <p:spPr>
            <a:xfrm>
              <a:off x="3671742" y="2379063"/>
              <a:ext cx="25667" cy="9873"/>
            </a:xfrm>
            <a:custGeom>
              <a:avLst/>
              <a:gdLst/>
              <a:ahLst/>
              <a:cxnLst/>
              <a:rect l="l" t="t" r="r" b="b"/>
              <a:pathLst>
                <a:path w="763" h="287" extrusionOk="0">
                  <a:moveTo>
                    <a:pt x="143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3" y="287"/>
                  </a:cubicBezTo>
                  <a:lnTo>
                    <a:pt x="596" y="287"/>
                  </a:lnTo>
                  <a:cubicBezTo>
                    <a:pt x="691" y="287"/>
                    <a:pt x="763" y="215"/>
                    <a:pt x="763" y="144"/>
                  </a:cubicBezTo>
                  <a:cubicBezTo>
                    <a:pt x="763" y="72"/>
                    <a:pt x="691" y="1"/>
                    <a:pt x="596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0" name="Google Shape;2841;p94">
              <a:extLst>
                <a:ext uri="{FF2B5EF4-FFF2-40B4-BE49-F238E27FC236}">
                  <a16:creationId xmlns:a16="http://schemas.microsoft.com/office/drawing/2014/main" xmlns="" id="{76A8C9FE-70F9-46C6-890D-45DD60BFE8B2}"/>
                </a:ext>
              </a:extLst>
            </p:cNvPr>
            <p:cNvSpPr/>
            <p:nvPr/>
          </p:nvSpPr>
          <p:spPr>
            <a:xfrm>
              <a:off x="3610046" y="2379063"/>
              <a:ext cx="28897" cy="9873"/>
            </a:xfrm>
            <a:custGeom>
              <a:avLst/>
              <a:gdLst/>
              <a:ahLst/>
              <a:cxnLst/>
              <a:rect l="l" t="t" r="r" b="b"/>
              <a:pathLst>
                <a:path w="859" h="287" extrusionOk="0">
                  <a:moveTo>
                    <a:pt x="144" y="1"/>
                  </a:moveTo>
                  <a:cubicBezTo>
                    <a:pt x="48" y="1"/>
                    <a:pt x="1" y="48"/>
                    <a:pt x="1" y="144"/>
                  </a:cubicBezTo>
                  <a:cubicBezTo>
                    <a:pt x="1" y="215"/>
                    <a:pt x="48" y="287"/>
                    <a:pt x="144" y="287"/>
                  </a:cubicBezTo>
                  <a:lnTo>
                    <a:pt x="715" y="287"/>
                  </a:lnTo>
                  <a:cubicBezTo>
                    <a:pt x="787" y="287"/>
                    <a:pt x="858" y="215"/>
                    <a:pt x="858" y="144"/>
                  </a:cubicBezTo>
                  <a:cubicBezTo>
                    <a:pt x="858" y="72"/>
                    <a:pt x="811" y="1"/>
                    <a:pt x="7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1" name="Google Shape;2842;p94">
              <a:extLst>
                <a:ext uri="{FF2B5EF4-FFF2-40B4-BE49-F238E27FC236}">
                  <a16:creationId xmlns:a16="http://schemas.microsoft.com/office/drawing/2014/main" xmlns="" id="{97FED165-3DBA-426F-92BB-B0C3DB516285}"/>
                </a:ext>
              </a:extLst>
            </p:cNvPr>
            <p:cNvSpPr/>
            <p:nvPr/>
          </p:nvSpPr>
          <p:spPr>
            <a:xfrm>
              <a:off x="3646108" y="2379063"/>
              <a:ext cx="19276" cy="9873"/>
            </a:xfrm>
            <a:custGeom>
              <a:avLst/>
              <a:gdLst/>
              <a:ahLst/>
              <a:cxnLst/>
              <a:rect l="l" t="t" r="r" b="b"/>
              <a:pathLst>
                <a:path w="573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429" y="287"/>
                  </a:lnTo>
                  <a:cubicBezTo>
                    <a:pt x="501" y="287"/>
                    <a:pt x="572" y="215"/>
                    <a:pt x="572" y="144"/>
                  </a:cubicBezTo>
                  <a:cubicBezTo>
                    <a:pt x="572" y="72"/>
                    <a:pt x="501" y="1"/>
                    <a:pt x="429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32" name="Google Shape;2843;p94">
              <a:extLst>
                <a:ext uri="{FF2B5EF4-FFF2-40B4-BE49-F238E27FC236}">
                  <a16:creationId xmlns:a16="http://schemas.microsoft.com/office/drawing/2014/main" xmlns="" id="{386E4A42-856C-4795-ABCB-63A7928B33C3}"/>
                </a:ext>
              </a:extLst>
            </p:cNvPr>
            <p:cNvSpPr/>
            <p:nvPr/>
          </p:nvSpPr>
          <p:spPr>
            <a:xfrm>
              <a:off x="3610046" y="2398740"/>
              <a:ext cx="86556" cy="10664"/>
            </a:xfrm>
            <a:custGeom>
              <a:avLst/>
              <a:gdLst/>
              <a:ahLst/>
              <a:cxnLst/>
              <a:rect l="l" t="t" r="r" b="b"/>
              <a:pathLst>
                <a:path w="2573" h="310" extrusionOk="0">
                  <a:moveTo>
                    <a:pt x="144" y="0"/>
                  </a:moveTo>
                  <a:cubicBezTo>
                    <a:pt x="48" y="0"/>
                    <a:pt x="1" y="72"/>
                    <a:pt x="1" y="143"/>
                  </a:cubicBezTo>
                  <a:cubicBezTo>
                    <a:pt x="1" y="239"/>
                    <a:pt x="48" y="310"/>
                    <a:pt x="144" y="310"/>
                  </a:cubicBezTo>
                  <a:lnTo>
                    <a:pt x="2430" y="310"/>
                  </a:lnTo>
                  <a:cubicBezTo>
                    <a:pt x="2525" y="310"/>
                    <a:pt x="2573" y="239"/>
                    <a:pt x="2573" y="143"/>
                  </a:cubicBezTo>
                  <a:cubicBezTo>
                    <a:pt x="2573" y="72"/>
                    <a:pt x="2525" y="0"/>
                    <a:pt x="2430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33" name="TextBox 32"/>
          <p:cNvSpPr txBox="1"/>
          <p:nvPr/>
        </p:nvSpPr>
        <p:spPr>
          <a:xfrm>
            <a:off x="1463040" y="2103120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−81 км в день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32120" y="2103120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775,5 км против 856,7 у диспетчеров Билайна; против базового варианта из ТЗ — −895 км.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457200" y="3035808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594360" y="3218688"/>
            <a:ext cx="566928" cy="566928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1463040" y="3035808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0 заявок вне окна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32120" y="3035808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Обещанное клиенту окно держится. Кому всё-таки позвонить и какой слот назвать — во вкладке «Коммуникации»: новое окно только слотом сетки 10–12 … 20–22.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457200" y="3968496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grpSp>
        <p:nvGrpSpPr>
          <p:cNvPr id="18" name="Google Shape;2805;p94">
            <a:extLst>
              <a:ext uri="{FF2B5EF4-FFF2-40B4-BE49-F238E27FC236}">
                <a16:creationId xmlns:a16="http://schemas.microsoft.com/office/drawing/2014/main" xmlns="" id="{5E434E9D-30AC-45F0-A79E-53D93704F0BF}"/>
              </a:ext>
            </a:extLst>
          </p:cNvPr>
          <p:cNvGrpSpPr/>
          <p:nvPr/>
        </p:nvGrpSpPr>
        <p:grpSpPr>
          <a:xfrm>
            <a:off x="548640" y="4125114"/>
            <a:ext cx="658368" cy="619450"/>
            <a:chOff x="4754041" y="2231625"/>
            <a:chExt cx="340538" cy="322810"/>
          </a:xfrm>
        </p:grpSpPr>
        <p:sp>
          <p:nvSpPr>
            <p:cNvPr id="41" name="Google Shape;2806;p94">
              <a:extLst>
                <a:ext uri="{FF2B5EF4-FFF2-40B4-BE49-F238E27FC236}">
                  <a16:creationId xmlns:a16="http://schemas.microsoft.com/office/drawing/2014/main" xmlns="" id="{DF5EB72A-9714-47B1-AA38-FD4B1CF31477}"/>
                </a:ext>
              </a:extLst>
            </p:cNvPr>
            <p:cNvSpPr/>
            <p:nvPr/>
          </p:nvSpPr>
          <p:spPr>
            <a:xfrm>
              <a:off x="4754041" y="2231625"/>
              <a:ext cx="340538" cy="322810"/>
            </a:xfrm>
            <a:custGeom>
              <a:avLst/>
              <a:gdLst/>
              <a:ahLst/>
              <a:cxnLst/>
              <a:rect l="l" t="t" r="r" b="b"/>
              <a:pathLst>
                <a:path w="10123" h="9384" extrusionOk="0">
                  <a:moveTo>
                    <a:pt x="5073" y="8550"/>
                  </a:moveTo>
                  <a:cubicBezTo>
                    <a:pt x="5216" y="8550"/>
                    <a:pt x="5335" y="8669"/>
                    <a:pt x="5335" y="8812"/>
                  </a:cubicBezTo>
                  <a:cubicBezTo>
                    <a:pt x="5335" y="8954"/>
                    <a:pt x="5216" y="9097"/>
                    <a:pt x="5073" y="9097"/>
                  </a:cubicBezTo>
                  <a:cubicBezTo>
                    <a:pt x="4907" y="9097"/>
                    <a:pt x="4788" y="8954"/>
                    <a:pt x="4788" y="8812"/>
                  </a:cubicBezTo>
                  <a:cubicBezTo>
                    <a:pt x="4788" y="8669"/>
                    <a:pt x="4907" y="8550"/>
                    <a:pt x="5073" y="8550"/>
                  </a:cubicBezTo>
                  <a:close/>
                  <a:moveTo>
                    <a:pt x="358" y="0"/>
                  </a:moveTo>
                  <a:cubicBezTo>
                    <a:pt x="168" y="0"/>
                    <a:pt x="1" y="167"/>
                    <a:pt x="1" y="357"/>
                  </a:cubicBezTo>
                  <a:lnTo>
                    <a:pt x="1" y="953"/>
                  </a:lnTo>
                  <a:cubicBezTo>
                    <a:pt x="1" y="1143"/>
                    <a:pt x="144" y="1286"/>
                    <a:pt x="334" y="1286"/>
                  </a:cubicBezTo>
                  <a:lnTo>
                    <a:pt x="334" y="5168"/>
                  </a:lnTo>
                  <a:cubicBezTo>
                    <a:pt x="334" y="5239"/>
                    <a:pt x="406" y="5311"/>
                    <a:pt x="477" y="5311"/>
                  </a:cubicBezTo>
                  <a:cubicBezTo>
                    <a:pt x="572" y="5311"/>
                    <a:pt x="644" y="5263"/>
                    <a:pt x="644" y="5168"/>
                  </a:cubicBezTo>
                  <a:lnTo>
                    <a:pt x="644" y="1286"/>
                  </a:lnTo>
                  <a:lnTo>
                    <a:pt x="7741" y="1286"/>
                  </a:lnTo>
                  <a:cubicBezTo>
                    <a:pt x="7812" y="1286"/>
                    <a:pt x="7884" y="1239"/>
                    <a:pt x="7884" y="1143"/>
                  </a:cubicBezTo>
                  <a:cubicBezTo>
                    <a:pt x="7884" y="1072"/>
                    <a:pt x="7812" y="1000"/>
                    <a:pt x="7741" y="1000"/>
                  </a:cubicBezTo>
                  <a:lnTo>
                    <a:pt x="358" y="1000"/>
                  </a:lnTo>
                  <a:cubicBezTo>
                    <a:pt x="334" y="1000"/>
                    <a:pt x="311" y="977"/>
                    <a:pt x="311" y="953"/>
                  </a:cubicBezTo>
                  <a:lnTo>
                    <a:pt x="311" y="357"/>
                  </a:lnTo>
                  <a:cubicBezTo>
                    <a:pt x="311" y="310"/>
                    <a:pt x="334" y="286"/>
                    <a:pt x="358" y="286"/>
                  </a:cubicBezTo>
                  <a:lnTo>
                    <a:pt x="9789" y="286"/>
                  </a:lnTo>
                  <a:cubicBezTo>
                    <a:pt x="9812" y="286"/>
                    <a:pt x="9836" y="334"/>
                    <a:pt x="9836" y="357"/>
                  </a:cubicBezTo>
                  <a:lnTo>
                    <a:pt x="9836" y="953"/>
                  </a:lnTo>
                  <a:cubicBezTo>
                    <a:pt x="9836" y="977"/>
                    <a:pt x="9812" y="1000"/>
                    <a:pt x="9789" y="1000"/>
                  </a:cubicBezTo>
                  <a:lnTo>
                    <a:pt x="8407" y="1000"/>
                  </a:lnTo>
                  <a:cubicBezTo>
                    <a:pt x="8312" y="1000"/>
                    <a:pt x="8241" y="1072"/>
                    <a:pt x="8241" y="1143"/>
                  </a:cubicBezTo>
                  <a:cubicBezTo>
                    <a:pt x="8241" y="1239"/>
                    <a:pt x="8312" y="1286"/>
                    <a:pt x="8407" y="1286"/>
                  </a:cubicBezTo>
                  <a:lnTo>
                    <a:pt x="9503" y="1286"/>
                  </a:lnTo>
                  <a:lnTo>
                    <a:pt x="9503" y="7335"/>
                  </a:lnTo>
                  <a:cubicBezTo>
                    <a:pt x="9503" y="7359"/>
                    <a:pt x="9479" y="7383"/>
                    <a:pt x="9455" y="7383"/>
                  </a:cubicBezTo>
                  <a:lnTo>
                    <a:pt x="692" y="7383"/>
                  </a:lnTo>
                  <a:cubicBezTo>
                    <a:pt x="668" y="7383"/>
                    <a:pt x="644" y="7359"/>
                    <a:pt x="644" y="7335"/>
                  </a:cubicBezTo>
                  <a:lnTo>
                    <a:pt x="644" y="5835"/>
                  </a:lnTo>
                  <a:cubicBezTo>
                    <a:pt x="644" y="5740"/>
                    <a:pt x="572" y="5692"/>
                    <a:pt x="477" y="5692"/>
                  </a:cubicBezTo>
                  <a:cubicBezTo>
                    <a:pt x="406" y="5692"/>
                    <a:pt x="334" y="5740"/>
                    <a:pt x="334" y="5835"/>
                  </a:cubicBezTo>
                  <a:lnTo>
                    <a:pt x="334" y="7335"/>
                  </a:lnTo>
                  <a:cubicBezTo>
                    <a:pt x="334" y="7526"/>
                    <a:pt x="501" y="7668"/>
                    <a:pt x="692" y="7668"/>
                  </a:cubicBezTo>
                  <a:lnTo>
                    <a:pt x="4907" y="7668"/>
                  </a:lnTo>
                  <a:lnTo>
                    <a:pt x="4907" y="8264"/>
                  </a:lnTo>
                  <a:cubicBezTo>
                    <a:pt x="4669" y="8335"/>
                    <a:pt x="4502" y="8550"/>
                    <a:pt x="4502" y="8812"/>
                  </a:cubicBezTo>
                  <a:cubicBezTo>
                    <a:pt x="4502" y="9121"/>
                    <a:pt x="4740" y="9383"/>
                    <a:pt x="5073" y="9383"/>
                  </a:cubicBezTo>
                  <a:cubicBezTo>
                    <a:pt x="5383" y="9383"/>
                    <a:pt x="5621" y="9121"/>
                    <a:pt x="5621" y="8812"/>
                  </a:cubicBezTo>
                  <a:cubicBezTo>
                    <a:pt x="5621" y="8550"/>
                    <a:pt x="5454" y="8335"/>
                    <a:pt x="5216" y="8264"/>
                  </a:cubicBezTo>
                  <a:lnTo>
                    <a:pt x="5216" y="7668"/>
                  </a:lnTo>
                  <a:lnTo>
                    <a:pt x="9431" y="7668"/>
                  </a:lnTo>
                  <a:cubicBezTo>
                    <a:pt x="9622" y="7668"/>
                    <a:pt x="9789" y="7526"/>
                    <a:pt x="9789" y="7335"/>
                  </a:cubicBezTo>
                  <a:lnTo>
                    <a:pt x="9789" y="1286"/>
                  </a:lnTo>
                  <a:cubicBezTo>
                    <a:pt x="9979" y="1286"/>
                    <a:pt x="10122" y="1143"/>
                    <a:pt x="10122" y="953"/>
                  </a:cubicBezTo>
                  <a:lnTo>
                    <a:pt x="10122" y="357"/>
                  </a:lnTo>
                  <a:cubicBezTo>
                    <a:pt x="10122" y="167"/>
                    <a:pt x="9979" y="0"/>
                    <a:pt x="9789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2" name="Google Shape;2807;p94">
              <a:extLst>
                <a:ext uri="{FF2B5EF4-FFF2-40B4-BE49-F238E27FC236}">
                  <a16:creationId xmlns:a16="http://schemas.microsoft.com/office/drawing/2014/main" xmlns="" id="{03D26D72-6983-4EF2-8819-908F4C3C60E4}"/>
                </a:ext>
              </a:extLst>
            </p:cNvPr>
            <p:cNvSpPr/>
            <p:nvPr/>
          </p:nvSpPr>
          <p:spPr>
            <a:xfrm>
              <a:off x="5011219" y="2437234"/>
              <a:ext cx="45683" cy="9873"/>
            </a:xfrm>
            <a:custGeom>
              <a:avLst/>
              <a:gdLst/>
              <a:ahLst/>
              <a:cxnLst/>
              <a:rect l="l" t="t" r="r" b="b"/>
              <a:pathLst>
                <a:path w="1358" h="287" extrusionOk="0">
                  <a:moveTo>
                    <a:pt x="167" y="1"/>
                  </a:moveTo>
                  <a:cubicBezTo>
                    <a:pt x="72" y="1"/>
                    <a:pt x="0" y="72"/>
                    <a:pt x="0" y="144"/>
                  </a:cubicBezTo>
                  <a:cubicBezTo>
                    <a:pt x="0" y="239"/>
                    <a:pt x="72" y="286"/>
                    <a:pt x="167" y="286"/>
                  </a:cubicBezTo>
                  <a:lnTo>
                    <a:pt x="1191" y="286"/>
                  </a:lnTo>
                  <a:cubicBezTo>
                    <a:pt x="1286" y="286"/>
                    <a:pt x="1358" y="239"/>
                    <a:pt x="1358" y="144"/>
                  </a:cubicBezTo>
                  <a:cubicBezTo>
                    <a:pt x="1334" y="72"/>
                    <a:pt x="1286" y="1"/>
                    <a:pt x="119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3" name="Google Shape;2808;p94">
              <a:extLst>
                <a:ext uri="{FF2B5EF4-FFF2-40B4-BE49-F238E27FC236}">
                  <a16:creationId xmlns:a16="http://schemas.microsoft.com/office/drawing/2014/main" xmlns="" id="{F73A84BD-EA2A-4D95-A6B3-BA2F7CC3FA17}"/>
                </a:ext>
              </a:extLst>
            </p:cNvPr>
            <p:cNvSpPr/>
            <p:nvPr/>
          </p:nvSpPr>
          <p:spPr>
            <a:xfrm>
              <a:off x="4976772" y="2455259"/>
              <a:ext cx="80130" cy="10698"/>
            </a:xfrm>
            <a:custGeom>
              <a:avLst/>
              <a:gdLst/>
              <a:ahLst/>
              <a:cxnLst/>
              <a:rect l="l" t="t" r="r" b="b"/>
              <a:pathLst>
                <a:path w="2382" h="311" extrusionOk="0">
                  <a:moveTo>
                    <a:pt x="143" y="1"/>
                  </a:moveTo>
                  <a:cubicBezTo>
                    <a:pt x="72" y="1"/>
                    <a:pt x="0" y="72"/>
                    <a:pt x="0" y="143"/>
                  </a:cubicBezTo>
                  <a:cubicBezTo>
                    <a:pt x="0" y="239"/>
                    <a:pt x="72" y="310"/>
                    <a:pt x="143" y="310"/>
                  </a:cubicBezTo>
                  <a:lnTo>
                    <a:pt x="2215" y="310"/>
                  </a:lnTo>
                  <a:cubicBezTo>
                    <a:pt x="2310" y="310"/>
                    <a:pt x="2382" y="239"/>
                    <a:pt x="2382" y="143"/>
                  </a:cubicBezTo>
                  <a:cubicBezTo>
                    <a:pt x="2382" y="72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4" name="Google Shape;2809;p94">
              <a:extLst>
                <a:ext uri="{FF2B5EF4-FFF2-40B4-BE49-F238E27FC236}">
                  <a16:creationId xmlns:a16="http://schemas.microsoft.com/office/drawing/2014/main" xmlns="" id="{790C7646-D6B3-419D-BDF3-09F1AA2B3135}"/>
                </a:ext>
              </a:extLst>
            </p:cNvPr>
            <p:cNvSpPr/>
            <p:nvPr/>
          </p:nvSpPr>
          <p:spPr>
            <a:xfrm>
              <a:off x="4976772" y="2302902"/>
              <a:ext cx="16854" cy="10664"/>
            </a:xfrm>
            <a:custGeom>
              <a:avLst/>
              <a:gdLst/>
              <a:ahLst/>
              <a:cxnLst/>
              <a:rect l="l" t="t" r="r" b="b"/>
              <a:pathLst>
                <a:path w="501" h="310" extrusionOk="0">
                  <a:moveTo>
                    <a:pt x="143" y="0"/>
                  </a:moveTo>
                  <a:cubicBezTo>
                    <a:pt x="72" y="0"/>
                    <a:pt x="0" y="72"/>
                    <a:pt x="0" y="143"/>
                  </a:cubicBezTo>
                  <a:cubicBezTo>
                    <a:pt x="0" y="238"/>
                    <a:pt x="72" y="310"/>
                    <a:pt x="143" y="310"/>
                  </a:cubicBezTo>
                  <a:lnTo>
                    <a:pt x="334" y="310"/>
                  </a:lnTo>
                  <a:cubicBezTo>
                    <a:pt x="429" y="310"/>
                    <a:pt x="500" y="238"/>
                    <a:pt x="500" y="143"/>
                  </a:cubicBezTo>
                  <a:cubicBezTo>
                    <a:pt x="500" y="72"/>
                    <a:pt x="429" y="0"/>
                    <a:pt x="334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5" name="Google Shape;2810;p94">
              <a:extLst>
                <a:ext uri="{FF2B5EF4-FFF2-40B4-BE49-F238E27FC236}">
                  <a16:creationId xmlns:a16="http://schemas.microsoft.com/office/drawing/2014/main" xmlns="" id="{8FB3E07A-5D5E-4301-807A-B5A2E27785E1}"/>
                </a:ext>
              </a:extLst>
            </p:cNvPr>
            <p:cNvSpPr/>
            <p:nvPr/>
          </p:nvSpPr>
          <p:spPr>
            <a:xfrm>
              <a:off x="5001598" y="2302902"/>
              <a:ext cx="55304" cy="10664"/>
            </a:xfrm>
            <a:custGeom>
              <a:avLst/>
              <a:gdLst/>
              <a:ahLst/>
              <a:cxnLst/>
              <a:rect l="l" t="t" r="r" b="b"/>
              <a:pathLst>
                <a:path w="1644" h="310" extrusionOk="0">
                  <a:moveTo>
                    <a:pt x="143" y="0"/>
                  </a:moveTo>
                  <a:cubicBezTo>
                    <a:pt x="72" y="0"/>
                    <a:pt x="1" y="72"/>
                    <a:pt x="1" y="143"/>
                  </a:cubicBezTo>
                  <a:cubicBezTo>
                    <a:pt x="1" y="238"/>
                    <a:pt x="72" y="310"/>
                    <a:pt x="143" y="310"/>
                  </a:cubicBezTo>
                  <a:lnTo>
                    <a:pt x="1477" y="310"/>
                  </a:lnTo>
                  <a:cubicBezTo>
                    <a:pt x="1572" y="310"/>
                    <a:pt x="1644" y="238"/>
                    <a:pt x="1644" y="143"/>
                  </a:cubicBezTo>
                  <a:cubicBezTo>
                    <a:pt x="1644" y="72"/>
                    <a:pt x="1572" y="0"/>
                    <a:pt x="1477" y="0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6" name="Google Shape;2811;p94">
              <a:extLst>
                <a:ext uri="{FF2B5EF4-FFF2-40B4-BE49-F238E27FC236}">
                  <a16:creationId xmlns:a16="http://schemas.microsoft.com/office/drawing/2014/main" xmlns="" id="{EC9E0779-D157-4AE3-A4AE-1572197E3A61}"/>
                </a:ext>
              </a:extLst>
            </p:cNvPr>
            <p:cNvSpPr/>
            <p:nvPr/>
          </p:nvSpPr>
          <p:spPr>
            <a:xfrm>
              <a:off x="4976772" y="2321719"/>
              <a:ext cx="80130" cy="9873"/>
            </a:xfrm>
            <a:custGeom>
              <a:avLst/>
              <a:gdLst/>
              <a:ahLst/>
              <a:cxnLst/>
              <a:rect l="l" t="t" r="r" b="b"/>
              <a:pathLst>
                <a:path w="2382" h="287" extrusionOk="0">
                  <a:moveTo>
                    <a:pt x="143" y="1"/>
                  </a:moveTo>
                  <a:cubicBezTo>
                    <a:pt x="72" y="1"/>
                    <a:pt x="0" y="48"/>
                    <a:pt x="0" y="144"/>
                  </a:cubicBezTo>
                  <a:cubicBezTo>
                    <a:pt x="0" y="215"/>
                    <a:pt x="72" y="287"/>
                    <a:pt x="143" y="287"/>
                  </a:cubicBezTo>
                  <a:lnTo>
                    <a:pt x="2215" y="287"/>
                  </a:lnTo>
                  <a:cubicBezTo>
                    <a:pt x="2310" y="287"/>
                    <a:pt x="2382" y="215"/>
                    <a:pt x="2382" y="144"/>
                  </a:cubicBezTo>
                  <a:cubicBezTo>
                    <a:pt x="2382" y="48"/>
                    <a:pt x="2310" y="1"/>
                    <a:pt x="2215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7" name="Google Shape;2812;p94">
              <a:extLst>
                <a:ext uri="{FF2B5EF4-FFF2-40B4-BE49-F238E27FC236}">
                  <a16:creationId xmlns:a16="http://schemas.microsoft.com/office/drawing/2014/main" xmlns="" id="{BCFE82E2-ACAF-448C-87DF-5498486058B1}"/>
                </a:ext>
              </a:extLst>
            </p:cNvPr>
            <p:cNvSpPr/>
            <p:nvPr/>
          </p:nvSpPr>
          <p:spPr>
            <a:xfrm>
              <a:off x="4976772" y="2352025"/>
              <a:ext cx="80130" cy="65601"/>
            </a:xfrm>
            <a:custGeom>
              <a:avLst/>
              <a:gdLst/>
              <a:ahLst/>
              <a:cxnLst/>
              <a:rect l="l" t="t" r="r" b="b"/>
              <a:pathLst>
                <a:path w="2382" h="1907" extrusionOk="0">
                  <a:moveTo>
                    <a:pt x="143" y="1"/>
                  </a:moveTo>
                  <a:cubicBezTo>
                    <a:pt x="48" y="1"/>
                    <a:pt x="0" y="49"/>
                    <a:pt x="0" y="144"/>
                  </a:cubicBezTo>
                  <a:lnTo>
                    <a:pt x="0" y="1763"/>
                  </a:lnTo>
                  <a:cubicBezTo>
                    <a:pt x="0" y="1835"/>
                    <a:pt x="72" y="1906"/>
                    <a:pt x="143" y="1906"/>
                  </a:cubicBezTo>
                  <a:lnTo>
                    <a:pt x="2215" y="1906"/>
                  </a:lnTo>
                  <a:cubicBezTo>
                    <a:pt x="2310" y="1906"/>
                    <a:pt x="2382" y="1835"/>
                    <a:pt x="2382" y="1763"/>
                  </a:cubicBezTo>
                  <a:cubicBezTo>
                    <a:pt x="2382" y="1668"/>
                    <a:pt x="2310" y="1597"/>
                    <a:pt x="2215" y="1597"/>
                  </a:cubicBezTo>
                  <a:lnTo>
                    <a:pt x="1858" y="1597"/>
                  </a:lnTo>
                  <a:lnTo>
                    <a:pt x="1858" y="311"/>
                  </a:lnTo>
                  <a:cubicBezTo>
                    <a:pt x="1858" y="239"/>
                    <a:pt x="1786" y="168"/>
                    <a:pt x="1715" y="168"/>
                  </a:cubicBezTo>
                  <a:cubicBezTo>
                    <a:pt x="1644" y="168"/>
                    <a:pt x="1572" y="239"/>
                    <a:pt x="1572" y="311"/>
                  </a:cubicBezTo>
                  <a:lnTo>
                    <a:pt x="1572" y="1597"/>
                  </a:lnTo>
                  <a:lnTo>
                    <a:pt x="1334" y="1597"/>
                  </a:lnTo>
                  <a:lnTo>
                    <a:pt x="1334" y="1120"/>
                  </a:lnTo>
                  <a:cubicBezTo>
                    <a:pt x="1334" y="1049"/>
                    <a:pt x="1263" y="977"/>
                    <a:pt x="1191" y="977"/>
                  </a:cubicBezTo>
                  <a:cubicBezTo>
                    <a:pt x="1096" y="977"/>
                    <a:pt x="1024" y="1049"/>
                    <a:pt x="1024" y="1120"/>
                  </a:cubicBezTo>
                  <a:lnTo>
                    <a:pt x="1024" y="1597"/>
                  </a:lnTo>
                  <a:lnTo>
                    <a:pt x="786" y="1597"/>
                  </a:lnTo>
                  <a:lnTo>
                    <a:pt x="786" y="763"/>
                  </a:lnTo>
                  <a:cubicBezTo>
                    <a:pt x="786" y="668"/>
                    <a:pt x="739" y="596"/>
                    <a:pt x="643" y="596"/>
                  </a:cubicBezTo>
                  <a:cubicBezTo>
                    <a:pt x="572" y="596"/>
                    <a:pt x="500" y="668"/>
                    <a:pt x="500" y="763"/>
                  </a:cubicBezTo>
                  <a:lnTo>
                    <a:pt x="500" y="1597"/>
                  </a:lnTo>
                  <a:lnTo>
                    <a:pt x="286" y="1597"/>
                  </a:lnTo>
                  <a:lnTo>
                    <a:pt x="286" y="144"/>
                  </a:lnTo>
                  <a:cubicBezTo>
                    <a:pt x="286" y="72"/>
                    <a:pt x="215" y="1"/>
                    <a:pt x="143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8" name="Google Shape;2813;p94">
              <a:extLst>
                <a:ext uri="{FF2B5EF4-FFF2-40B4-BE49-F238E27FC236}">
                  <a16:creationId xmlns:a16="http://schemas.microsoft.com/office/drawing/2014/main" xmlns="" id="{FC69A224-7204-4F13-827A-8F6CFF13CA93}"/>
                </a:ext>
              </a:extLst>
            </p:cNvPr>
            <p:cNvSpPr/>
            <p:nvPr/>
          </p:nvSpPr>
          <p:spPr>
            <a:xfrm>
              <a:off x="4789296" y="2294680"/>
              <a:ext cx="168267" cy="172069"/>
            </a:xfrm>
            <a:custGeom>
              <a:avLst/>
              <a:gdLst/>
              <a:ahLst/>
              <a:cxnLst/>
              <a:rect l="l" t="t" r="r" b="b"/>
              <a:pathLst>
                <a:path w="5002" h="5002" extrusionOk="0">
                  <a:moveTo>
                    <a:pt x="2501" y="1215"/>
                  </a:moveTo>
                  <a:cubicBezTo>
                    <a:pt x="3216" y="1215"/>
                    <a:pt x="3811" y="1787"/>
                    <a:pt x="3811" y="2501"/>
                  </a:cubicBezTo>
                  <a:cubicBezTo>
                    <a:pt x="3811" y="3240"/>
                    <a:pt x="3216" y="3811"/>
                    <a:pt x="2501" y="3811"/>
                  </a:cubicBezTo>
                  <a:cubicBezTo>
                    <a:pt x="1787" y="3811"/>
                    <a:pt x="1215" y="3216"/>
                    <a:pt x="1215" y="2501"/>
                  </a:cubicBezTo>
                  <a:cubicBezTo>
                    <a:pt x="1215" y="1787"/>
                    <a:pt x="1787" y="1215"/>
                    <a:pt x="2501" y="1215"/>
                  </a:cubicBezTo>
                  <a:close/>
                  <a:moveTo>
                    <a:pt x="4692" y="2668"/>
                  </a:moveTo>
                  <a:cubicBezTo>
                    <a:pt x="4668" y="3121"/>
                    <a:pt x="4502" y="3549"/>
                    <a:pt x="4216" y="3883"/>
                  </a:cubicBezTo>
                  <a:lnTo>
                    <a:pt x="3787" y="3454"/>
                  </a:lnTo>
                  <a:cubicBezTo>
                    <a:pt x="3954" y="3216"/>
                    <a:pt x="4073" y="2954"/>
                    <a:pt x="4097" y="2668"/>
                  </a:cubicBezTo>
                  <a:close/>
                  <a:moveTo>
                    <a:pt x="2358" y="311"/>
                  </a:moveTo>
                  <a:lnTo>
                    <a:pt x="2358" y="930"/>
                  </a:lnTo>
                  <a:cubicBezTo>
                    <a:pt x="1549" y="1001"/>
                    <a:pt x="906" y="1692"/>
                    <a:pt x="906" y="2501"/>
                  </a:cubicBezTo>
                  <a:cubicBezTo>
                    <a:pt x="906" y="3383"/>
                    <a:pt x="1620" y="4097"/>
                    <a:pt x="2501" y="4097"/>
                  </a:cubicBezTo>
                  <a:cubicBezTo>
                    <a:pt x="2930" y="4097"/>
                    <a:pt x="3311" y="3954"/>
                    <a:pt x="3597" y="3668"/>
                  </a:cubicBezTo>
                  <a:cubicBezTo>
                    <a:pt x="3740" y="3811"/>
                    <a:pt x="3883" y="3954"/>
                    <a:pt x="4025" y="4097"/>
                  </a:cubicBezTo>
                  <a:cubicBezTo>
                    <a:pt x="3644" y="4478"/>
                    <a:pt x="3097" y="4716"/>
                    <a:pt x="2501" y="4716"/>
                  </a:cubicBezTo>
                  <a:cubicBezTo>
                    <a:pt x="1287" y="4716"/>
                    <a:pt x="310" y="3716"/>
                    <a:pt x="310" y="2501"/>
                  </a:cubicBezTo>
                  <a:cubicBezTo>
                    <a:pt x="310" y="1335"/>
                    <a:pt x="1215" y="382"/>
                    <a:pt x="2358" y="311"/>
                  </a:cubicBezTo>
                  <a:close/>
                  <a:moveTo>
                    <a:pt x="2501" y="1"/>
                  </a:moveTo>
                  <a:cubicBezTo>
                    <a:pt x="1120" y="1"/>
                    <a:pt x="1" y="1144"/>
                    <a:pt x="1" y="2501"/>
                  </a:cubicBezTo>
                  <a:cubicBezTo>
                    <a:pt x="1" y="3883"/>
                    <a:pt x="1120" y="5002"/>
                    <a:pt x="2501" y="5002"/>
                  </a:cubicBezTo>
                  <a:cubicBezTo>
                    <a:pt x="3883" y="5002"/>
                    <a:pt x="5002" y="3883"/>
                    <a:pt x="5002" y="2501"/>
                  </a:cubicBezTo>
                  <a:cubicBezTo>
                    <a:pt x="5002" y="1978"/>
                    <a:pt x="4835" y="1477"/>
                    <a:pt x="4526" y="1049"/>
                  </a:cubicBezTo>
                  <a:cubicBezTo>
                    <a:pt x="4499" y="1009"/>
                    <a:pt x="4459" y="992"/>
                    <a:pt x="4415" y="992"/>
                  </a:cubicBezTo>
                  <a:cubicBezTo>
                    <a:pt x="4380" y="992"/>
                    <a:pt x="4343" y="1004"/>
                    <a:pt x="4311" y="1025"/>
                  </a:cubicBezTo>
                  <a:cubicBezTo>
                    <a:pt x="4264" y="1073"/>
                    <a:pt x="4240" y="1144"/>
                    <a:pt x="4287" y="1215"/>
                  </a:cubicBezTo>
                  <a:cubicBezTo>
                    <a:pt x="4526" y="1549"/>
                    <a:pt x="4668" y="1954"/>
                    <a:pt x="4692" y="2359"/>
                  </a:cubicBezTo>
                  <a:lnTo>
                    <a:pt x="4097" y="2359"/>
                  </a:lnTo>
                  <a:cubicBezTo>
                    <a:pt x="4025" y="1597"/>
                    <a:pt x="3406" y="1001"/>
                    <a:pt x="2644" y="930"/>
                  </a:cubicBezTo>
                  <a:lnTo>
                    <a:pt x="2644" y="311"/>
                  </a:lnTo>
                  <a:cubicBezTo>
                    <a:pt x="3097" y="334"/>
                    <a:pt x="3501" y="501"/>
                    <a:pt x="3859" y="787"/>
                  </a:cubicBezTo>
                  <a:cubicBezTo>
                    <a:pt x="3886" y="805"/>
                    <a:pt x="3917" y="813"/>
                    <a:pt x="3947" y="813"/>
                  </a:cubicBezTo>
                  <a:cubicBezTo>
                    <a:pt x="3996" y="813"/>
                    <a:pt x="4044" y="792"/>
                    <a:pt x="4073" y="763"/>
                  </a:cubicBezTo>
                  <a:cubicBezTo>
                    <a:pt x="4121" y="692"/>
                    <a:pt x="4121" y="596"/>
                    <a:pt x="4049" y="549"/>
                  </a:cubicBezTo>
                  <a:cubicBezTo>
                    <a:pt x="3597" y="191"/>
                    <a:pt x="3073" y="1"/>
                    <a:pt x="2501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49" name="Google Shape;2814;p94">
              <a:extLst>
                <a:ext uri="{FF2B5EF4-FFF2-40B4-BE49-F238E27FC236}">
                  <a16:creationId xmlns:a16="http://schemas.microsoft.com/office/drawing/2014/main" xmlns="" id="{CC942708-1EED-4719-A7AB-15E25B610BA4}"/>
                </a:ext>
              </a:extLst>
            </p:cNvPr>
            <p:cNvSpPr/>
            <p:nvPr/>
          </p:nvSpPr>
          <p:spPr>
            <a:xfrm>
              <a:off x="4794107" y="2453402"/>
              <a:ext cx="24086" cy="17475"/>
            </a:xfrm>
            <a:custGeom>
              <a:avLst/>
              <a:gdLst/>
              <a:ahLst/>
              <a:cxnLst/>
              <a:rect l="l" t="t" r="r" b="b"/>
              <a:pathLst>
                <a:path w="716" h="508" extrusionOk="0">
                  <a:moveTo>
                    <a:pt x="167" y="1"/>
                  </a:moveTo>
                  <a:cubicBezTo>
                    <a:pt x="132" y="1"/>
                    <a:pt x="96" y="19"/>
                    <a:pt x="72" y="55"/>
                  </a:cubicBezTo>
                  <a:cubicBezTo>
                    <a:pt x="1" y="102"/>
                    <a:pt x="1" y="197"/>
                    <a:pt x="72" y="245"/>
                  </a:cubicBezTo>
                  <a:lnTo>
                    <a:pt x="263" y="459"/>
                  </a:lnTo>
                  <a:cubicBezTo>
                    <a:pt x="286" y="483"/>
                    <a:pt x="334" y="507"/>
                    <a:pt x="358" y="507"/>
                  </a:cubicBezTo>
                  <a:cubicBezTo>
                    <a:pt x="405" y="507"/>
                    <a:pt x="429" y="483"/>
                    <a:pt x="477" y="459"/>
                  </a:cubicBezTo>
                  <a:lnTo>
                    <a:pt x="667" y="245"/>
                  </a:lnTo>
                  <a:cubicBezTo>
                    <a:pt x="715" y="197"/>
                    <a:pt x="715" y="102"/>
                    <a:pt x="667" y="55"/>
                  </a:cubicBezTo>
                  <a:cubicBezTo>
                    <a:pt x="632" y="19"/>
                    <a:pt x="590" y="1"/>
                    <a:pt x="551" y="1"/>
                  </a:cubicBezTo>
                  <a:cubicBezTo>
                    <a:pt x="513" y="1"/>
                    <a:pt x="477" y="19"/>
                    <a:pt x="453" y="55"/>
                  </a:cubicBezTo>
                  <a:lnTo>
                    <a:pt x="358" y="150"/>
                  </a:lnTo>
                  <a:lnTo>
                    <a:pt x="263" y="55"/>
                  </a:lnTo>
                  <a:cubicBezTo>
                    <a:pt x="239" y="19"/>
                    <a:pt x="203" y="1"/>
                    <a:pt x="167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0" name="Google Shape;2815;p94">
              <a:extLst>
                <a:ext uri="{FF2B5EF4-FFF2-40B4-BE49-F238E27FC236}">
                  <a16:creationId xmlns:a16="http://schemas.microsoft.com/office/drawing/2014/main" xmlns="" id="{75757593-004B-4B1D-8138-0CAB416ECD5D}"/>
                </a:ext>
              </a:extLst>
            </p:cNvPr>
            <p:cNvSpPr/>
            <p:nvPr/>
          </p:nvSpPr>
          <p:spPr>
            <a:xfrm>
              <a:off x="4883051" y="2382744"/>
              <a:ext cx="24053" cy="16856"/>
            </a:xfrm>
            <a:custGeom>
              <a:avLst/>
              <a:gdLst/>
              <a:ahLst/>
              <a:cxnLst/>
              <a:rect l="l" t="t" r="r" b="b"/>
              <a:pathLst>
                <a:path w="715" h="490" extrusionOk="0">
                  <a:moveTo>
                    <a:pt x="164" y="1"/>
                  </a:moveTo>
                  <a:cubicBezTo>
                    <a:pt x="125" y="1"/>
                    <a:pt x="83" y="13"/>
                    <a:pt x="48" y="37"/>
                  </a:cubicBezTo>
                  <a:cubicBezTo>
                    <a:pt x="0" y="84"/>
                    <a:pt x="0" y="180"/>
                    <a:pt x="48" y="251"/>
                  </a:cubicBezTo>
                  <a:lnTo>
                    <a:pt x="238" y="442"/>
                  </a:lnTo>
                  <a:cubicBezTo>
                    <a:pt x="286" y="465"/>
                    <a:pt x="310" y="489"/>
                    <a:pt x="357" y="489"/>
                  </a:cubicBezTo>
                  <a:cubicBezTo>
                    <a:pt x="381" y="489"/>
                    <a:pt x="429" y="465"/>
                    <a:pt x="453" y="442"/>
                  </a:cubicBezTo>
                  <a:lnTo>
                    <a:pt x="667" y="251"/>
                  </a:lnTo>
                  <a:cubicBezTo>
                    <a:pt x="714" y="180"/>
                    <a:pt x="714" y="84"/>
                    <a:pt x="667" y="37"/>
                  </a:cubicBezTo>
                  <a:cubicBezTo>
                    <a:pt x="631" y="13"/>
                    <a:pt x="589" y="1"/>
                    <a:pt x="551" y="1"/>
                  </a:cubicBezTo>
                  <a:cubicBezTo>
                    <a:pt x="512" y="1"/>
                    <a:pt x="476" y="13"/>
                    <a:pt x="453" y="37"/>
                  </a:cubicBezTo>
                  <a:lnTo>
                    <a:pt x="357" y="132"/>
                  </a:lnTo>
                  <a:lnTo>
                    <a:pt x="262" y="37"/>
                  </a:lnTo>
                  <a:cubicBezTo>
                    <a:pt x="238" y="13"/>
                    <a:pt x="202" y="1"/>
                    <a:pt x="164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  <p:sp>
          <p:nvSpPr>
            <p:cNvPr id="51" name="Google Shape;2816;p94">
              <a:extLst>
                <a:ext uri="{FF2B5EF4-FFF2-40B4-BE49-F238E27FC236}">
                  <a16:creationId xmlns:a16="http://schemas.microsoft.com/office/drawing/2014/main" xmlns="" id="{E064EA9E-2DFD-4EA3-B711-1609C3E46F7B}"/>
                </a:ext>
              </a:extLst>
            </p:cNvPr>
            <p:cNvSpPr/>
            <p:nvPr/>
          </p:nvSpPr>
          <p:spPr>
            <a:xfrm>
              <a:off x="4935899" y="2304106"/>
              <a:ext cx="24086" cy="16856"/>
            </a:xfrm>
            <a:custGeom>
              <a:avLst/>
              <a:gdLst/>
              <a:ahLst/>
              <a:cxnLst/>
              <a:rect l="l" t="t" r="r" b="b"/>
              <a:pathLst>
                <a:path w="716" h="490" extrusionOk="0">
                  <a:moveTo>
                    <a:pt x="168" y="1"/>
                  </a:moveTo>
                  <a:cubicBezTo>
                    <a:pt x="132" y="1"/>
                    <a:pt x="96" y="13"/>
                    <a:pt x="72" y="37"/>
                  </a:cubicBezTo>
                  <a:cubicBezTo>
                    <a:pt x="1" y="84"/>
                    <a:pt x="1" y="179"/>
                    <a:pt x="72" y="251"/>
                  </a:cubicBezTo>
                  <a:lnTo>
                    <a:pt x="263" y="441"/>
                  </a:lnTo>
                  <a:cubicBezTo>
                    <a:pt x="287" y="465"/>
                    <a:pt x="310" y="489"/>
                    <a:pt x="358" y="489"/>
                  </a:cubicBezTo>
                  <a:cubicBezTo>
                    <a:pt x="406" y="489"/>
                    <a:pt x="429" y="465"/>
                    <a:pt x="453" y="441"/>
                  </a:cubicBezTo>
                  <a:lnTo>
                    <a:pt x="668" y="251"/>
                  </a:lnTo>
                  <a:cubicBezTo>
                    <a:pt x="715" y="179"/>
                    <a:pt x="715" y="84"/>
                    <a:pt x="668" y="37"/>
                  </a:cubicBezTo>
                  <a:cubicBezTo>
                    <a:pt x="632" y="13"/>
                    <a:pt x="590" y="1"/>
                    <a:pt x="552" y="1"/>
                  </a:cubicBezTo>
                  <a:cubicBezTo>
                    <a:pt x="513" y="1"/>
                    <a:pt x="477" y="13"/>
                    <a:pt x="453" y="37"/>
                  </a:cubicBezTo>
                  <a:lnTo>
                    <a:pt x="358" y="132"/>
                  </a:lnTo>
                  <a:lnTo>
                    <a:pt x="263" y="37"/>
                  </a:lnTo>
                  <a:cubicBezTo>
                    <a:pt x="239" y="13"/>
                    <a:pt x="203" y="1"/>
                    <a:pt x="168" y="1"/>
                  </a:cubicBezTo>
                  <a:close/>
                </a:path>
              </a:pathLst>
            </a:custGeom>
            <a:solidFill>
              <a:srgbClr val="14141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sz="2400"/>
            </a:p>
          </p:txBody>
        </p:sp>
      </p:grpSp>
      <p:sp>
        <p:nvSpPr>
          <p:cNvPr id="52" name="TextBox 51"/>
          <p:cNvSpPr txBox="1"/>
          <p:nvPr/>
        </p:nvSpPr>
        <p:spPr>
          <a:xfrm>
            <a:off x="1463040" y="3968496"/>
            <a:ext cx="3931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600" b="1">
                <a:solidFill>
                  <a:srgbClr val="141414"/>
                </a:solidFill>
                <a:latin typeface="Montserrat"/>
              </a:rPr>
              <a:t>План готов к утру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532120" y="3968496"/>
            <a:ext cx="6217920" cy="93268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450" b="0">
                <a:solidFill>
                  <a:srgbClr val="141414"/>
                </a:solidFill>
                <a:latin typeface="Montserrat"/>
              </a:rPr>
              <a:t>Утренний план считается заранее, регионы параллельно, и лежит в репозитории: стенд берёт его без поиска, событие днём — за 5 секунд. Стенд — одна машина: 2 vCPU, 4 ГБ.</a:t>
            </a:r>
          </a:p>
        </p:txBody>
      </p:sp>
      <p:cxnSp>
        <p:nvCxnSpPr>
          <p:cNvPr id="54" name="Connector 53"/>
          <p:cNvCxnSpPr/>
          <p:nvPr/>
        </p:nvCxnSpPr>
        <p:spPr>
          <a:xfrm>
            <a:off x="457200" y="4901183"/>
            <a:ext cx="11292840" cy="0"/>
          </a:xfrm>
          <a:prstGeom prst="line">
            <a:avLst/>
          </a:prstGeom>
          <a:ln w="12700">
            <a:solidFill>
              <a:srgbClr val="141414"/>
            </a:solidFill>
          </a:ln>
        </p:spPr>
        <p:style>
          <a:lnRef idx="2">
            <a:srgbClr val="141414"/>
          </a:lnRef>
          <a:fillRef idx="0">
            <a:srgbClr val="141414"/>
          </a:fillRef>
          <a:effectRef idx="1">
            <a:srgbClr val="141414"/>
          </a:effectRef>
          <a:fontRef idx="minor">
            <a:srgbClr val="141414"/>
          </a:fontRef>
        </p:style>
      </p:cxnSp>
      <p:sp>
        <p:nvSpPr>
          <p:cNvPr id="55" name="Формула"/>
          <p:cNvSpPr/>
          <p:nvPr/>
        </p:nvSpPr>
        <p:spPr>
          <a:xfrm>
            <a:off x="457200" y="5084064"/>
            <a:ext cx="11292840" cy="1179575"/>
          </a:xfrm>
          <a:prstGeom prst="roundRect">
            <a:avLst>
              <a:gd name="adj" fmla="val 12000"/>
            </a:avLst>
          </a:prstGeom>
          <a:solidFill>
            <a:srgbClr val="141414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56" name="Picture 5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685800" y="539038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463040" y="5248656"/>
            <a:ext cx="10058400" cy="566928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2400" b="1">
                <a:solidFill>
                  <a:srgbClr val="FFFFFF"/>
                </a:solidFill>
                <a:latin typeface="Montserrat"/>
              </a:rPr>
              <a:t>Экономия в день = </a:t>
            </a:r>
            <a:r>
              <a:rPr sz="3000" b="1">
                <a:solidFill>
                  <a:srgbClr val="FFC800"/>
                </a:solidFill>
                <a:latin typeface="Montserrat"/>
              </a:rPr>
              <a:t>11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смена бригады + </a:t>
            </a:r>
            <a:r>
              <a:rPr sz="3000" b="1">
                <a:solidFill>
                  <a:srgbClr val="FFC800"/>
                </a:solidFill>
                <a:latin typeface="Montserrat"/>
              </a:rPr>
              <a:t>81</a:t>
            </a:r>
            <a:r>
              <a:rPr sz="2400" b="1">
                <a:solidFill>
                  <a:srgbClr val="FFFFFF"/>
                </a:solidFill>
                <a:latin typeface="Montserrat"/>
              </a:rPr>
              <a:t> × км пробега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463040" y="5861304"/>
            <a:ext cx="10058400" cy="36576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FFFFFF"/>
                </a:solidFill>
                <a:latin typeface="Montserrat"/>
              </a:rPr>
              <a:t>Ставки и настоящие смены бригад даст Билайн на пилоте. Если каждый день как 17.08: ≈4 тыс. смен и ≈30 тыс. км в год на трёх регионах.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4141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2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FFFFFF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17</a:t>
            </a:fld>
            <a:endParaRPr lang="ru-RU" dirty="0"/>
          </a:p>
        </p:txBody>
      </p:sp>
      <p:sp>
        <p:nvSpPr>
          <p:cNvPr id="3" name="Карточка pill"/>
          <p:cNvSpPr/>
          <p:nvPr/>
        </p:nvSpPr>
        <p:spPr>
          <a:xfrm>
            <a:off x="347472" y="320040"/>
            <a:ext cx="317931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ДОРОЖНАЯ КАРТА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801110" y="393192"/>
            <a:ext cx="2926080" cy="50292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300" b="0">
                <a:solidFill>
                  <a:srgbClr val="FFFFFF"/>
                </a:solidFill>
                <a:latin typeface="Montserrat"/>
              </a:rPr>
              <a:t>Путь к промышленной версии</a:t>
            </a:r>
          </a:p>
        </p:txBody>
      </p:sp>
      <p:grpSp>
        <p:nvGrpSpPr>
          <p:cNvPr id="5" name="Google Shape;1509;p43">
            <a:extLst>
              <a:ext uri="{FF2B5EF4-FFF2-40B4-BE49-F238E27FC236}">
                <a16:creationId xmlns:a16="http://schemas.microsoft.com/office/drawing/2014/main" xmlns="" id="{6AD20828-2DC9-DF88-57BD-DA77E58AE56E}"/>
              </a:ext>
            </a:extLst>
          </p:cNvPr>
          <p:cNvGrpSpPr/>
          <p:nvPr/>
        </p:nvGrpSpPr>
        <p:grpSpPr>
          <a:xfrm flipH="1">
            <a:off x="4617720" y="1097280"/>
            <a:ext cx="2926080" cy="5257800"/>
            <a:chOff x="3088670" y="1930338"/>
            <a:chExt cx="380983" cy="684491"/>
          </a:xfrm>
          <a:solidFill>
            <a:srgbClr val="FFC800">
              <a:alpha val="0"/>
            </a:srgbClr>
          </a:solidFill>
        </p:grpSpPr>
        <p:sp>
          <p:nvSpPr>
            <p:cNvPr id="6" name="Google Shape;1510;p43">
              <a:extLst>
                <a:ext uri="{FF2B5EF4-FFF2-40B4-BE49-F238E27FC236}">
                  <a16:creationId xmlns:a16="http://schemas.microsoft.com/office/drawing/2014/main" xmlns="" id="{69265BB5-4D45-FA77-3EF2-6AFCABD0A5F9}"/>
                </a:ext>
              </a:extLst>
            </p:cNvPr>
            <p:cNvSpPr/>
            <p:nvPr/>
          </p:nvSpPr>
          <p:spPr>
            <a:xfrm>
              <a:off x="3200035" y="1938750"/>
              <a:ext cx="159427" cy="667667"/>
            </a:xfrm>
            <a:custGeom>
              <a:avLst/>
              <a:gdLst/>
              <a:ahLst/>
              <a:cxnLst/>
              <a:rect l="l" t="t" r="r" b="b"/>
              <a:pathLst>
                <a:path w="21750" h="91118" extrusionOk="0">
                  <a:moveTo>
                    <a:pt x="13027" y="0"/>
                  </a:moveTo>
                  <a:lnTo>
                    <a:pt x="13027" y="884"/>
                  </a:lnTo>
                  <a:cubicBezTo>
                    <a:pt x="13027" y="2077"/>
                    <a:pt x="12063" y="3042"/>
                    <a:pt x="10869" y="3042"/>
                  </a:cubicBezTo>
                  <a:lnTo>
                    <a:pt x="8000" y="3042"/>
                  </a:lnTo>
                  <a:cubicBezTo>
                    <a:pt x="3570" y="3042"/>
                    <a:pt x="0" y="6680"/>
                    <a:pt x="81" y="11110"/>
                  </a:cubicBezTo>
                  <a:cubicBezTo>
                    <a:pt x="150" y="15414"/>
                    <a:pt x="3753" y="18915"/>
                    <a:pt x="8126" y="18915"/>
                  </a:cubicBezTo>
                  <a:lnTo>
                    <a:pt x="13750" y="18915"/>
                  </a:lnTo>
                  <a:cubicBezTo>
                    <a:pt x="17377" y="18915"/>
                    <a:pt x="20315" y="21887"/>
                    <a:pt x="20246" y="25525"/>
                  </a:cubicBezTo>
                  <a:cubicBezTo>
                    <a:pt x="20189" y="29049"/>
                    <a:pt x="17216" y="31918"/>
                    <a:pt x="13635" y="31918"/>
                  </a:cubicBezTo>
                  <a:lnTo>
                    <a:pt x="8000" y="31918"/>
                  </a:lnTo>
                  <a:cubicBezTo>
                    <a:pt x="3570" y="31918"/>
                    <a:pt x="0" y="35557"/>
                    <a:pt x="81" y="39987"/>
                  </a:cubicBezTo>
                  <a:cubicBezTo>
                    <a:pt x="150" y="44291"/>
                    <a:pt x="3753" y="47791"/>
                    <a:pt x="8126" y="47791"/>
                  </a:cubicBezTo>
                  <a:lnTo>
                    <a:pt x="13750" y="47791"/>
                  </a:lnTo>
                  <a:cubicBezTo>
                    <a:pt x="17377" y="47791"/>
                    <a:pt x="20315" y="50775"/>
                    <a:pt x="20246" y="54402"/>
                  </a:cubicBezTo>
                  <a:cubicBezTo>
                    <a:pt x="20189" y="57926"/>
                    <a:pt x="17216" y="60795"/>
                    <a:pt x="13635" y="60795"/>
                  </a:cubicBezTo>
                  <a:lnTo>
                    <a:pt x="8000" y="60795"/>
                  </a:lnTo>
                  <a:cubicBezTo>
                    <a:pt x="3570" y="60795"/>
                    <a:pt x="0" y="64433"/>
                    <a:pt x="81" y="68875"/>
                  </a:cubicBezTo>
                  <a:cubicBezTo>
                    <a:pt x="150" y="73179"/>
                    <a:pt x="3753" y="76668"/>
                    <a:pt x="8126" y="76668"/>
                  </a:cubicBezTo>
                  <a:lnTo>
                    <a:pt x="13750" y="76668"/>
                  </a:lnTo>
                  <a:cubicBezTo>
                    <a:pt x="17377" y="76668"/>
                    <a:pt x="20315" y="79652"/>
                    <a:pt x="20246" y="83290"/>
                  </a:cubicBezTo>
                  <a:cubicBezTo>
                    <a:pt x="20189" y="86814"/>
                    <a:pt x="17216" y="89683"/>
                    <a:pt x="13635" y="89683"/>
                  </a:cubicBezTo>
                  <a:lnTo>
                    <a:pt x="8574" y="89683"/>
                  </a:lnTo>
                  <a:lnTo>
                    <a:pt x="8574" y="91118"/>
                  </a:lnTo>
                  <a:lnTo>
                    <a:pt x="13624" y="91118"/>
                  </a:lnTo>
                  <a:cubicBezTo>
                    <a:pt x="17997" y="91118"/>
                    <a:pt x="21601" y="87606"/>
                    <a:pt x="21681" y="83313"/>
                  </a:cubicBezTo>
                  <a:cubicBezTo>
                    <a:pt x="21750" y="78872"/>
                    <a:pt x="18180" y="75233"/>
                    <a:pt x="13739" y="75233"/>
                  </a:cubicBezTo>
                  <a:lnTo>
                    <a:pt x="8126" y="75233"/>
                  </a:lnTo>
                  <a:cubicBezTo>
                    <a:pt x="4534" y="75233"/>
                    <a:pt x="1561" y="72364"/>
                    <a:pt x="1504" y="68852"/>
                  </a:cubicBezTo>
                  <a:cubicBezTo>
                    <a:pt x="1435" y="65214"/>
                    <a:pt x="4373" y="62230"/>
                    <a:pt x="8000" y="62230"/>
                  </a:cubicBezTo>
                  <a:lnTo>
                    <a:pt x="13624" y="62230"/>
                  </a:lnTo>
                  <a:cubicBezTo>
                    <a:pt x="17997" y="62230"/>
                    <a:pt x="21601" y="58729"/>
                    <a:pt x="21681" y="54425"/>
                  </a:cubicBezTo>
                  <a:cubicBezTo>
                    <a:pt x="21750" y="49995"/>
                    <a:pt x="18180" y="46357"/>
                    <a:pt x="13739" y="46357"/>
                  </a:cubicBezTo>
                  <a:lnTo>
                    <a:pt x="8126" y="46357"/>
                  </a:lnTo>
                  <a:cubicBezTo>
                    <a:pt x="4534" y="46357"/>
                    <a:pt x="1561" y="43487"/>
                    <a:pt x="1504" y="39964"/>
                  </a:cubicBezTo>
                  <a:cubicBezTo>
                    <a:pt x="1435" y="36337"/>
                    <a:pt x="4373" y="33353"/>
                    <a:pt x="8000" y="33353"/>
                  </a:cubicBezTo>
                  <a:lnTo>
                    <a:pt x="13624" y="33353"/>
                  </a:lnTo>
                  <a:cubicBezTo>
                    <a:pt x="17997" y="33353"/>
                    <a:pt x="21601" y="29852"/>
                    <a:pt x="21681" y="25548"/>
                  </a:cubicBezTo>
                  <a:cubicBezTo>
                    <a:pt x="21750" y="21118"/>
                    <a:pt x="18180" y="17480"/>
                    <a:pt x="13739" y="17480"/>
                  </a:cubicBezTo>
                  <a:lnTo>
                    <a:pt x="8126" y="17480"/>
                  </a:lnTo>
                  <a:cubicBezTo>
                    <a:pt x="4534" y="17480"/>
                    <a:pt x="1561" y="14611"/>
                    <a:pt x="1504" y="11087"/>
                  </a:cubicBezTo>
                  <a:cubicBezTo>
                    <a:pt x="1435" y="7449"/>
                    <a:pt x="4373" y="4476"/>
                    <a:pt x="8000" y="4476"/>
                  </a:cubicBezTo>
                  <a:lnTo>
                    <a:pt x="10869" y="4476"/>
                  </a:lnTo>
                  <a:cubicBezTo>
                    <a:pt x="12855" y="4476"/>
                    <a:pt x="14462" y="2869"/>
                    <a:pt x="14462" y="884"/>
                  </a:cubicBezTo>
                  <a:lnTo>
                    <a:pt x="1446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7" name="Google Shape;1511;p43">
              <a:extLst>
                <a:ext uri="{FF2B5EF4-FFF2-40B4-BE49-F238E27FC236}">
                  <a16:creationId xmlns:a16="http://schemas.microsoft.com/office/drawing/2014/main" xmlns="" id="{B82ECF61-D8B3-B62B-83A2-BA74BB260F91}"/>
                </a:ext>
              </a:extLst>
            </p:cNvPr>
            <p:cNvSpPr/>
            <p:nvPr/>
          </p:nvSpPr>
          <p:spPr>
            <a:xfrm>
              <a:off x="3191453" y="1930338"/>
              <a:ext cx="176506" cy="684491"/>
            </a:xfrm>
            <a:custGeom>
              <a:avLst/>
              <a:gdLst/>
              <a:ahLst/>
              <a:cxnLst/>
              <a:rect l="l" t="t" r="r" b="b"/>
              <a:pathLst>
                <a:path w="24080" h="93414" extrusionOk="0">
                  <a:moveTo>
                    <a:pt x="16207" y="574"/>
                  </a:moveTo>
                  <a:lnTo>
                    <a:pt x="16207" y="2032"/>
                  </a:lnTo>
                  <a:cubicBezTo>
                    <a:pt x="16207" y="4327"/>
                    <a:pt x="14336" y="6198"/>
                    <a:pt x="12040" y="6198"/>
                  </a:cubicBezTo>
                  <a:lnTo>
                    <a:pt x="9171" y="6198"/>
                  </a:lnTo>
                  <a:cubicBezTo>
                    <a:pt x="5866" y="6198"/>
                    <a:pt x="3191" y="8907"/>
                    <a:pt x="3249" y="12224"/>
                  </a:cubicBezTo>
                  <a:cubicBezTo>
                    <a:pt x="3295" y="15437"/>
                    <a:pt x="6015" y="18043"/>
                    <a:pt x="9297" y="18043"/>
                  </a:cubicBezTo>
                  <a:lnTo>
                    <a:pt x="14910" y="18043"/>
                  </a:lnTo>
                  <a:cubicBezTo>
                    <a:pt x="19673" y="18043"/>
                    <a:pt x="23506" y="21945"/>
                    <a:pt x="23426" y="26708"/>
                  </a:cubicBezTo>
                  <a:cubicBezTo>
                    <a:pt x="23345" y="31322"/>
                    <a:pt x="19478" y="35075"/>
                    <a:pt x="14795" y="35075"/>
                  </a:cubicBezTo>
                  <a:lnTo>
                    <a:pt x="9171" y="35075"/>
                  </a:lnTo>
                  <a:cubicBezTo>
                    <a:pt x="5866" y="35075"/>
                    <a:pt x="3191" y="37783"/>
                    <a:pt x="3249" y="41100"/>
                  </a:cubicBezTo>
                  <a:cubicBezTo>
                    <a:pt x="3295" y="44314"/>
                    <a:pt x="6015" y="46919"/>
                    <a:pt x="9297" y="46919"/>
                  </a:cubicBezTo>
                  <a:lnTo>
                    <a:pt x="14910" y="46919"/>
                  </a:lnTo>
                  <a:cubicBezTo>
                    <a:pt x="19673" y="46919"/>
                    <a:pt x="23506" y="50822"/>
                    <a:pt x="23426" y="55573"/>
                  </a:cubicBezTo>
                  <a:cubicBezTo>
                    <a:pt x="23345" y="60187"/>
                    <a:pt x="19478" y="63940"/>
                    <a:pt x="14795" y="63940"/>
                  </a:cubicBezTo>
                  <a:lnTo>
                    <a:pt x="9171" y="63940"/>
                  </a:lnTo>
                  <a:cubicBezTo>
                    <a:pt x="5866" y="63940"/>
                    <a:pt x="3191" y="66660"/>
                    <a:pt x="3249" y="69966"/>
                  </a:cubicBezTo>
                  <a:cubicBezTo>
                    <a:pt x="3295" y="73179"/>
                    <a:pt x="6015" y="75796"/>
                    <a:pt x="9297" y="75796"/>
                  </a:cubicBezTo>
                  <a:lnTo>
                    <a:pt x="14910" y="75796"/>
                  </a:lnTo>
                  <a:cubicBezTo>
                    <a:pt x="19673" y="75796"/>
                    <a:pt x="23506" y="79698"/>
                    <a:pt x="23426" y="84450"/>
                  </a:cubicBezTo>
                  <a:cubicBezTo>
                    <a:pt x="23345" y="89075"/>
                    <a:pt x="19478" y="92840"/>
                    <a:pt x="14795" y="92840"/>
                  </a:cubicBezTo>
                  <a:lnTo>
                    <a:pt x="9171" y="92840"/>
                  </a:lnTo>
                  <a:lnTo>
                    <a:pt x="9171" y="90257"/>
                  </a:lnTo>
                  <a:lnTo>
                    <a:pt x="14795" y="90257"/>
                  </a:lnTo>
                  <a:cubicBezTo>
                    <a:pt x="18077" y="90257"/>
                    <a:pt x="20786" y="87640"/>
                    <a:pt x="20843" y="84427"/>
                  </a:cubicBezTo>
                  <a:cubicBezTo>
                    <a:pt x="20889" y="81110"/>
                    <a:pt x="18227" y="78401"/>
                    <a:pt x="14910" y="78401"/>
                  </a:cubicBezTo>
                  <a:lnTo>
                    <a:pt x="9297" y="78401"/>
                  </a:lnTo>
                  <a:cubicBezTo>
                    <a:pt x="4614" y="78401"/>
                    <a:pt x="747" y="74648"/>
                    <a:pt x="666" y="70034"/>
                  </a:cubicBezTo>
                  <a:cubicBezTo>
                    <a:pt x="586" y="65271"/>
                    <a:pt x="4419" y="61381"/>
                    <a:pt x="9171" y="61381"/>
                  </a:cubicBezTo>
                  <a:lnTo>
                    <a:pt x="14795" y="61381"/>
                  </a:lnTo>
                  <a:cubicBezTo>
                    <a:pt x="18077" y="61381"/>
                    <a:pt x="20786" y="58764"/>
                    <a:pt x="20843" y="55550"/>
                  </a:cubicBezTo>
                  <a:cubicBezTo>
                    <a:pt x="20889" y="52233"/>
                    <a:pt x="18227" y="49525"/>
                    <a:pt x="14910" y="49525"/>
                  </a:cubicBezTo>
                  <a:lnTo>
                    <a:pt x="9297" y="49525"/>
                  </a:lnTo>
                  <a:cubicBezTo>
                    <a:pt x="4614" y="49525"/>
                    <a:pt x="747" y="45772"/>
                    <a:pt x="666" y="41158"/>
                  </a:cubicBezTo>
                  <a:cubicBezTo>
                    <a:pt x="586" y="36395"/>
                    <a:pt x="4419" y="32504"/>
                    <a:pt x="9171" y="32504"/>
                  </a:cubicBezTo>
                  <a:lnTo>
                    <a:pt x="14795" y="32504"/>
                  </a:lnTo>
                  <a:cubicBezTo>
                    <a:pt x="18077" y="32504"/>
                    <a:pt x="20786" y="29887"/>
                    <a:pt x="20843" y="26673"/>
                  </a:cubicBezTo>
                  <a:cubicBezTo>
                    <a:pt x="20889" y="23357"/>
                    <a:pt x="18227" y="20648"/>
                    <a:pt x="14910" y="20648"/>
                  </a:cubicBezTo>
                  <a:lnTo>
                    <a:pt x="9297" y="20648"/>
                  </a:lnTo>
                  <a:cubicBezTo>
                    <a:pt x="4614" y="20648"/>
                    <a:pt x="747" y="16895"/>
                    <a:pt x="666" y="12281"/>
                  </a:cubicBezTo>
                  <a:cubicBezTo>
                    <a:pt x="586" y="7529"/>
                    <a:pt x="4419" y="3627"/>
                    <a:pt x="9171" y="3627"/>
                  </a:cubicBezTo>
                  <a:lnTo>
                    <a:pt x="12040" y="3627"/>
                  </a:lnTo>
                  <a:cubicBezTo>
                    <a:pt x="12913" y="3627"/>
                    <a:pt x="13624" y="2916"/>
                    <a:pt x="13624" y="2043"/>
                  </a:cubicBezTo>
                  <a:lnTo>
                    <a:pt x="13624" y="574"/>
                  </a:lnTo>
                  <a:close/>
                  <a:moveTo>
                    <a:pt x="13050" y="0"/>
                  </a:moveTo>
                  <a:lnTo>
                    <a:pt x="13050" y="2032"/>
                  </a:lnTo>
                  <a:cubicBezTo>
                    <a:pt x="13050" y="2594"/>
                    <a:pt x="12603" y="3042"/>
                    <a:pt x="12040" y="3042"/>
                  </a:cubicBezTo>
                  <a:lnTo>
                    <a:pt x="9171" y="3042"/>
                  </a:lnTo>
                  <a:cubicBezTo>
                    <a:pt x="4098" y="3042"/>
                    <a:pt x="12" y="7208"/>
                    <a:pt x="104" y="12281"/>
                  </a:cubicBezTo>
                  <a:cubicBezTo>
                    <a:pt x="184" y="17205"/>
                    <a:pt x="4305" y="21210"/>
                    <a:pt x="9297" y="21210"/>
                  </a:cubicBezTo>
                  <a:lnTo>
                    <a:pt x="14921" y="21210"/>
                  </a:lnTo>
                  <a:cubicBezTo>
                    <a:pt x="17917" y="21210"/>
                    <a:pt x="20327" y="23666"/>
                    <a:pt x="20270" y="26662"/>
                  </a:cubicBezTo>
                  <a:cubicBezTo>
                    <a:pt x="20224" y="29566"/>
                    <a:pt x="17767" y="31919"/>
                    <a:pt x="14806" y="31919"/>
                  </a:cubicBezTo>
                  <a:lnTo>
                    <a:pt x="9171" y="31919"/>
                  </a:lnTo>
                  <a:cubicBezTo>
                    <a:pt x="4098" y="31930"/>
                    <a:pt x="12" y="36085"/>
                    <a:pt x="104" y="41158"/>
                  </a:cubicBezTo>
                  <a:cubicBezTo>
                    <a:pt x="184" y="46081"/>
                    <a:pt x="4305" y="50087"/>
                    <a:pt x="9297" y="50087"/>
                  </a:cubicBezTo>
                  <a:lnTo>
                    <a:pt x="14921" y="50087"/>
                  </a:lnTo>
                  <a:cubicBezTo>
                    <a:pt x="17917" y="50087"/>
                    <a:pt x="20327" y="52543"/>
                    <a:pt x="20270" y="55539"/>
                  </a:cubicBezTo>
                  <a:cubicBezTo>
                    <a:pt x="20224" y="58442"/>
                    <a:pt x="17767" y="60807"/>
                    <a:pt x="14806" y="60807"/>
                  </a:cubicBezTo>
                  <a:lnTo>
                    <a:pt x="9171" y="60807"/>
                  </a:lnTo>
                  <a:cubicBezTo>
                    <a:pt x="4098" y="60807"/>
                    <a:pt x="1" y="64961"/>
                    <a:pt x="92" y="70046"/>
                  </a:cubicBezTo>
                  <a:cubicBezTo>
                    <a:pt x="173" y="74970"/>
                    <a:pt x="4305" y="78975"/>
                    <a:pt x="9297" y="78975"/>
                  </a:cubicBezTo>
                  <a:lnTo>
                    <a:pt x="14910" y="78975"/>
                  </a:lnTo>
                  <a:cubicBezTo>
                    <a:pt x="17905" y="78975"/>
                    <a:pt x="20315" y="81431"/>
                    <a:pt x="20270" y="84427"/>
                  </a:cubicBezTo>
                  <a:cubicBezTo>
                    <a:pt x="20224" y="87331"/>
                    <a:pt x="17767" y="89683"/>
                    <a:pt x="14795" y="89683"/>
                  </a:cubicBezTo>
                  <a:lnTo>
                    <a:pt x="8597" y="89683"/>
                  </a:lnTo>
                  <a:lnTo>
                    <a:pt x="8597" y="93414"/>
                  </a:lnTo>
                  <a:lnTo>
                    <a:pt x="14795" y="93414"/>
                  </a:lnTo>
                  <a:cubicBezTo>
                    <a:pt x="19787" y="93414"/>
                    <a:pt x="23919" y="89408"/>
                    <a:pt x="24000" y="84484"/>
                  </a:cubicBezTo>
                  <a:cubicBezTo>
                    <a:pt x="24080" y="79411"/>
                    <a:pt x="19994" y="75245"/>
                    <a:pt x="14910" y="75245"/>
                  </a:cubicBezTo>
                  <a:lnTo>
                    <a:pt x="14910" y="75234"/>
                  </a:lnTo>
                  <a:lnTo>
                    <a:pt x="9297" y="75234"/>
                  </a:lnTo>
                  <a:cubicBezTo>
                    <a:pt x="6325" y="75234"/>
                    <a:pt x="3868" y="72881"/>
                    <a:pt x="3823" y="69977"/>
                  </a:cubicBezTo>
                  <a:cubicBezTo>
                    <a:pt x="3765" y="66981"/>
                    <a:pt x="6175" y="64525"/>
                    <a:pt x="9171" y="64525"/>
                  </a:cubicBezTo>
                  <a:lnTo>
                    <a:pt x="14795" y="64525"/>
                  </a:lnTo>
                  <a:cubicBezTo>
                    <a:pt x="19787" y="64525"/>
                    <a:pt x="23919" y="60520"/>
                    <a:pt x="24000" y="55596"/>
                  </a:cubicBezTo>
                  <a:cubicBezTo>
                    <a:pt x="24080" y="50512"/>
                    <a:pt x="19994" y="46357"/>
                    <a:pt x="14910" y="46357"/>
                  </a:cubicBezTo>
                  <a:lnTo>
                    <a:pt x="9297" y="46357"/>
                  </a:lnTo>
                  <a:cubicBezTo>
                    <a:pt x="6325" y="46357"/>
                    <a:pt x="3868" y="43993"/>
                    <a:pt x="3823" y="41089"/>
                  </a:cubicBezTo>
                  <a:cubicBezTo>
                    <a:pt x="3765" y="38093"/>
                    <a:pt x="6175" y="35637"/>
                    <a:pt x="9171" y="35637"/>
                  </a:cubicBezTo>
                  <a:lnTo>
                    <a:pt x="14795" y="35637"/>
                  </a:lnTo>
                  <a:cubicBezTo>
                    <a:pt x="19787" y="35637"/>
                    <a:pt x="23919" y="31632"/>
                    <a:pt x="24000" y="26708"/>
                  </a:cubicBezTo>
                  <a:cubicBezTo>
                    <a:pt x="24080" y="21635"/>
                    <a:pt x="19994" y="17469"/>
                    <a:pt x="14910" y="17469"/>
                  </a:cubicBezTo>
                  <a:lnTo>
                    <a:pt x="9297" y="17469"/>
                  </a:lnTo>
                  <a:cubicBezTo>
                    <a:pt x="6325" y="17469"/>
                    <a:pt x="3868" y="15104"/>
                    <a:pt x="3823" y="12212"/>
                  </a:cubicBezTo>
                  <a:cubicBezTo>
                    <a:pt x="3765" y="9217"/>
                    <a:pt x="6175" y="6760"/>
                    <a:pt x="9171" y="6760"/>
                  </a:cubicBezTo>
                  <a:lnTo>
                    <a:pt x="12040" y="6760"/>
                  </a:lnTo>
                  <a:cubicBezTo>
                    <a:pt x="14657" y="6760"/>
                    <a:pt x="16780" y="4637"/>
                    <a:pt x="16780" y="2020"/>
                  </a:cubicBezTo>
                  <a:lnTo>
                    <a:pt x="16780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8" name="Google Shape;1512;p43">
              <a:extLst>
                <a:ext uri="{FF2B5EF4-FFF2-40B4-BE49-F238E27FC236}">
                  <a16:creationId xmlns:a16="http://schemas.microsoft.com/office/drawing/2014/main" xmlns="" id="{FEE0F710-36C7-B271-F04F-0435CF30EE0E}"/>
                </a:ext>
              </a:extLst>
            </p:cNvPr>
            <p:cNvSpPr/>
            <p:nvPr/>
          </p:nvSpPr>
          <p:spPr>
            <a:xfrm>
              <a:off x="3195740" y="1934544"/>
              <a:ext cx="168018" cy="675999"/>
            </a:xfrm>
            <a:custGeom>
              <a:avLst/>
              <a:gdLst/>
              <a:ahLst/>
              <a:cxnLst/>
              <a:rect l="l" t="t" r="r" b="b"/>
              <a:pathLst>
                <a:path w="22922" h="92255" extrusionOk="0">
                  <a:moveTo>
                    <a:pt x="15048" y="574"/>
                  </a:moveTo>
                  <a:lnTo>
                    <a:pt x="15048" y="1458"/>
                  </a:lnTo>
                  <a:cubicBezTo>
                    <a:pt x="15048" y="3443"/>
                    <a:pt x="13441" y="5050"/>
                    <a:pt x="11455" y="5050"/>
                  </a:cubicBezTo>
                  <a:lnTo>
                    <a:pt x="8586" y="5050"/>
                  </a:lnTo>
                  <a:cubicBezTo>
                    <a:pt x="4948" y="5050"/>
                    <a:pt x="2021" y="8034"/>
                    <a:pt x="2090" y="11673"/>
                  </a:cubicBezTo>
                  <a:cubicBezTo>
                    <a:pt x="2147" y="15196"/>
                    <a:pt x="5120" y="18054"/>
                    <a:pt x="8712" y="18054"/>
                  </a:cubicBezTo>
                  <a:lnTo>
                    <a:pt x="14325" y="18054"/>
                  </a:lnTo>
                  <a:cubicBezTo>
                    <a:pt x="18766" y="18054"/>
                    <a:pt x="22336" y="21692"/>
                    <a:pt x="22267" y="26134"/>
                  </a:cubicBezTo>
                  <a:cubicBezTo>
                    <a:pt x="22187" y="30438"/>
                    <a:pt x="18583" y="33927"/>
                    <a:pt x="14210" y="33927"/>
                  </a:cubicBezTo>
                  <a:lnTo>
                    <a:pt x="8586" y="33927"/>
                  </a:lnTo>
                  <a:cubicBezTo>
                    <a:pt x="4959" y="33938"/>
                    <a:pt x="2021" y="36911"/>
                    <a:pt x="2090" y="40549"/>
                  </a:cubicBezTo>
                  <a:cubicBezTo>
                    <a:pt x="2147" y="44073"/>
                    <a:pt x="5120" y="46942"/>
                    <a:pt x="8712" y="46942"/>
                  </a:cubicBezTo>
                  <a:lnTo>
                    <a:pt x="14325" y="46942"/>
                  </a:lnTo>
                  <a:cubicBezTo>
                    <a:pt x="18766" y="46942"/>
                    <a:pt x="22336" y="50569"/>
                    <a:pt x="22267" y="55011"/>
                  </a:cubicBezTo>
                  <a:cubicBezTo>
                    <a:pt x="22187" y="59315"/>
                    <a:pt x="18571" y="62815"/>
                    <a:pt x="14210" y="62815"/>
                  </a:cubicBezTo>
                  <a:lnTo>
                    <a:pt x="8586" y="62815"/>
                  </a:lnTo>
                  <a:cubicBezTo>
                    <a:pt x="4959" y="62815"/>
                    <a:pt x="2021" y="65788"/>
                    <a:pt x="2090" y="69426"/>
                  </a:cubicBezTo>
                  <a:cubicBezTo>
                    <a:pt x="2147" y="72950"/>
                    <a:pt x="5120" y="75819"/>
                    <a:pt x="8712" y="75819"/>
                  </a:cubicBezTo>
                  <a:lnTo>
                    <a:pt x="14325" y="75819"/>
                  </a:lnTo>
                  <a:cubicBezTo>
                    <a:pt x="18766" y="75819"/>
                    <a:pt x="22336" y="79457"/>
                    <a:pt x="22267" y="83887"/>
                  </a:cubicBezTo>
                  <a:cubicBezTo>
                    <a:pt x="22187" y="88180"/>
                    <a:pt x="18583" y="91692"/>
                    <a:pt x="14210" y="91692"/>
                  </a:cubicBezTo>
                  <a:lnTo>
                    <a:pt x="9160" y="91692"/>
                  </a:lnTo>
                  <a:lnTo>
                    <a:pt x="9160" y="90257"/>
                  </a:lnTo>
                  <a:lnTo>
                    <a:pt x="14210" y="90257"/>
                  </a:lnTo>
                  <a:cubicBezTo>
                    <a:pt x="17791" y="90257"/>
                    <a:pt x="20775" y="87388"/>
                    <a:pt x="20832" y="83864"/>
                  </a:cubicBezTo>
                  <a:cubicBezTo>
                    <a:pt x="20890" y="80226"/>
                    <a:pt x="17963" y="77242"/>
                    <a:pt x="14325" y="77242"/>
                  </a:cubicBezTo>
                  <a:lnTo>
                    <a:pt x="8712" y="77242"/>
                  </a:lnTo>
                  <a:cubicBezTo>
                    <a:pt x="4339" y="77242"/>
                    <a:pt x="724" y="73741"/>
                    <a:pt x="655" y="69449"/>
                  </a:cubicBezTo>
                  <a:cubicBezTo>
                    <a:pt x="575" y="65007"/>
                    <a:pt x="4156" y="61369"/>
                    <a:pt x="8586" y="61369"/>
                  </a:cubicBezTo>
                  <a:lnTo>
                    <a:pt x="14210" y="61369"/>
                  </a:lnTo>
                  <a:cubicBezTo>
                    <a:pt x="17791" y="61369"/>
                    <a:pt x="20775" y="58500"/>
                    <a:pt x="20832" y="54976"/>
                  </a:cubicBezTo>
                  <a:cubicBezTo>
                    <a:pt x="20890" y="51349"/>
                    <a:pt x="17963" y="48365"/>
                    <a:pt x="14325" y="48365"/>
                  </a:cubicBezTo>
                  <a:lnTo>
                    <a:pt x="8712" y="48365"/>
                  </a:lnTo>
                  <a:cubicBezTo>
                    <a:pt x="4339" y="48365"/>
                    <a:pt x="724" y="44865"/>
                    <a:pt x="655" y="40561"/>
                  </a:cubicBezTo>
                  <a:cubicBezTo>
                    <a:pt x="575" y="36131"/>
                    <a:pt x="4156" y="32492"/>
                    <a:pt x="8586" y="32492"/>
                  </a:cubicBezTo>
                  <a:lnTo>
                    <a:pt x="14210" y="32492"/>
                  </a:lnTo>
                  <a:cubicBezTo>
                    <a:pt x="17791" y="32492"/>
                    <a:pt x="20775" y="29623"/>
                    <a:pt x="20832" y="26099"/>
                  </a:cubicBezTo>
                  <a:cubicBezTo>
                    <a:pt x="20890" y="22461"/>
                    <a:pt x="17963" y="19489"/>
                    <a:pt x="14325" y="19489"/>
                  </a:cubicBezTo>
                  <a:lnTo>
                    <a:pt x="8712" y="19489"/>
                  </a:lnTo>
                  <a:cubicBezTo>
                    <a:pt x="4339" y="19489"/>
                    <a:pt x="724" y="15988"/>
                    <a:pt x="655" y="11684"/>
                  </a:cubicBezTo>
                  <a:cubicBezTo>
                    <a:pt x="575" y="7254"/>
                    <a:pt x="4156" y="3616"/>
                    <a:pt x="8586" y="3616"/>
                  </a:cubicBezTo>
                  <a:lnTo>
                    <a:pt x="11455" y="3616"/>
                  </a:lnTo>
                  <a:cubicBezTo>
                    <a:pt x="12649" y="3616"/>
                    <a:pt x="13613" y="2651"/>
                    <a:pt x="13613" y="1458"/>
                  </a:cubicBezTo>
                  <a:lnTo>
                    <a:pt x="13613" y="574"/>
                  </a:lnTo>
                  <a:close/>
                  <a:moveTo>
                    <a:pt x="13039" y="0"/>
                  </a:moveTo>
                  <a:lnTo>
                    <a:pt x="13039" y="1458"/>
                  </a:lnTo>
                  <a:cubicBezTo>
                    <a:pt x="13039" y="2330"/>
                    <a:pt x="12328" y="3042"/>
                    <a:pt x="11455" y="3042"/>
                  </a:cubicBezTo>
                  <a:lnTo>
                    <a:pt x="8586" y="3042"/>
                  </a:lnTo>
                  <a:cubicBezTo>
                    <a:pt x="3834" y="3042"/>
                    <a:pt x="1" y="6944"/>
                    <a:pt x="93" y="11696"/>
                  </a:cubicBezTo>
                  <a:cubicBezTo>
                    <a:pt x="162" y="16309"/>
                    <a:pt x="4029" y="20062"/>
                    <a:pt x="8712" y="20062"/>
                  </a:cubicBezTo>
                  <a:lnTo>
                    <a:pt x="14336" y="20062"/>
                  </a:lnTo>
                  <a:cubicBezTo>
                    <a:pt x="17642" y="20062"/>
                    <a:pt x="20316" y="22771"/>
                    <a:pt x="20258" y="26088"/>
                  </a:cubicBezTo>
                  <a:cubicBezTo>
                    <a:pt x="20212" y="29302"/>
                    <a:pt x="17492" y="31907"/>
                    <a:pt x="14221" y="31907"/>
                  </a:cubicBezTo>
                  <a:lnTo>
                    <a:pt x="8586" y="31907"/>
                  </a:lnTo>
                  <a:cubicBezTo>
                    <a:pt x="3834" y="31918"/>
                    <a:pt x="1" y="35821"/>
                    <a:pt x="93" y="40572"/>
                  </a:cubicBezTo>
                  <a:cubicBezTo>
                    <a:pt x="162" y="45186"/>
                    <a:pt x="4029" y="48939"/>
                    <a:pt x="8712" y="48939"/>
                  </a:cubicBezTo>
                  <a:lnTo>
                    <a:pt x="14336" y="48939"/>
                  </a:lnTo>
                  <a:cubicBezTo>
                    <a:pt x="17642" y="48939"/>
                    <a:pt x="20316" y="51659"/>
                    <a:pt x="20258" y="54965"/>
                  </a:cubicBezTo>
                  <a:cubicBezTo>
                    <a:pt x="20212" y="58178"/>
                    <a:pt x="17492" y="60795"/>
                    <a:pt x="14221" y="60795"/>
                  </a:cubicBezTo>
                  <a:lnTo>
                    <a:pt x="8586" y="60795"/>
                  </a:lnTo>
                  <a:cubicBezTo>
                    <a:pt x="3834" y="60795"/>
                    <a:pt x="1" y="64697"/>
                    <a:pt x="93" y="69449"/>
                  </a:cubicBezTo>
                  <a:cubicBezTo>
                    <a:pt x="162" y="74063"/>
                    <a:pt x="4029" y="77816"/>
                    <a:pt x="8712" y="77816"/>
                  </a:cubicBezTo>
                  <a:lnTo>
                    <a:pt x="14336" y="77816"/>
                  </a:lnTo>
                  <a:cubicBezTo>
                    <a:pt x="17642" y="77816"/>
                    <a:pt x="20316" y="80536"/>
                    <a:pt x="20258" y="83841"/>
                  </a:cubicBezTo>
                  <a:cubicBezTo>
                    <a:pt x="20212" y="87055"/>
                    <a:pt x="17492" y="89672"/>
                    <a:pt x="14221" y="89672"/>
                  </a:cubicBezTo>
                  <a:lnTo>
                    <a:pt x="8586" y="89672"/>
                  </a:lnTo>
                  <a:lnTo>
                    <a:pt x="8586" y="92254"/>
                  </a:lnTo>
                  <a:lnTo>
                    <a:pt x="14210" y="92254"/>
                  </a:lnTo>
                  <a:cubicBezTo>
                    <a:pt x="18893" y="92254"/>
                    <a:pt x="22760" y="88501"/>
                    <a:pt x="22841" y="83887"/>
                  </a:cubicBezTo>
                  <a:cubicBezTo>
                    <a:pt x="22921" y="79136"/>
                    <a:pt x="19088" y="75233"/>
                    <a:pt x="14325" y="75233"/>
                  </a:cubicBezTo>
                  <a:lnTo>
                    <a:pt x="8712" y="75233"/>
                  </a:lnTo>
                  <a:cubicBezTo>
                    <a:pt x="5430" y="75233"/>
                    <a:pt x="2721" y="72628"/>
                    <a:pt x="2664" y="69415"/>
                  </a:cubicBezTo>
                  <a:cubicBezTo>
                    <a:pt x="2606" y="66098"/>
                    <a:pt x="5281" y="63389"/>
                    <a:pt x="8586" y="63389"/>
                  </a:cubicBezTo>
                  <a:lnTo>
                    <a:pt x="14210" y="63389"/>
                  </a:lnTo>
                  <a:cubicBezTo>
                    <a:pt x="18893" y="63389"/>
                    <a:pt x="22760" y="59636"/>
                    <a:pt x="22841" y="55022"/>
                  </a:cubicBezTo>
                  <a:cubicBezTo>
                    <a:pt x="22921" y="50266"/>
                    <a:pt x="19099" y="46368"/>
                    <a:pt x="14346" y="46368"/>
                  </a:cubicBezTo>
                  <a:cubicBezTo>
                    <a:pt x="14339" y="46368"/>
                    <a:pt x="14332" y="46368"/>
                    <a:pt x="14325" y="46368"/>
                  </a:cubicBezTo>
                  <a:lnTo>
                    <a:pt x="8712" y="46368"/>
                  </a:lnTo>
                  <a:cubicBezTo>
                    <a:pt x="5430" y="46368"/>
                    <a:pt x="2721" y="43751"/>
                    <a:pt x="2664" y="40538"/>
                  </a:cubicBezTo>
                  <a:cubicBezTo>
                    <a:pt x="2606" y="37221"/>
                    <a:pt x="5281" y="34512"/>
                    <a:pt x="8586" y="34512"/>
                  </a:cubicBezTo>
                  <a:lnTo>
                    <a:pt x="14210" y="34512"/>
                  </a:lnTo>
                  <a:cubicBezTo>
                    <a:pt x="18893" y="34512"/>
                    <a:pt x="22760" y="30759"/>
                    <a:pt x="22841" y="26145"/>
                  </a:cubicBezTo>
                  <a:cubicBezTo>
                    <a:pt x="22921" y="21382"/>
                    <a:pt x="19088" y="17492"/>
                    <a:pt x="14325" y="17492"/>
                  </a:cubicBezTo>
                  <a:lnTo>
                    <a:pt x="8712" y="17492"/>
                  </a:lnTo>
                  <a:cubicBezTo>
                    <a:pt x="5430" y="17492"/>
                    <a:pt x="2721" y="14875"/>
                    <a:pt x="2664" y="11661"/>
                  </a:cubicBezTo>
                  <a:cubicBezTo>
                    <a:pt x="2606" y="8344"/>
                    <a:pt x="5281" y="5636"/>
                    <a:pt x="8586" y="5636"/>
                  </a:cubicBezTo>
                  <a:lnTo>
                    <a:pt x="11455" y="5636"/>
                  </a:lnTo>
                  <a:cubicBezTo>
                    <a:pt x="13751" y="5636"/>
                    <a:pt x="15622" y="3776"/>
                    <a:pt x="15622" y="1481"/>
                  </a:cubicBezTo>
                  <a:lnTo>
                    <a:pt x="15622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9" name="Google Shape;1513;p43">
              <a:extLst>
                <a:ext uri="{FF2B5EF4-FFF2-40B4-BE49-F238E27FC236}">
                  <a16:creationId xmlns:a16="http://schemas.microsoft.com/office/drawing/2014/main" xmlns="" id="{AB13CC26-F210-FAB1-31A0-112C2F46DDDF}"/>
                </a:ext>
              </a:extLst>
            </p:cNvPr>
            <p:cNvSpPr/>
            <p:nvPr/>
          </p:nvSpPr>
          <p:spPr>
            <a:xfrm>
              <a:off x="3216795" y="2193083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0"/>
                  </a:moveTo>
                  <a:cubicBezTo>
                    <a:pt x="4125" y="0"/>
                    <a:pt x="2125" y="1195"/>
                    <a:pt x="1306" y="3338"/>
                  </a:cubicBezTo>
                  <a:cubicBezTo>
                    <a:pt x="1" y="6752"/>
                    <a:pt x="2545" y="10371"/>
                    <a:pt x="6134" y="10371"/>
                  </a:cubicBezTo>
                  <a:cubicBezTo>
                    <a:pt x="6238" y="10371"/>
                    <a:pt x="6342" y="10368"/>
                    <a:pt x="6448" y="10362"/>
                  </a:cubicBezTo>
                  <a:lnTo>
                    <a:pt x="3716" y="7631"/>
                  </a:lnTo>
                  <a:lnTo>
                    <a:pt x="3693" y="7608"/>
                  </a:lnTo>
                  <a:cubicBezTo>
                    <a:pt x="2396" y="6242"/>
                    <a:pt x="2419" y="4096"/>
                    <a:pt x="3762" y="2764"/>
                  </a:cubicBezTo>
                  <a:cubicBezTo>
                    <a:pt x="4430" y="2101"/>
                    <a:pt x="5307" y="1769"/>
                    <a:pt x="6185" y="1769"/>
                  </a:cubicBezTo>
                  <a:cubicBezTo>
                    <a:pt x="7055" y="1769"/>
                    <a:pt x="7925" y="2096"/>
                    <a:pt x="8594" y="2753"/>
                  </a:cubicBezTo>
                  <a:lnTo>
                    <a:pt x="11325" y="5484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0"/>
                  </a:lnTo>
                  <a:lnTo>
                    <a:pt x="11325" y="4830"/>
                  </a:lnTo>
                  <a:cubicBezTo>
                    <a:pt x="11245" y="3579"/>
                    <a:pt x="10706" y="2408"/>
                    <a:pt x="9822" y="1525"/>
                  </a:cubicBezTo>
                  <a:cubicBezTo>
                    <a:pt x="8784" y="487"/>
                    <a:pt x="7466" y="0"/>
                    <a:pt x="6164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0" name="Google Shape;1514;p43">
              <a:extLst>
                <a:ext uri="{FF2B5EF4-FFF2-40B4-BE49-F238E27FC236}">
                  <a16:creationId xmlns:a16="http://schemas.microsoft.com/office/drawing/2014/main" xmlns="" id="{3521F83B-00EE-CFA3-2F73-3E6ADF2D9C05}"/>
                </a:ext>
              </a:extLst>
            </p:cNvPr>
            <p:cNvSpPr/>
            <p:nvPr/>
          </p:nvSpPr>
          <p:spPr>
            <a:xfrm>
              <a:off x="3316610" y="2217792"/>
              <a:ext cx="150177" cy="26672"/>
            </a:xfrm>
            <a:custGeom>
              <a:avLst/>
              <a:gdLst/>
              <a:ahLst/>
              <a:cxnLst/>
              <a:rect l="l" t="t" r="r" b="b"/>
              <a:pathLst>
                <a:path w="20488" h="3640" extrusionOk="0">
                  <a:moveTo>
                    <a:pt x="18650" y="0"/>
                  </a:moveTo>
                  <a:cubicBezTo>
                    <a:pt x="18643" y="0"/>
                    <a:pt x="18636" y="0"/>
                    <a:pt x="18628" y="1"/>
                  </a:cubicBezTo>
                  <a:cubicBezTo>
                    <a:pt x="18043" y="1"/>
                    <a:pt x="17481" y="287"/>
                    <a:pt x="17148" y="781"/>
                  </a:cubicBezTo>
                  <a:cubicBezTo>
                    <a:pt x="16861" y="1194"/>
                    <a:pt x="16390" y="1447"/>
                    <a:pt x="15885" y="1458"/>
                  </a:cubicBezTo>
                  <a:lnTo>
                    <a:pt x="1" y="1458"/>
                  </a:lnTo>
                  <a:lnTo>
                    <a:pt x="1" y="2170"/>
                  </a:lnTo>
                  <a:lnTo>
                    <a:pt x="15885" y="2170"/>
                  </a:lnTo>
                  <a:cubicBezTo>
                    <a:pt x="16379" y="2170"/>
                    <a:pt x="16849" y="2422"/>
                    <a:pt x="17125" y="2835"/>
                  </a:cubicBezTo>
                  <a:cubicBezTo>
                    <a:pt x="17463" y="3342"/>
                    <a:pt x="18044" y="3639"/>
                    <a:pt x="18651" y="3639"/>
                  </a:cubicBezTo>
                  <a:cubicBezTo>
                    <a:pt x="18663" y="3639"/>
                    <a:pt x="18674" y="3639"/>
                    <a:pt x="18686" y="3639"/>
                  </a:cubicBezTo>
                  <a:cubicBezTo>
                    <a:pt x="19684" y="3616"/>
                    <a:pt x="20488" y="2790"/>
                    <a:pt x="20476" y="1791"/>
                  </a:cubicBezTo>
                  <a:cubicBezTo>
                    <a:pt x="20465" y="788"/>
                    <a:pt x="19650" y="0"/>
                    <a:pt x="1865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1" name="Google Shape;1515;p43">
              <a:extLst>
                <a:ext uri="{FF2B5EF4-FFF2-40B4-BE49-F238E27FC236}">
                  <a16:creationId xmlns:a16="http://schemas.microsoft.com/office/drawing/2014/main" xmlns="" id="{666AED2A-8FBD-6243-8E73-3C4565608E95}"/>
                </a:ext>
              </a:extLst>
            </p:cNvPr>
            <p:cNvSpPr/>
            <p:nvPr/>
          </p:nvSpPr>
          <p:spPr>
            <a:xfrm>
              <a:off x="3244021" y="2213249"/>
              <a:ext cx="55869" cy="55770"/>
            </a:xfrm>
            <a:custGeom>
              <a:avLst/>
              <a:gdLst/>
              <a:ahLst/>
              <a:cxnLst/>
              <a:rect l="l" t="t" r="r" b="b"/>
              <a:pathLst>
                <a:path w="7622" h="7611" extrusionOk="0">
                  <a:moveTo>
                    <a:pt x="4879" y="1"/>
                  </a:moveTo>
                  <a:lnTo>
                    <a:pt x="5093" y="214"/>
                  </a:lnTo>
                  <a:lnTo>
                    <a:pt x="5093" y="214"/>
                  </a:lnTo>
                  <a:cubicBezTo>
                    <a:pt x="5025" y="140"/>
                    <a:pt x="4954" y="69"/>
                    <a:pt x="4879" y="1"/>
                  </a:cubicBezTo>
                  <a:close/>
                  <a:moveTo>
                    <a:pt x="1" y="4879"/>
                  </a:moveTo>
                  <a:lnTo>
                    <a:pt x="1" y="4879"/>
                  </a:lnTo>
                  <a:cubicBezTo>
                    <a:pt x="64" y="4947"/>
                    <a:pt x="130" y="5012"/>
                    <a:pt x="197" y="5074"/>
                  </a:cubicBezTo>
                  <a:lnTo>
                    <a:pt x="197" y="5074"/>
                  </a:lnTo>
                  <a:lnTo>
                    <a:pt x="1" y="4879"/>
                  </a:lnTo>
                  <a:close/>
                  <a:moveTo>
                    <a:pt x="5093" y="214"/>
                  </a:moveTo>
                  <a:lnTo>
                    <a:pt x="5093" y="214"/>
                  </a:lnTo>
                  <a:cubicBezTo>
                    <a:pt x="6325" y="1553"/>
                    <a:pt x="6288" y="3654"/>
                    <a:pt x="4982" y="4970"/>
                  </a:cubicBezTo>
                  <a:cubicBezTo>
                    <a:pt x="4305" y="5648"/>
                    <a:pt x="3420" y="5984"/>
                    <a:pt x="2536" y="5984"/>
                  </a:cubicBezTo>
                  <a:cubicBezTo>
                    <a:pt x="1695" y="5984"/>
                    <a:pt x="855" y="5679"/>
                    <a:pt x="197" y="5074"/>
                  </a:cubicBezTo>
                  <a:lnTo>
                    <a:pt x="197" y="5074"/>
                  </a:lnTo>
                  <a:lnTo>
                    <a:pt x="2744" y="7610"/>
                  </a:lnTo>
                  <a:cubicBezTo>
                    <a:pt x="5349" y="7461"/>
                    <a:pt x="7438" y="5395"/>
                    <a:pt x="7622" y="2790"/>
                  </a:cubicBezTo>
                  <a:lnTo>
                    <a:pt x="7622" y="2732"/>
                  </a:lnTo>
                  <a:lnTo>
                    <a:pt x="5093" y="21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2" name="Google Shape;1516;p43">
              <a:extLst>
                <a:ext uri="{FF2B5EF4-FFF2-40B4-BE49-F238E27FC236}">
                  <a16:creationId xmlns:a16="http://schemas.microsoft.com/office/drawing/2014/main" xmlns="" id="{66D91352-55E4-9FE6-C6E3-F850D153AB7A}"/>
                </a:ext>
              </a:extLst>
            </p:cNvPr>
            <p:cNvSpPr/>
            <p:nvPr/>
          </p:nvSpPr>
          <p:spPr>
            <a:xfrm>
              <a:off x="3234354" y="2206046"/>
              <a:ext cx="55276" cy="50369"/>
            </a:xfrm>
            <a:custGeom>
              <a:avLst/>
              <a:gdLst/>
              <a:ahLst/>
              <a:cxnLst/>
              <a:rect l="l" t="t" r="r" b="b"/>
              <a:pathLst>
                <a:path w="7541" h="6874" extrusionOk="0">
                  <a:moveTo>
                    <a:pt x="3795" y="1"/>
                  </a:moveTo>
                  <a:cubicBezTo>
                    <a:pt x="2915" y="1"/>
                    <a:pt x="2036" y="337"/>
                    <a:pt x="1366" y="1007"/>
                  </a:cubicBezTo>
                  <a:cubicBezTo>
                    <a:pt x="23" y="2327"/>
                    <a:pt x="0" y="4473"/>
                    <a:pt x="1297" y="5839"/>
                  </a:cubicBezTo>
                  <a:lnTo>
                    <a:pt x="1320" y="5862"/>
                  </a:lnTo>
                  <a:cubicBezTo>
                    <a:pt x="1990" y="6537"/>
                    <a:pt x="2871" y="6873"/>
                    <a:pt x="3753" y="6873"/>
                  </a:cubicBezTo>
                  <a:cubicBezTo>
                    <a:pt x="4639" y="6873"/>
                    <a:pt x="5525" y="6534"/>
                    <a:pt x="6198" y="5862"/>
                  </a:cubicBezTo>
                  <a:cubicBezTo>
                    <a:pt x="7541" y="4507"/>
                    <a:pt x="7541" y="2327"/>
                    <a:pt x="6198" y="984"/>
                  </a:cubicBezTo>
                  <a:cubicBezTo>
                    <a:pt x="5531" y="328"/>
                    <a:pt x="4663" y="1"/>
                    <a:pt x="3795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3" name="Google Shape;1517;p43">
              <a:extLst>
                <a:ext uri="{FF2B5EF4-FFF2-40B4-BE49-F238E27FC236}">
                  <a16:creationId xmlns:a16="http://schemas.microsoft.com/office/drawing/2014/main" xmlns="" id="{5AC70802-4373-914C-E4CB-98820ABC106F}"/>
                </a:ext>
              </a:extLst>
            </p:cNvPr>
            <p:cNvSpPr/>
            <p:nvPr/>
          </p:nvSpPr>
          <p:spPr>
            <a:xfrm>
              <a:off x="3216795" y="1980642"/>
              <a:ext cx="90423" cy="76001"/>
            </a:xfrm>
            <a:custGeom>
              <a:avLst/>
              <a:gdLst/>
              <a:ahLst/>
              <a:cxnLst/>
              <a:rect l="l" t="t" r="r" b="b"/>
              <a:pathLst>
                <a:path w="12336" h="10372" extrusionOk="0">
                  <a:moveTo>
                    <a:pt x="6164" y="1"/>
                  </a:moveTo>
                  <a:cubicBezTo>
                    <a:pt x="4125" y="1"/>
                    <a:pt x="2125" y="1195"/>
                    <a:pt x="1306" y="3339"/>
                  </a:cubicBezTo>
                  <a:cubicBezTo>
                    <a:pt x="1" y="6752"/>
                    <a:pt x="2545" y="10372"/>
                    <a:pt x="6134" y="10372"/>
                  </a:cubicBezTo>
                  <a:cubicBezTo>
                    <a:pt x="6238" y="10372"/>
                    <a:pt x="6342" y="10369"/>
                    <a:pt x="6448" y="10363"/>
                  </a:cubicBezTo>
                  <a:lnTo>
                    <a:pt x="3716" y="7631"/>
                  </a:lnTo>
                  <a:cubicBezTo>
                    <a:pt x="3716" y="7620"/>
                    <a:pt x="3693" y="7608"/>
                    <a:pt x="3693" y="7608"/>
                  </a:cubicBezTo>
                  <a:cubicBezTo>
                    <a:pt x="2362" y="6242"/>
                    <a:pt x="2385" y="4073"/>
                    <a:pt x="3727" y="2730"/>
                  </a:cubicBezTo>
                  <a:cubicBezTo>
                    <a:pt x="4403" y="2066"/>
                    <a:pt x="5282" y="1733"/>
                    <a:pt x="6159" y="1733"/>
                  </a:cubicBezTo>
                  <a:cubicBezTo>
                    <a:pt x="7041" y="1733"/>
                    <a:pt x="7921" y="2069"/>
                    <a:pt x="8594" y="2742"/>
                  </a:cubicBezTo>
                  <a:lnTo>
                    <a:pt x="11325" y="5485"/>
                  </a:lnTo>
                  <a:lnTo>
                    <a:pt x="11325" y="5542"/>
                  </a:lnTo>
                  <a:lnTo>
                    <a:pt x="12335" y="5542"/>
                  </a:lnTo>
                  <a:lnTo>
                    <a:pt x="12335" y="4831"/>
                  </a:lnTo>
                  <a:lnTo>
                    <a:pt x="11325" y="4831"/>
                  </a:lnTo>
                  <a:cubicBezTo>
                    <a:pt x="11245" y="3580"/>
                    <a:pt x="10706" y="2397"/>
                    <a:pt x="9822" y="1525"/>
                  </a:cubicBezTo>
                  <a:cubicBezTo>
                    <a:pt x="8784" y="488"/>
                    <a:pt x="7466" y="1"/>
                    <a:pt x="6164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4" name="Google Shape;1518;p43">
              <a:extLst>
                <a:ext uri="{FF2B5EF4-FFF2-40B4-BE49-F238E27FC236}">
                  <a16:creationId xmlns:a16="http://schemas.microsoft.com/office/drawing/2014/main" xmlns="" id="{7C54FE29-F223-A0D1-9AF0-D6159803DE3C}"/>
                </a:ext>
              </a:extLst>
            </p:cNvPr>
            <p:cNvSpPr/>
            <p:nvPr/>
          </p:nvSpPr>
          <p:spPr>
            <a:xfrm>
              <a:off x="3316610" y="2005358"/>
              <a:ext cx="153043" cy="26584"/>
            </a:xfrm>
            <a:custGeom>
              <a:avLst/>
              <a:gdLst/>
              <a:ahLst/>
              <a:cxnLst/>
              <a:rect l="l" t="t" r="r" b="b"/>
              <a:pathLst>
                <a:path w="20879" h="3628" extrusionOk="0">
                  <a:moveTo>
                    <a:pt x="18628" y="0"/>
                  </a:moveTo>
                  <a:cubicBezTo>
                    <a:pt x="18043" y="0"/>
                    <a:pt x="17481" y="287"/>
                    <a:pt x="17148" y="769"/>
                  </a:cubicBezTo>
                  <a:cubicBezTo>
                    <a:pt x="16861" y="1194"/>
                    <a:pt x="16390" y="1446"/>
                    <a:pt x="15885" y="1458"/>
                  </a:cubicBezTo>
                  <a:lnTo>
                    <a:pt x="1" y="1458"/>
                  </a:lnTo>
                  <a:lnTo>
                    <a:pt x="1" y="2169"/>
                  </a:lnTo>
                  <a:lnTo>
                    <a:pt x="15885" y="2169"/>
                  </a:lnTo>
                  <a:cubicBezTo>
                    <a:pt x="16379" y="2169"/>
                    <a:pt x="16849" y="2422"/>
                    <a:pt x="17125" y="2823"/>
                  </a:cubicBezTo>
                  <a:cubicBezTo>
                    <a:pt x="17490" y="3363"/>
                    <a:pt x="18064" y="3628"/>
                    <a:pt x="18635" y="3628"/>
                  </a:cubicBezTo>
                  <a:cubicBezTo>
                    <a:pt x="19268" y="3628"/>
                    <a:pt x="19897" y="3302"/>
                    <a:pt x="20235" y="2663"/>
                  </a:cubicBezTo>
                  <a:cubicBezTo>
                    <a:pt x="20878" y="1458"/>
                    <a:pt x="20006" y="0"/>
                    <a:pt x="18628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5" name="Google Shape;1519;p43">
              <a:extLst>
                <a:ext uri="{FF2B5EF4-FFF2-40B4-BE49-F238E27FC236}">
                  <a16:creationId xmlns:a16="http://schemas.microsoft.com/office/drawing/2014/main" xmlns="" id="{DF4C52A4-58E1-BE43-6334-FD978B1B2C39}"/>
                </a:ext>
              </a:extLst>
            </p:cNvPr>
            <p:cNvSpPr/>
            <p:nvPr/>
          </p:nvSpPr>
          <p:spPr>
            <a:xfrm>
              <a:off x="3244021" y="2000727"/>
              <a:ext cx="55869" cy="55850"/>
            </a:xfrm>
            <a:custGeom>
              <a:avLst/>
              <a:gdLst/>
              <a:ahLst/>
              <a:cxnLst/>
              <a:rect l="l" t="t" r="r" b="b"/>
              <a:pathLst>
                <a:path w="7622" h="7622" extrusionOk="0">
                  <a:moveTo>
                    <a:pt x="4879" y="1"/>
                  </a:moveTo>
                  <a:cubicBezTo>
                    <a:pt x="6141" y="1367"/>
                    <a:pt x="6095" y="3478"/>
                    <a:pt x="4787" y="4787"/>
                  </a:cubicBezTo>
                  <a:cubicBezTo>
                    <a:pt x="4115" y="5459"/>
                    <a:pt x="3232" y="5798"/>
                    <a:pt x="2346" y="5798"/>
                  </a:cubicBezTo>
                  <a:cubicBezTo>
                    <a:pt x="1507" y="5798"/>
                    <a:pt x="666" y="5493"/>
                    <a:pt x="1" y="4879"/>
                  </a:cubicBezTo>
                  <a:lnTo>
                    <a:pt x="1" y="4879"/>
                  </a:lnTo>
                  <a:lnTo>
                    <a:pt x="2744" y="7622"/>
                  </a:lnTo>
                  <a:cubicBezTo>
                    <a:pt x="5349" y="7472"/>
                    <a:pt x="7438" y="5407"/>
                    <a:pt x="7622" y="2801"/>
                  </a:cubicBezTo>
                  <a:lnTo>
                    <a:pt x="7622" y="2732"/>
                  </a:lnTo>
                  <a:lnTo>
                    <a:pt x="4879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6" name="Google Shape;1520;p43">
              <a:extLst>
                <a:ext uri="{FF2B5EF4-FFF2-40B4-BE49-F238E27FC236}">
                  <a16:creationId xmlns:a16="http://schemas.microsoft.com/office/drawing/2014/main" xmlns="" id="{111A1C22-E18A-CC76-C42A-ABEA1BB7DBE3}"/>
                </a:ext>
              </a:extLst>
            </p:cNvPr>
            <p:cNvSpPr/>
            <p:nvPr/>
          </p:nvSpPr>
          <p:spPr>
            <a:xfrm>
              <a:off x="3234098" y="1993392"/>
              <a:ext cx="55532" cy="50552"/>
            </a:xfrm>
            <a:custGeom>
              <a:avLst/>
              <a:gdLst/>
              <a:ahLst/>
              <a:cxnLst/>
              <a:rect l="l" t="t" r="r" b="b"/>
              <a:pathLst>
                <a:path w="7576" h="6899" extrusionOk="0">
                  <a:moveTo>
                    <a:pt x="3793" y="0"/>
                  </a:moveTo>
                  <a:cubicBezTo>
                    <a:pt x="2917" y="0"/>
                    <a:pt x="2041" y="333"/>
                    <a:pt x="1366" y="1002"/>
                  </a:cubicBezTo>
                  <a:cubicBezTo>
                    <a:pt x="24" y="2333"/>
                    <a:pt x="1" y="4514"/>
                    <a:pt x="1332" y="5868"/>
                  </a:cubicBezTo>
                  <a:cubicBezTo>
                    <a:pt x="1343" y="5880"/>
                    <a:pt x="1343" y="5880"/>
                    <a:pt x="1355" y="5891"/>
                  </a:cubicBezTo>
                  <a:cubicBezTo>
                    <a:pt x="2026" y="6563"/>
                    <a:pt x="2910" y="6898"/>
                    <a:pt x="3794" y="6898"/>
                  </a:cubicBezTo>
                  <a:cubicBezTo>
                    <a:pt x="4678" y="6898"/>
                    <a:pt x="5561" y="6563"/>
                    <a:pt x="6233" y="5891"/>
                  </a:cubicBezTo>
                  <a:cubicBezTo>
                    <a:pt x="7576" y="4537"/>
                    <a:pt x="7576" y="2356"/>
                    <a:pt x="6233" y="1013"/>
                  </a:cubicBezTo>
                  <a:cubicBezTo>
                    <a:pt x="5558" y="339"/>
                    <a:pt x="4676" y="0"/>
                    <a:pt x="379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7" name="Google Shape;1521;p43">
              <a:extLst>
                <a:ext uri="{FF2B5EF4-FFF2-40B4-BE49-F238E27FC236}">
                  <a16:creationId xmlns:a16="http://schemas.microsoft.com/office/drawing/2014/main" xmlns="" id="{9A18EE28-E650-4164-7F24-86D4C7141417}"/>
                </a:ext>
              </a:extLst>
            </p:cNvPr>
            <p:cNvSpPr/>
            <p:nvPr/>
          </p:nvSpPr>
          <p:spPr>
            <a:xfrm>
              <a:off x="3088670" y="2111564"/>
              <a:ext cx="139746" cy="26679"/>
            </a:xfrm>
            <a:custGeom>
              <a:avLst/>
              <a:gdLst/>
              <a:ahLst/>
              <a:cxnLst/>
              <a:rect l="l" t="t" r="r" b="b"/>
              <a:pathLst>
                <a:path w="19065" h="3641" extrusionOk="0">
                  <a:moveTo>
                    <a:pt x="2249" y="1"/>
                  </a:moveTo>
                  <a:cubicBezTo>
                    <a:pt x="1614" y="1"/>
                    <a:pt x="981" y="326"/>
                    <a:pt x="643" y="966"/>
                  </a:cubicBezTo>
                  <a:cubicBezTo>
                    <a:pt x="0" y="2171"/>
                    <a:pt x="873" y="3640"/>
                    <a:pt x="2250" y="3640"/>
                  </a:cubicBezTo>
                  <a:cubicBezTo>
                    <a:pt x="2847" y="3640"/>
                    <a:pt x="3409" y="3353"/>
                    <a:pt x="3742" y="2860"/>
                  </a:cubicBezTo>
                  <a:cubicBezTo>
                    <a:pt x="4029" y="2435"/>
                    <a:pt x="4488" y="2182"/>
                    <a:pt x="5004" y="2182"/>
                  </a:cubicBezTo>
                  <a:lnTo>
                    <a:pt x="19064" y="2182"/>
                  </a:lnTo>
                  <a:lnTo>
                    <a:pt x="19064" y="1459"/>
                  </a:lnTo>
                  <a:lnTo>
                    <a:pt x="5004" y="1459"/>
                  </a:lnTo>
                  <a:cubicBezTo>
                    <a:pt x="4499" y="1459"/>
                    <a:pt x="4040" y="1218"/>
                    <a:pt x="3765" y="805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8" name="Google Shape;1522;p43">
              <a:extLst>
                <a:ext uri="{FF2B5EF4-FFF2-40B4-BE49-F238E27FC236}">
                  <a16:creationId xmlns:a16="http://schemas.microsoft.com/office/drawing/2014/main" xmlns="" id="{484A8505-FF98-0534-8C42-9005BC1716C7}"/>
                </a:ext>
              </a:extLst>
            </p:cNvPr>
            <p:cNvSpPr/>
            <p:nvPr/>
          </p:nvSpPr>
          <p:spPr>
            <a:xfrm>
              <a:off x="3234603" y="2086687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7"/>
                  </a:lnTo>
                  <a:lnTo>
                    <a:pt x="3283" y="5577"/>
                  </a:lnTo>
                  <a:cubicBezTo>
                    <a:pt x="3471" y="8312"/>
                    <a:pt x="5753" y="10406"/>
                    <a:pt x="8459" y="10406"/>
                  </a:cubicBezTo>
                  <a:cubicBezTo>
                    <a:pt x="8558" y="10406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43"/>
                  </a:lnTo>
                  <a:cubicBezTo>
                    <a:pt x="4672" y="6278"/>
                    <a:pt x="4683" y="4108"/>
                    <a:pt x="6038" y="2766"/>
                  </a:cubicBezTo>
                  <a:cubicBezTo>
                    <a:pt x="6708" y="2101"/>
                    <a:pt x="7586" y="1768"/>
                    <a:pt x="8465" y="1768"/>
                  </a:cubicBezTo>
                  <a:cubicBezTo>
                    <a:pt x="9348" y="1768"/>
                    <a:pt x="10231" y="2104"/>
                    <a:pt x="10904" y="2777"/>
                  </a:cubicBezTo>
                  <a:lnTo>
                    <a:pt x="13635" y="5520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19" name="Google Shape;1523;p43">
              <a:extLst>
                <a:ext uri="{FF2B5EF4-FFF2-40B4-BE49-F238E27FC236}">
                  <a16:creationId xmlns:a16="http://schemas.microsoft.com/office/drawing/2014/main" xmlns="" id="{1794A26E-5BF1-101C-78C5-42FCAA655D06}"/>
                </a:ext>
              </a:extLst>
            </p:cNvPr>
            <p:cNvSpPr/>
            <p:nvPr/>
          </p:nvSpPr>
          <p:spPr>
            <a:xfrm>
              <a:off x="3278765" y="2107116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1"/>
                  </a:move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5"/>
                    <a:pt x="2435" y="5885"/>
                  </a:cubicBezTo>
                  <a:cubicBezTo>
                    <a:pt x="1552" y="5885"/>
                    <a:pt x="672" y="5550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1"/>
                    <a:pt x="7460" y="5360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0" name="Google Shape;1524;p43">
              <a:extLst>
                <a:ext uri="{FF2B5EF4-FFF2-40B4-BE49-F238E27FC236}">
                  <a16:creationId xmlns:a16="http://schemas.microsoft.com/office/drawing/2014/main" xmlns="" id="{26C30FE8-ABD6-F1F7-6172-5177E3E8DAA2}"/>
                </a:ext>
              </a:extLst>
            </p:cNvPr>
            <p:cNvSpPr/>
            <p:nvPr/>
          </p:nvSpPr>
          <p:spPr>
            <a:xfrm>
              <a:off x="3268754" y="2099693"/>
              <a:ext cx="54938" cy="49864"/>
            </a:xfrm>
            <a:custGeom>
              <a:avLst/>
              <a:gdLst/>
              <a:ahLst/>
              <a:cxnLst/>
              <a:rect l="l" t="t" r="r" b="b"/>
              <a:pathLst>
                <a:path w="7495" h="6805" extrusionOk="0">
                  <a:moveTo>
                    <a:pt x="3792" y="1"/>
                  </a:moveTo>
                  <a:cubicBezTo>
                    <a:pt x="2917" y="1"/>
                    <a:pt x="2040" y="333"/>
                    <a:pt x="1366" y="1002"/>
                  </a:cubicBezTo>
                  <a:cubicBezTo>
                    <a:pt x="23" y="2333"/>
                    <a:pt x="0" y="4514"/>
                    <a:pt x="1332" y="5868"/>
                  </a:cubicBezTo>
                  <a:lnTo>
                    <a:pt x="1332" y="5857"/>
                  </a:lnTo>
                  <a:lnTo>
                    <a:pt x="1355" y="5891"/>
                  </a:lnTo>
                  <a:cubicBezTo>
                    <a:pt x="2019" y="6500"/>
                    <a:pt x="2860" y="6804"/>
                    <a:pt x="3700" y="6804"/>
                  </a:cubicBezTo>
                  <a:cubicBezTo>
                    <a:pt x="4585" y="6804"/>
                    <a:pt x="5469" y="6466"/>
                    <a:pt x="6141" y="5788"/>
                  </a:cubicBezTo>
                  <a:cubicBezTo>
                    <a:pt x="7449" y="4480"/>
                    <a:pt x="7495" y="2368"/>
                    <a:pt x="6232" y="1014"/>
                  </a:cubicBezTo>
                  <a:cubicBezTo>
                    <a:pt x="5558" y="339"/>
                    <a:pt x="4675" y="1"/>
                    <a:pt x="3792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1" name="Google Shape;1525;p43">
              <a:extLst>
                <a:ext uri="{FF2B5EF4-FFF2-40B4-BE49-F238E27FC236}">
                  <a16:creationId xmlns:a16="http://schemas.microsoft.com/office/drawing/2014/main" xmlns="" id="{5C74BD1F-B2EC-F4B9-2660-DF742533D854}"/>
                </a:ext>
              </a:extLst>
            </p:cNvPr>
            <p:cNvSpPr/>
            <p:nvPr/>
          </p:nvSpPr>
          <p:spPr>
            <a:xfrm>
              <a:off x="3088670" y="2323456"/>
              <a:ext cx="139746" cy="26716"/>
            </a:xfrm>
            <a:custGeom>
              <a:avLst/>
              <a:gdLst/>
              <a:ahLst/>
              <a:cxnLst/>
              <a:rect l="l" t="t" r="r" b="b"/>
              <a:pathLst>
                <a:path w="19065" h="3646" extrusionOk="0">
                  <a:moveTo>
                    <a:pt x="2249" y="1"/>
                  </a:moveTo>
                  <a:cubicBezTo>
                    <a:pt x="1614" y="1"/>
                    <a:pt x="981" y="327"/>
                    <a:pt x="643" y="960"/>
                  </a:cubicBezTo>
                  <a:cubicBezTo>
                    <a:pt x="0" y="2177"/>
                    <a:pt x="873" y="3646"/>
                    <a:pt x="2250" y="3646"/>
                  </a:cubicBezTo>
                  <a:cubicBezTo>
                    <a:pt x="2847" y="3646"/>
                    <a:pt x="3398" y="3347"/>
                    <a:pt x="3742" y="2865"/>
                  </a:cubicBezTo>
                  <a:cubicBezTo>
                    <a:pt x="4029" y="2441"/>
                    <a:pt x="4488" y="2188"/>
                    <a:pt x="5004" y="2177"/>
                  </a:cubicBezTo>
                  <a:lnTo>
                    <a:pt x="19064" y="2177"/>
                  </a:lnTo>
                  <a:lnTo>
                    <a:pt x="19064" y="1465"/>
                  </a:lnTo>
                  <a:lnTo>
                    <a:pt x="5004" y="1465"/>
                  </a:lnTo>
                  <a:cubicBezTo>
                    <a:pt x="4499" y="1465"/>
                    <a:pt x="4040" y="1224"/>
                    <a:pt x="3765" y="811"/>
                  </a:cubicBezTo>
                  <a:cubicBezTo>
                    <a:pt x="3400" y="266"/>
                    <a:pt x="2823" y="1"/>
                    <a:pt x="22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2" name="Google Shape;1526;p43">
              <a:extLst>
                <a:ext uri="{FF2B5EF4-FFF2-40B4-BE49-F238E27FC236}">
                  <a16:creationId xmlns:a16="http://schemas.microsoft.com/office/drawing/2014/main" xmlns="" id="{FED320AC-A606-6321-27B3-23394047C358}"/>
                </a:ext>
              </a:extLst>
            </p:cNvPr>
            <p:cNvSpPr/>
            <p:nvPr/>
          </p:nvSpPr>
          <p:spPr>
            <a:xfrm>
              <a:off x="3234603" y="2298535"/>
              <a:ext cx="101301" cy="76257"/>
            </a:xfrm>
            <a:custGeom>
              <a:avLst/>
              <a:gdLst/>
              <a:ahLst/>
              <a:cxnLst/>
              <a:rect l="l" t="t" r="r" b="b"/>
              <a:pathLst>
                <a:path w="13820" h="10407" extrusionOk="0">
                  <a:moveTo>
                    <a:pt x="8445" y="0"/>
                  </a:moveTo>
                  <a:cubicBezTo>
                    <a:pt x="5733" y="0"/>
                    <a:pt x="3459" y="2121"/>
                    <a:pt x="3283" y="4866"/>
                  </a:cubicBezTo>
                  <a:lnTo>
                    <a:pt x="0" y="4866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313"/>
                    <a:pt x="5753" y="10407"/>
                    <a:pt x="8459" y="10407"/>
                  </a:cubicBezTo>
                  <a:cubicBezTo>
                    <a:pt x="8558" y="10407"/>
                    <a:pt x="8658" y="10404"/>
                    <a:pt x="8758" y="10398"/>
                  </a:cubicBezTo>
                  <a:lnTo>
                    <a:pt x="6015" y="7666"/>
                  </a:lnTo>
                  <a:lnTo>
                    <a:pt x="5992" y="7632"/>
                  </a:lnTo>
                  <a:cubicBezTo>
                    <a:pt x="4695" y="6278"/>
                    <a:pt x="4729" y="4120"/>
                    <a:pt x="6060" y="2800"/>
                  </a:cubicBezTo>
                  <a:cubicBezTo>
                    <a:pt x="6736" y="2136"/>
                    <a:pt x="7616" y="1803"/>
                    <a:pt x="8495" y="1803"/>
                  </a:cubicBezTo>
                  <a:cubicBezTo>
                    <a:pt x="9363" y="1803"/>
                    <a:pt x="10231" y="2127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95"/>
                    <a:pt x="8781" y="11"/>
                  </a:cubicBezTo>
                  <a:cubicBezTo>
                    <a:pt x="8668" y="4"/>
                    <a:pt x="8556" y="0"/>
                    <a:pt x="8445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3" name="Google Shape;1527;p43">
              <a:extLst>
                <a:ext uri="{FF2B5EF4-FFF2-40B4-BE49-F238E27FC236}">
                  <a16:creationId xmlns:a16="http://schemas.microsoft.com/office/drawing/2014/main" xmlns="" id="{5A3A3DE7-5A6C-FCD3-BFEB-7CAFB1327E3E}"/>
                </a:ext>
              </a:extLst>
            </p:cNvPr>
            <p:cNvSpPr/>
            <p:nvPr/>
          </p:nvSpPr>
          <p:spPr>
            <a:xfrm>
              <a:off x="3278765" y="2318964"/>
              <a:ext cx="55781" cy="55770"/>
            </a:xfrm>
            <a:custGeom>
              <a:avLst/>
              <a:gdLst/>
              <a:ahLst/>
              <a:cxnLst/>
              <a:rect l="l" t="t" r="r" b="b"/>
              <a:pathLst>
                <a:path w="7610" h="7611" extrusionOk="0">
                  <a:moveTo>
                    <a:pt x="4878" y="1"/>
                  </a:moveTo>
                  <a:lnTo>
                    <a:pt x="4878" y="1"/>
                  </a:lnTo>
                  <a:cubicBezTo>
                    <a:pt x="6221" y="1344"/>
                    <a:pt x="6221" y="3524"/>
                    <a:pt x="4878" y="4878"/>
                  </a:cubicBezTo>
                  <a:cubicBezTo>
                    <a:pt x="4201" y="5550"/>
                    <a:pt x="3317" y="5886"/>
                    <a:pt x="2435" y="5886"/>
                  </a:cubicBezTo>
                  <a:cubicBezTo>
                    <a:pt x="1552" y="5886"/>
                    <a:pt x="672" y="5550"/>
                    <a:pt x="0" y="4879"/>
                  </a:cubicBezTo>
                  <a:lnTo>
                    <a:pt x="0" y="4879"/>
                  </a:lnTo>
                  <a:lnTo>
                    <a:pt x="2732" y="7610"/>
                  </a:lnTo>
                  <a:cubicBezTo>
                    <a:pt x="5360" y="7461"/>
                    <a:pt x="7460" y="5361"/>
                    <a:pt x="7609" y="2732"/>
                  </a:cubicBezTo>
                  <a:lnTo>
                    <a:pt x="4878" y="1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4" name="Google Shape;1528;p43">
              <a:extLst>
                <a:ext uri="{FF2B5EF4-FFF2-40B4-BE49-F238E27FC236}">
                  <a16:creationId xmlns:a16="http://schemas.microsoft.com/office/drawing/2014/main" xmlns="" id="{ECEE0A30-27B8-F1F1-FA71-83B8403E0C1D}"/>
                </a:ext>
              </a:extLst>
            </p:cNvPr>
            <p:cNvSpPr/>
            <p:nvPr/>
          </p:nvSpPr>
          <p:spPr>
            <a:xfrm>
              <a:off x="3269004" y="2311754"/>
              <a:ext cx="56287" cy="51058"/>
            </a:xfrm>
            <a:custGeom>
              <a:avLst/>
              <a:gdLst/>
              <a:ahLst/>
              <a:cxnLst/>
              <a:rect l="l" t="t" r="r" b="b"/>
              <a:pathLst>
                <a:path w="7679" h="6968" extrusionOk="0">
                  <a:moveTo>
                    <a:pt x="3790" y="0"/>
                  </a:moveTo>
                  <a:cubicBezTo>
                    <a:pt x="2912" y="0"/>
                    <a:pt x="2035" y="333"/>
                    <a:pt x="1366" y="996"/>
                  </a:cubicBezTo>
                  <a:cubicBezTo>
                    <a:pt x="24" y="2327"/>
                    <a:pt x="1" y="4474"/>
                    <a:pt x="1298" y="5840"/>
                  </a:cubicBezTo>
                  <a:lnTo>
                    <a:pt x="1298" y="5828"/>
                  </a:lnTo>
                  <a:lnTo>
                    <a:pt x="1321" y="5862"/>
                  </a:lnTo>
                  <a:cubicBezTo>
                    <a:pt x="2002" y="6597"/>
                    <a:pt x="2928" y="6968"/>
                    <a:pt x="3856" y="6968"/>
                  </a:cubicBezTo>
                  <a:cubicBezTo>
                    <a:pt x="4739" y="6968"/>
                    <a:pt x="5624" y="6632"/>
                    <a:pt x="6302" y="5954"/>
                  </a:cubicBezTo>
                  <a:cubicBezTo>
                    <a:pt x="7679" y="4566"/>
                    <a:pt x="7645" y="2316"/>
                    <a:pt x="6198" y="985"/>
                  </a:cubicBezTo>
                  <a:cubicBezTo>
                    <a:pt x="5530" y="328"/>
                    <a:pt x="4659" y="0"/>
                    <a:pt x="3790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5" name="Google Shape;1529;p43">
              <a:extLst>
                <a:ext uri="{FF2B5EF4-FFF2-40B4-BE49-F238E27FC236}">
                  <a16:creationId xmlns:a16="http://schemas.microsoft.com/office/drawing/2014/main" xmlns="" id="{0A4681CB-9A56-674A-3A10-921F61A415E8}"/>
                </a:ext>
              </a:extLst>
            </p:cNvPr>
            <p:cNvSpPr/>
            <p:nvPr/>
          </p:nvSpPr>
          <p:spPr>
            <a:xfrm>
              <a:off x="3216780" y="2404433"/>
              <a:ext cx="90438" cy="76074"/>
            </a:xfrm>
            <a:custGeom>
              <a:avLst/>
              <a:gdLst/>
              <a:ahLst/>
              <a:cxnLst/>
              <a:rect l="l" t="t" r="r" b="b"/>
              <a:pathLst>
                <a:path w="12338" h="10382" extrusionOk="0">
                  <a:moveTo>
                    <a:pt x="6169" y="0"/>
                  </a:moveTo>
                  <a:cubicBezTo>
                    <a:pt x="4129" y="0"/>
                    <a:pt x="2128" y="1197"/>
                    <a:pt x="1308" y="3349"/>
                  </a:cubicBezTo>
                  <a:cubicBezTo>
                    <a:pt x="1" y="6767"/>
                    <a:pt x="2554" y="10381"/>
                    <a:pt x="6151" y="10381"/>
                  </a:cubicBezTo>
                  <a:cubicBezTo>
                    <a:pt x="6250" y="10381"/>
                    <a:pt x="6349" y="10378"/>
                    <a:pt x="6450" y="10373"/>
                  </a:cubicBezTo>
                  <a:lnTo>
                    <a:pt x="3718" y="7630"/>
                  </a:lnTo>
                  <a:cubicBezTo>
                    <a:pt x="3638" y="7550"/>
                    <a:pt x="3557" y="7458"/>
                    <a:pt x="3477" y="7377"/>
                  </a:cubicBezTo>
                  <a:cubicBezTo>
                    <a:pt x="2318" y="5943"/>
                    <a:pt x="2478" y="3854"/>
                    <a:pt x="3844" y="2626"/>
                  </a:cubicBezTo>
                  <a:cubicBezTo>
                    <a:pt x="4504" y="2033"/>
                    <a:pt x="5332" y="1737"/>
                    <a:pt x="6159" y="1737"/>
                  </a:cubicBezTo>
                  <a:cubicBezTo>
                    <a:pt x="7043" y="1737"/>
                    <a:pt x="7925" y="2076"/>
                    <a:pt x="8596" y="2752"/>
                  </a:cubicBezTo>
                  <a:lnTo>
                    <a:pt x="11327" y="5484"/>
                  </a:lnTo>
                  <a:lnTo>
                    <a:pt x="11327" y="5552"/>
                  </a:lnTo>
                  <a:lnTo>
                    <a:pt x="12337" y="5552"/>
                  </a:lnTo>
                  <a:lnTo>
                    <a:pt x="12337" y="4841"/>
                  </a:lnTo>
                  <a:lnTo>
                    <a:pt x="11327" y="4841"/>
                  </a:lnTo>
                  <a:cubicBezTo>
                    <a:pt x="11247" y="3590"/>
                    <a:pt x="10708" y="2408"/>
                    <a:pt x="9824" y="1524"/>
                  </a:cubicBezTo>
                  <a:cubicBezTo>
                    <a:pt x="8787" y="487"/>
                    <a:pt x="7470" y="0"/>
                    <a:pt x="6169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6" name="Google Shape;1530;p43">
              <a:extLst>
                <a:ext uri="{FF2B5EF4-FFF2-40B4-BE49-F238E27FC236}">
                  <a16:creationId xmlns:a16="http://schemas.microsoft.com/office/drawing/2014/main" xmlns="" id="{85A190B1-51E7-9661-9A35-CAA74179A202}"/>
                </a:ext>
              </a:extLst>
            </p:cNvPr>
            <p:cNvSpPr/>
            <p:nvPr/>
          </p:nvSpPr>
          <p:spPr>
            <a:xfrm>
              <a:off x="3316610" y="2429134"/>
              <a:ext cx="153043" cy="26672"/>
            </a:xfrm>
            <a:custGeom>
              <a:avLst/>
              <a:gdLst/>
              <a:ahLst/>
              <a:cxnLst/>
              <a:rect l="l" t="t" r="r" b="b"/>
              <a:pathLst>
                <a:path w="20879" h="3640" extrusionOk="0">
                  <a:moveTo>
                    <a:pt x="18628" y="1"/>
                  </a:moveTo>
                  <a:cubicBezTo>
                    <a:pt x="18043" y="1"/>
                    <a:pt x="17481" y="299"/>
                    <a:pt x="17148" y="781"/>
                  </a:cubicBezTo>
                  <a:cubicBezTo>
                    <a:pt x="16861" y="1206"/>
                    <a:pt x="16390" y="1458"/>
                    <a:pt x="15885" y="1470"/>
                  </a:cubicBezTo>
                  <a:lnTo>
                    <a:pt x="1" y="1470"/>
                  </a:lnTo>
                  <a:lnTo>
                    <a:pt x="1" y="2181"/>
                  </a:lnTo>
                  <a:lnTo>
                    <a:pt x="15885" y="2181"/>
                  </a:lnTo>
                  <a:cubicBezTo>
                    <a:pt x="16379" y="2181"/>
                    <a:pt x="16849" y="2423"/>
                    <a:pt x="17125" y="2836"/>
                  </a:cubicBezTo>
                  <a:cubicBezTo>
                    <a:pt x="17490" y="3375"/>
                    <a:pt x="18064" y="3640"/>
                    <a:pt x="18635" y="3640"/>
                  </a:cubicBezTo>
                  <a:cubicBezTo>
                    <a:pt x="19268" y="3640"/>
                    <a:pt x="19897" y="3314"/>
                    <a:pt x="20235" y="2675"/>
                  </a:cubicBezTo>
                  <a:cubicBezTo>
                    <a:pt x="20878" y="1470"/>
                    <a:pt x="20006" y="1"/>
                    <a:pt x="1862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7" name="Google Shape;1531;p43">
              <a:extLst>
                <a:ext uri="{FF2B5EF4-FFF2-40B4-BE49-F238E27FC236}">
                  <a16:creationId xmlns:a16="http://schemas.microsoft.com/office/drawing/2014/main" xmlns="" id="{3AED4E28-23C0-8EAB-FFB2-24981CB95215}"/>
                </a:ext>
              </a:extLst>
            </p:cNvPr>
            <p:cNvSpPr/>
            <p:nvPr/>
          </p:nvSpPr>
          <p:spPr>
            <a:xfrm>
              <a:off x="3244021" y="2424598"/>
              <a:ext cx="55869" cy="55762"/>
            </a:xfrm>
            <a:custGeom>
              <a:avLst/>
              <a:gdLst/>
              <a:ahLst/>
              <a:cxnLst/>
              <a:rect l="l" t="t" r="r" b="b"/>
              <a:pathLst>
                <a:path w="7622" h="7610" extrusionOk="0">
                  <a:moveTo>
                    <a:pt x="4879" y="0"/>
                  </a:moveTo>
                  <a:lnTo>
                    <a:pt x="5074" y="194"/>
                  </a:lnTo>
                  <a:lnTo>
                    <a:pt x="5074" y="194"/>
                  </a:lnTo>
                  <a:cubicBezTo>
                    <a:pt x="5012" y="128"/>
                    <a:pt x="4947" y="63"/>
                    <a:pt x="4879" y="0"/>
                  </a:cubicBezTo>
                  <a:close/>
                  <a:moveTo>
                    <a:pt x="1" y="4878"/>
                  </a:moveTo>
                  <a:lnTo>
                    <a:pt x="1" y="4878"/>
                  </a:lnTo>
                  <a:cubicBezTo>
                    <a:pt x="64" y="4946"/>
                    <a:pt x="130" y="5011"/>
                    <a:pt x="197" y="5073"/>
                  </a:cubicBezTo>
                  <a:lnTo>
                    <a:pt x="197" y="5073"/>
                  </a:lnTo>
                  <a:lnTo>
                    <a:pt x="1" y="4878"/>
                  </a:lnTo>
                  <a:close/>
                  <a:moveTo>
                    <a:pt x="5074" y="194"/>
                  </a:moveTo>
                  <a:lnTo>
                    <a:pt x="5074" y="194"/>
                  </a:lnTo>
                  <a:cubicBezTo>
                    <a:pt x="6325" y="1543"/>
                    <a:pt x="6294" y="3657"/>
                    <a:pt x="4982" y="4970"/>
                  </a:cubicBezTo>
                  <a:cubicBezTo>
                    <a:pt x="4305" y="5647"/>
                    <a:pt x="3420" y="5983"/>
                    <a:pt x="2536" y="5983"/>
                  </a:cubicBezTo>
                  <a:cubicBezTo>
                    <a:pt x="1695" y="5983"/>
                    <a:pt x="855" y="5678"/>
                    <a:pt x="197" y="5073"/>
                  </a:cubicBezTo>
                  <a:lnTo>
                    <a:pt x="197" y="5073"/>
                  </a:lnTo>
                  <a:lnTo>
                    <a:pt x="2744" y="7609"/>
                  </a:lnTo>
                  <a:cubicBezTo>
                    <a:pt x="5349" y="7472"/>
                    <a:pt x="7438" y="5406"/>
                    <a:pt x="7622" y="2800"/>
                  </a:cubicBezTo>
                  <a:lnTo>
                    <a:pt x="7622" y="2732"/>
                  </a:lnTo>
                  <a:lnTo>
                    <a:pt x="5074" y="194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8" name="Google Shape;1532;p43">
              <a:extLst>
                <a:ext uri="{FF2B5EF4-FFF2-40B4-BE49-F238E27FC236}">
                  <a16:creationId xmlns:a16="http://schemas.microsoft.com/office/drawing/2014/main" xmlns="" id="{24104419-6C77-E9E0-FA5F-B42B15D8C999}"/>
                </a:ext>
              </a:extLst>
            </p:cNvPr>
            <p:cNvSpPr/>
            <p:nvPr/>
          </p:nvSpPr>
          <p:spPr>
            <a:xfrm>
              <a:off x="3233761" y="2417183"/>
              <a:ext cx="55869" cy="50618"/>
            </a:xfrm>
            <a:custGeom>
              <a:avLst/>
              <a:gdLst/>
              <a:ahLst/>
              <a:cxnLst/>
              <a:rect l="l" t="t" r="r" b="b"/>
              <a:pathLst>
                <a:path w="7622" h="6908" extrusionOk="0">
                  <a:moveTo>
                    <a:pt x="3836" y="1"/>
                  </a:moveTo>
                  <a:cubicBezTo>
                    <a:pt x="3011" y="1"/>
                    <a:pt x="2185" y="294"/>
                    <a:pt x="1527" y="886"/>
                  </a:cubicBezTo>
                  <a:cubicBezTo>
                    <a:pt x="161" y="2125"/>
                    <a:pt x="1" y="4214"/>
                    <a:pt x="1160" y="5637"/>
                  </a:cubicBezTo>
                  <a:cubicBezTo>
                    <a:pt x="1240" y="5729"/>
                    <a:pt x="1321" y="5810"/>
                    <a:pt x="1401" y="5901"/>
                  </a:cubicBezTo>
                  <a:cubicBezTo>
                    <a:pt x="2071" y="6571"/>
                    <a:pt x="2952" y="6907"/>
                    <a:pt x="3834" y="6907"/>
                  </a:cubicBezTo>
                  <a:cubicBezTo>
                    <a:pt x="4720" y="6907"/>
                    <a:pt x="5606" y="6568"/>
                    <a:pt x="6279" y="5890"/>
                  </a:cubicBezTo>
                  <a:cubicBezTo>
                    <a:pt x="7622" y="4547"/>
                    <a:pt x="7622" y="2366"/>
                    <a:pt x="6279" y="1012"/>
                  </a:cubicBezTo>
                  <a:cubicBezTo>
                    <a:pt x="5607" y="340"/>
                    <a:pt x="4722" y="1"/>
                    <a:pt x="3836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29" name="Google Shape;1533;p43">
              <a:extLst>
                <a:ext uri="{FF2B5EF4-FFF2-40B4-BE49-F238E27FC236}">
                  <a16:creationId xmlns:a16="http://schemas.microsoft.com/office/drawing/2014/main" xmlns="" id="{044692D3-223B-0ECF-5ADA-44822F1079C5}"/>
                </a:ext>
              </a:extLst>
            </p:cNvPr>
            <p:cNvSpPr/>
            <p:nvPr/>
          </p:nvSpPr>
          <p:spPr>
            <a:xfrm>
              <a:off x="3091763" y="2535751"/>
              <a:ext cx="136653" cy="26716"/>
            </a:xfrm>
            <a:custGeom>
              <a:avLst/>
              <a:gdLst/>
              <a:ahLst/>
              <a:cxnLst/>
              <a:rect l="l" t="t" r="r" b="b"/>
              <a:pathLst>
                <a:path w="18643" h="3646" extrusionOk="0">
                  <a:moveTo>
                    <a:pt x="1849" y="1"/>
                  </a:moveTo>
                  <a:cubicBezTo>
                    <a:pt x="927" y="1"/>
                    <a:pt x="22" y="689"/>
                    <a:pt x="15" y="1806"/>
                  </a:cubicBezTo>
                  <a:cubicBezTo>
                    <a:pt x="0" y="2936"/>
                    <a:pt x="914" y="3646"/>
                    <a:pt x="1847" y="3646"/>
                  </a:cubicBezTo>
                  <a:cubicBezTo>
                    <a:pt x="2392" y="3646"/>
                    <a:pt x="2943" y="3403"/>
                    <a:pt x="3320" y="2862"/>
                  </a:cubicBezTo>
                  <a:cubicBezTo>
                    <a:pt x="3607" y="2437"/>
                    <a:pt x="4066" y="2185"/>
                    <a:pt x="4582" y="2185"/>
                  </a:cubicBezTo>
                  <a:lnTo>
                    <a:pt x="18642" y="2185"/>
                  </a:lnTo>
                  <a:lnTo>
                    <a:pt x="18642" y="1462"/>
                  </a:lnTo>
                  <a:lnTo>
                    <a:pt x="4582" y="1462"/>
                  </a:lnTo>
                  <a:cubicBezTo>
                    <a:pt x="4077" y="1462"/>
                    <a:pt x="3618" y="1221"/>
                    <a:pt x="3343" y="807"/>
                  </a:cubicBezTo>
                  <a:cubicBezTo>
                    <a:pt x="2967" y="251"/>
                    <a:pt x="2405" y="1"/>
                    <a:pt x="1849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0" name="Google Shape;1534;p43">
              <a:extLst>
                <a:ext uri="{FF2B5EF4-FFF2-40B4-BE49-F238E27FC236}">
                  <a16:creationId xmlns:a16="http://schemas.microsoft.com/office/drawing/2014/main" xmlns="" id="{C9F9F130-6EF2-A3ED-1A63-4F0FE72B3F40}"/>
                </a:ext>
              </a:extLst>
            </p:cNvPr>
            <p:cNvSpPr/>
            <p:nvPr/>
          </p:nvSpPr>
          <p:spPr>
            <a:xfrm>
              <a:off x="3234603" y="2510888"/>
              <a:ext cx="101301" cy="76184"/>
            </a:xfrm>
            <a:custGeom>
              <a:avLst/>
              <a:gdLst/>
              <a:ahLst/>
              <a:cxnLst/>
              <a:rect l="l" t="t" r="r" b="b"/>
              <a:pathLst>
                <a:path w="13820" h="10397" extrusionOk="0">
                  <a:moveTo>
                    <a:pt x="8443" y="0"/>
                  </a:moveTo>
                  <a:cubicBezTo>
                    <a:pt x="5732" y="0"/>
                    <a:pt x="3459" y="2110"/>
                    <a:pt x="3283" y="4855"/>
                  </a:cubicBezTo>
                  <a:lnTo>
                    <a:pt x="0" y="4855"/>
                  </a:lnTo>
                  <a:lnTo>
                    <a:pt x="0" y="5578"/>
                  </a:lnTo>
                  <a:lnTo>
                    <a:pt x="3283" y="5578"/>
                  </a:lnTo>
                  <a:cubicBezTo>
                    <a:pt x="3471" y="8295"/>
                    <a:pt x="5743" y="10396"/>
                    <a:pt x="8441" y="10396"/>
                  </a:cubicBezTo>
                  <a:cubicBezTo>
                    <a:pt x="8546" y="10396"/>
                    <a:pt x="8651" y="10393"/>
                    <a:pt x="8758" y="10387"/>
                  </a:cubicBezTo>
                  <a:lnTo>
                    <a:pt x="6015" y="7655"/>
                  </a:lnTo>
                  <a:lnTo>
                    <a:pt x="5992" y="7632"/>
                  </a:lnTo>
                  <a:cubicBezTo>
                    <a:pt x="4672" y="6278"/>
                    <a:pt x="4683" y="4097"/>
                    <a:pt x="6038" y="2766"/>
                  </a:cubicBezTo>
                  <a:cubicBezTo>
                    <a:pt x="6708" y="2101"/>
                    <a:pt x="7586" y="1769"/>
                    <a:pt x="8465" y="1769"/>
                  </a:cubicBezTo>
                  <a:cubicBezTo>
                    <a:pt x="9348" y="1769"/>
                    <a:pt x="10231" y="2104"/>
                    <a:pt x="10904" y="2777"/>
                  </a:cubicBezTo>
                  <a:lnTo>
                    <a:pt x="13635" y="5509"/>
                  </a:lnTo>
                  <a:cubicBezTo>
                    <a:pt x="13819" y="2651"/>
                    <a:pt x="11638" y="183"/>
                    <a:pt x="8781" y="11"/>
                  </a:cubicBezTo>
                  <a:cubicBezTo>
                    <a:pt x="8667" y="4"/>
                    <a:pt x="8555" y="0"/>
                    <a:pt x="8443" y="0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1" name="Google Shape;1535;p43">
              <a:extLst>
                <a:ext uri="{FF2B5EF4-FFF2-40B4-BE49-F238E27FC236}">
                  <a16:creationId xmlns:a16="http://schemas.microsoft.com/office/drawing/2014/main" xmlns="" id="{EE21FA18-37FC-F176-9C89-8ED6EFBF008A}"/>
                </a:ext>
              </a:extLst>
            </p:cNvPr>
            <p:cNvSpPr/>
            <p:nvPr/>
          </p:nvSpPr>
          <p:spPr>
            <a:xfrm>
              <a:off x="3278765" y="2531237"/>
              <a:ext cx="55781" cy="55762"/>
            </a:xfrm>
            <a:custGeom>
              <a:avLst/>
              <a:gdLst/>
              <a:ahLst/>
              <a:cxnLst/>
              <a:rect l="l" t="t" r="r" b="b"/>
              <a:pathLst>
                <a:path w="7610" h="7610" extrusionOk="0">
                  <a:moveTo>
                    <a:pt x="4878" y="0"/>
                  </a:moveTo>
                  <a:cubicBezTo>
                    <a:pt x="6221" y="1343"/>
                    <a:pt x="6221" y="3535"/>
                    <a:pt x="4878" y="4878"/>
                  </a:cubicBezTo>
                  <a:cubicBezTo>
                    <a:pt x="4201" y="5549"/>
                    <a:pt x="3317" y="5885"/>
                    <a:pt x="2435" y="5885"/>
                  </a:cubicBezTo>
                  <a:cubicBezTo>
                    <a:pt x="1552" y="5885"/>
                    <a:pt x="672" y="5549"/>
                    <a:pt x="0" y="4878"/>
                  </a:cubicBezTo>
                  <a:lnTo>
                    <a:pt x="0" y="4878"/>
                  </a:lnTo>
                  <a:lnTo>
                    <a:pt x="2732" y="7610"/>
                  </a:lnTo>
                  <a:cubicBezTo>
                    <a:pt x="5360" y="7460"/>
                    <a:pt x="7460" y="5360"/>
                    <a:pt x="7609" y="2732"/>
                  </a:cubicBezTo>
                  <a:lnTo>
                    <a:pt x="4878" y="0"/>
                  </a:ln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  <p:sp>
          <p:nvSpPr>
            <p:cNvPr id="32" name="Google Shape;1536;p43">
              <a:extLst>
                <a:ext uri="{FF2B5EF4-FFF2-40B4-BE49-F238E27FC236}">
                  <a16:creationId xmlns:a16="http://schemas.microsoft.com/office/drawing/2014/main" xmlns="" id="{9B5FAEBA-09EB-965A-FA8E-42E3E59BF4CB}"/>
                </a:ext>
              </a:extLst>
            </p:cNvPr>
            <p:cNvSpPr/>
            <p:nvPr/>
          </p:nvSpPr>
          <p:spPr>
            <a:xfrm>
              <a:off x="3268754" y="2523843"/>
              <a:ext cx="54938" cy="49871"/>
            </a:xfrm>
            <a:custGeom>
              <a:avLst/>
              <a:gdLst/>
              <a:ahLst/>
              <a:cxnLst/>
              <a:rect l="l" t="t" r="r" b="b"/>
              <a:pathLst>
                <a:path w="7495" h="6806" extrusionOk="0">
                  <a:moveTo>
                    <a:pt x="3798" y="1"/>
                  </a:moveTo>
                  <a:cubicBezTo>
                    <a:pt x="2920" y="1"/>
                    <a:pt x="2042" y="333"/>
                    <a:pt x="1366" y="998"/>
                  </a:cubicBezTo>
                  <a:cubicBezTo>
                    <a:pt x="23" y="2341"/>
                    <a:pt x="0" y="4510"/>
                    <a:pt x="1332" y="5864"/>
                  </a:cubicBezTo>
                  <a:lnTo>
                    <a:pt x="1355" y="5887"/>
                  </a:lnTo>
                  <a:cubicBezTo>
                    <a:pt x="2019" y="6501"/>
                    <a:pt x="2860" y="6806"/>
                    <a:pt x="3700" y="6806"/>
                  </a:cubicBezTo>
                  <a:cubicBezTo>
                    <a:pt x="4585" y="6806"/>
                    <a:pt x="5469" y="6467"/>
                    <a:pt x="6141" y="5795"/>
                  </a:cubicBezTo>
                  <a:cubicBezTo>
                    <a:pt x="7449" y="4487"/>
                    <a:pt x="7495" y="2375"/>
                    <a:pt x="6232" y="1009"/>
                  </a:cubicBezTo>
                  <a:cubicBezTo>
                    <a:pt x="5560" y="336"/>
                    <a:pt x="4679" y="1"/>
                    <a:pt x="3798" y="1"/>
                  </a:cubicBezTo>
                  <a:close/>
                </a:path>
              </a:pathLst>
            </a:custGeom>
            <a:grpFill/>
            <a:ln>
              <a:solidFill>
                <a:srgbClr val="FFC800"/>
              </a:solidFill>
            </a:ln>
          </p:spPr>
          <p:txBody>
            <a:bodyPr spcFirstLastPara="1" wrap="square" lIns="121900" tIns="121900" rIns="121900" bIns="121900" anchor="ctr" anchorCtr="0">
              <a:noAutofit/>
            </a:bodyPr>
            <a:lstStyle/>
            <a:p>
              <a:endParaRPr sz="2400"/>
            </a:p>
          </p:txBody>
        </p:sp>
      </p:grpSp>
      <p:pic>
        <p:nvPicPr>
          <p:cNvPr id="33" name="Picture 32" descr="image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4050791" y="1563624"/>
            <a:ext cx="420624" cy="420624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411480" y="131673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C800"/>
                </a:solidFill>
                <a:latin typeface="Montserrat"/>
              </a:rPr>
              <a:t>Сегодня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11480" y="171907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Стенд: 3 региона Билайна + сгенерированный Северо-Запад, ночной план, 8 событий с вариантами, «Почему?», помощник; все 5 доп. возможностей ТЗ, API на 24 метода со Swagger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050791" y="4809744"/>
            <a:ext cx="420624" cy="420624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8275320" y="2084831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Ночной расчёт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75320" y="248716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Батч по расписанию на сервере: граф дорог, минуты общественного транспорта и планы всех регионов к утру</a:t>
            </a:r>
          </a:p>
        </p:txBody>
      </p:sp>
      <p:pic>
        <p:nvPicPr>
          <p:cNvPr id="39" name="Picture 3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7690104" y="5632703"/>
            <a:ext cx="420624" cy="420624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411480" y="2907792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Пробки по времени выезда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11480" y="3310128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Калибровка по истории вместо коэффициента часа; общественный транспорт — по расписаниям</a:t>
            </a:r>
          </a:p>
        </p:txBody>
      </p:sp>
      <p:pic>
        <p:nvPicPr>
          <p:cNvPr id="42" name="Picture 41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7690104" y="2331720"/>
            <a:ext cx="420624" cy="420624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8275320" y="3730752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События от инженеров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75320" y="4133088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Выехал, на месте, закончил, задерживаюсь — из веб-интерфейса или бота в мессенджере, день пересчитывается сам</a:t>
            </a:r>
          </a:p>
        </p:txBody>
      </p:sp>
      <p:pic>
        <p:nvPicPr>
          <p:cNvPr id="45" name="Picture 44" descr="image.png"/>
          <p:cNvPicPr>
            <a:picLocks noChangeAspect="1"/>
          </p:cNvPicPr>
          <p:nvPr/>
        </p:nvPicPr>
        <p:blipFill>
          <a:blip r:embed="rId6" cstate="print"/>
          <a:stretch>
            <a:fillRect/>
          </a:stretch>
        </p:blipFill>
        <p:spPr>
          <a:xfrm>
            <a:off x="7690104" y="3977639"/>
            <a:ext cx="420624" cy="420624"/>
          </a:xfrm>
          <a:prstGeom prst="rect">
            <a:avLst/>
          </a:prstGeom>
        </p:spPr>
      </p:pic>
      <p:sp>
        <p:nvSpPr>
          <p:cNvPr id="46" name="TextBox 45"/>
          <p:cNvSpPr txBox="1"/>
          <p:nvPr/>
        </p:nvSpPr>
        <p:spPr>
          <a:xfrm>
            <a:off x="411480" y="4562856"/>
            <a:ext cx="3429000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r"/>
            <a:r>
              <a:rPr sz="1700" b="1">
                <a:solidFill>
                  <a:srgbClr val="FFFFFF"/>
                </a:solidFill>
                <a:latin typeface="Montserrat"/>
              </a:rPr>
              <a:t>LLM в контуре Билайна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1480" y="4965192"/>
            <a:ext cx="3429000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r"/>
            <a:r>
              <a:rPr sz="1200" b="0">
                <a:solidFill>
                  <a:srgbClr val="FFFFFF"/>
                </a:solidFill>
                <a:latin typeface="Montserrat"/>
              </a:rPr>
              <a:t>Помощник на LLM внутри контура, с инструментами чтения вместо всего дня одним JSON: данные клиентов не покидают контур</a:t>
            </a:r>
          </a:p>
        </p:txBody>
      </p:sp>
      <p:pic>
        <p:nvPicPr>
          <p:cNvPr id="48" name="Picture 47" descr="image.png"/>
          <p:cNvPicPr>
            <a:picLocks noChangeAspect="1"/>
          </p:cNvPicPr>
          <p:nvPr/>
        </p:nvPicPr>
        <p:blipFill>
          <a:blip r:embed="rId7" cstate="print"/>
          <a:stretch>
            <a:fillRect/>
          </a:stretch>
        </p:blipFill>
        <p:spPr>
          <a:xfrm>
            <a:off x="4050791" y="3154680"/>
            <a:ext cx="420624" cy="420624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8275320" y="5385816"/>
            <a:ext cx="3749039" cy="365760"/>
          </a:xfrm>
          <a:prstGeom prst="rect">
            <a:avLst/>
          </a:prstGeom>
          <a:noFill/>
        </p:spPr>
        <p:txBody>
          <a:bodyPr wrap="square" lIns="0" tIns="0" rIns="0" bIns="0" anchor="b"/>
          <a:lstStyle/>
          <a:p>
            <a:pPr algn="l"/>
            <a:r>
              <a:rPr sz="1700" b="1">
                <a:solidFill>
                  <a:srgbClr val="FFFFFF"/>
                </a:solidFill>
                <a:latin typeface="Montserrat"/>
              </a:rPr>
              <a:t>Несколько регионов сразу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5788152"/>
            <a:ext cx="3749039" cy="960120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200" b="0">
                <a:solidFill>
                  <a:srgbClr val="FFFFFF"/>
                </a:solidFill>
                <a:latin typeface="Montserrat"/>
              </a:rPr>
              <a:t>Бригада на границе берёт заявки соседнего региона; новый регион — YAML, как Северо-Запад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9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Логотипы организаторов"/>
          <p:cNvPicPr>
            <a:picLocks noChangeAspect="1"/>
          </p:cNvPicPr>
          <p:nvPr/>
        </p:nvPicPr>
        <p:blipFill>
          <a:blip r:embed="rIdBrandLogos"/>
          <a:stretch>
            <a:fillRect/>
          </a:stretch>
        </p:blipFill>
        <p:spPr>
          <a:xfrm>
            <a:off x="6966826" y="307571"/>
            <a:ext cx="4938235" cy="390698"/>
          </a:xfrm>
          <a:prstGeom prst="rect">
            <a:avLst/>
          </a:prstGeom>
        </p:spPr>
      </p:pic>
      <p:sp>
        <p:nvSpPr>
          <p:cNvPr id="4" name="Номер слайда">
            <a:extLst>
              <a:ext uri="{FF2B5EF4-FFF2-40B4-BE49-F238E27FC236}">
                <a16:creationId xmlns:a16="http://schemas.microsoft.com/office/drawing/2014/main" xmlns="" id="{0F5F999C-FF8F-49FD-8575-A50C0300C4F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413507" y="6356358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rgbClr val="141414"/>
                </a:solidFill>
              </a:defRPr>
            </a:lvl1pPr>
          </a:lstStyle>
          <a:p>
            <a:fld id="{52DCC5B9-D646-4B76-891F-6FF4E74E9CB4}" type="slidenum">
              <a:rPr lang="ru-RU" smtClean="0"/>
              <a:pPr/>
              <a:t>18</a:t>
            </a:fld>
            <a:endParaRPr lang="ru-RU" dirty="0"/>
          </a:p>
        </p:txBody>
      </p:sp>
      <p:sp>
        <p:nvSpPr>
          <p:cNvPr id="5" name="Карточка pill"/>
          <p:cNvSpPr/>
          <p:nvPr/>
        </p:nvSpPr>
        <p:spPr>
          <a:xfrm>
            <a:off x="347472" y="320040"/>
            <a:ext cx="5100828" cy="621792"/>
          </a:xfrm>
          <a:prstGeom prst="roundRect">
            <a:avLst>
              <a:gd name="adj" fmla="val 20588"/>
            </a:avLst>
          </a:prstGeom>
          <a:solidFill>
            <a:srgbClr val="FFC800"/>
          </a:solidFill>
          <a:ln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wrap="square" lIns="182880" tIns="0" rIns="73152" bIns="0" rtlCol="0" anchor="ctr"/>
          <a:lstStyle/>
          <a:p>
            <a:pPr algn="l"/>
            <a:r>
              <a:rPr sz="2000" b="1">
                <a:solidFill>
                  <a:srgbClr val="141414"/>
                </a:solidFill>
                <a:latin typeface="Montserrat"/>
              </a:rPr>
              <a:t>КАК ПОСМОТРЕТЬ И ПРОВЕРИТЬ</a:t>
            </a:r>
          </a:p>
        </p:txBody>
      </p:sp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1984" y="1549224"/>
            <a:ext cx="5037871" cy="3779782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 cstate="print"/>
          <a:stretch>
            <a:fillRect/>
          </a:stretch>
        </p:blipFill>
        <p:spPr>
          <a:xfrm>
            <a:off x="411480" y="1188720"/>
            <a:ext cx="5760720" cy="4502632"/>
          </a:xfrm>
          <a:prstGeom prst="rect">
            <a:avLst/>
          </a:prstGeom>
        </p:spPr>
      </p:pic>
      <p:sp>
        <p:nvSpPr>
          <p:cNvPr id="8" name="Карточка"/>
          <p:cNvSpPr/>
          <p:nvPr/>
        </p:nvSpPr>
        <p:spPr>
          <a:xfrm>
            <a:off x="6537960" y="2068436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4" cstate="print"/>
          <a:stretch>
            <a:fillRect/>
          </a:stretch>
        </p:blipFill>
        <p:spPr>
          <a:xfrm>
            <a:off x="6766560" y="2223884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217816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Демо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766560" y="2617076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81.26.188.190.nip.io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766560" y="2927972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Логин и пароль — в описании решения на платформе</a:t>
            </a:r>
          </a:p>
        </p:txBody>
      </p:sp>
      <p:sp>
        <p:nvSpPr>
          <p:cNvPr id="13" name="Карточка"/>
          <p:cNvSpPr/>
          <p:nvPr/>
        </p:nvSpPr>
        <p:spPr>
          <a:xfrm>
            <a:off x="6537960" y="3531475"/>
            <a:ext cx="5257800" cy="12801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9525">
            <a:noFill/>
          </a:ln>
          <a:effectLst/>
        </p:spPr>
        <p:style>
          <a:lnRef idx="1">
            <a:srgbClr val="141414"/>
          </a:lnRef>
          <a:fillRef idx="3">
            <a:srgbClr val="141414"/>
          </a:fillRef>
          <a:effectRef idx="2">
            <a:srgbClr val="141414"/>
          </a:effectRef>
          <a:fontRef idx="minor">
            <a:srgbClr val="FFFFFF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14" name="Picture 13" descr="image.png"/>
          <p:cNvPicPr>
            <a:picLocks noChangeAspect="1"/>
          </p:cNvPicPr>
          <p:nvPr/>
        </p:nvPicPr>
        <p:blipFill>
          <a:blip r:embed="rId5" cstate="print"/>
          <a:stretch>
            <a:fillRect/>
          </a:stretch>
        </p:blipFill>
        <p:spPr>
          <a:xfrm>
            <a:off x="6766560" y="3686923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315200" y="3641204"/>
            <a:ext cx="4389120" cy="411480"/>
          </a:xfrm>
          <a:prstGeom prst="rect">
            <a:avLst/>
          </a:prstGeom>
          <a:noFill/>
        </p:spPr>
        <p:txBody>
          <a:bodyPr wrap="square" lIns="0" tIns="0" rIns="0" bIns="0" anchor="ctr"/>
          <a:lstStyle/>
          <a:p>
            <a:pPr algn="l"/>
            <a:r>
              <a:rPr sz="1700" b="1">
                <a:solidFill>
                  <a:srgbClr val="141414"/>
                </a:solidFill>
                <a:latin typeface="Montserrat"/>
              </a:rPr>
              <a:t>Код и видео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080116"/>
            <a:ext cx="4937760" cy="310896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450" b="1">
                <a:solidFill>
                  <a:srgbClr val="141414"/>
                </a:solidFill>
                <a:latin typeface="Montserrat"/>
              </a:rPr>
              <a:t>github.com/earlyr1/beeline-routing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766560" y="4391011"/>
            <a:ext cx="4937760" cy="384048"/>
          </a:xfrm>
          <a:prstGeom prst="rect">
            <a:avLst/>
          </a:prstGeom>
          <a:noFill/>
        </p:spPr>
        <p:txBody>
          <a:bodyPr wrap="square" lIns="0" tIns="0" rIns="0" bIns="0" anchor="t"/>
          <a:lstStyle/>
          <a:p>
            <a:pPr algn="l"/>
            <a:r>
              <a:rPr sz="1150" b="0">
                <a:solidFill>
                  <a:srgbClr val="141414"/>
                </a:solidFill>
                <a:latin typeface="Montserrat"/>
              </a:rPr>
              <a:t>Репозиторий </a:t>
            </a:r>
            <a:r>
              <a:rPr lang="ru-RU" sz="1150" b="0" dirty="0" smtClean="0">
                <a:solidFill>
                  <a:srgbClr val="141414"/>
                </a:solidFill>
                <a:latin typeface="Montserrat"/>
              </a:rPr>
              <a:t>открытый</a:t>
            </a:r>
            <a:r>
              <a:rPr sz="1150" b="0" smtClean="0">
                <a:solidFill>
                  <a:srgbClr val="141414"/>
                </a:solidFill>
                <a:latin typeface="Montserrat"/>
              </a:rPr>
              <a:t>. </a:t>
            </a:r>
            <a:r>
              <a:rPr sz="1150" b="0">
                <a:solidFill>
                  <a:srgbClr val="141414"/>
                </a:solidFill>
                <a:latin typeface="Montserrat"/>
              </a:rPr>
              <a:t>Видео 6 мин с субтитрами — в README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"/>
        <a:cs typeface=""/>
      </a:majorFont>
      <a:minorFont>
        <a:latin typeface="Montserrat"/>
        <a:ea typeface=""/>
        <a:cs typeface="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 rtlCol="0" anchor="t"/>
      <a:lstStyle>
        <a:defPPr algn="ctr">
          <a:defRPr b="1" dirty="0" smtClean="0">
            <a:solidFill>
              <a:schemeClr val="accent2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xmlns="" name="Для Академия инноваторов 16_9" id="{1723B771-A24B-45DA-B7CE-887A7FB91DED}" vid="{FE7ADCA1-0705-4BF5-AEC5-34FB9D7ACE5C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xmlns="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11294</TotalTime>
  <Words>2040</Words>
  <Application>Microsoft Macintosh PowerPoint</Application>
  <PresentationFormat>Произвольный</PresentationFormat>
  <Paragraphs>252</Paragraphs>
  <Slides>18</Slides>
  <Notes>2</Notes>
  <HiddenSlides>0</HiddenSlides>
  <MMClips>0</MMClips>
  <ScaleCrop>false</ScaleCrop>
  <HeadingPairs>
    <vt:vector size="4" baseType="variant"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19" baseType="lpstr">
      <vt:lpstr>Для Академия инноваторов 16_9</vt:lpstr>
      <vt:lpstr>Двое из ларца</vt:lpstr>
      <vt:lpstr>КОМАНДА “ДВОЕ ИЗ ЛАРЦА”</vt:lpstr>
      <vt:lpstr>КОМАНДА “ДВОЕ ИЗ ЛАРЦА”</vt:lpstr>
      <vt:lpstr>КОМАНДА “ДВОЕ ИЗ ЛАРЦА”</vt:lpstr>
      <vt:lpstr>КОРОТКО О РЕШЕНИИ</vt:lpstr>
      <vt:lpstr>Слайд 6</vt:lpstr>
      <vt:lpstr>Слайд 7</vt:lpstr>
      <vt:lpstr>Слайд 8</vt:lpstr>
      <vt:lpstr>Слайд 9</vt:lpstr>
      <vt:lpstr>Слайд 10</vt:lpstr>
      <vt:lpstr>Слайд 11</vt:lpstr>
      <vt:lpstr>Слайд 12</vt:lpstr>
      <vt:lpstr>Слайд 13</vt:lpstr>
      <vt:lpstr>Слайд 14</vt:lpstr>
      <vt:lpstr>Слайд 15</vt:lpstr>
      <vt:lpstr>Слайд 16</vt:lpstr>
      <vt:lpstr>Слайд 17</vt:lpstr>
      <vt:lpstr>Слайд 18</vt:lpstr>
    </vt:vector>
  </TitlesOfParts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Анастасия Юшкова</dc:creator>
  <cp:lastModifiedBy>Пользователь Windows</cp:lastModifiedBy>
  <cp:revision>122</cp:revision>
  <dcterms:created xsi:type="dcterms:W3CDTF">2023-05-15T07:36:23Z</dcterms:created>
  <dcterms:modified xsi:type="dcterms:W3CDTF">2026-09-27T23:50:00Z</dcterms:modified>
</cp:coreProperties>
</file>