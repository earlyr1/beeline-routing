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65" r:id="rId2"/>
    <p:sldId id="366" r:id="rId3"/>
    <p:sldId id="362" r:id="rId4"/>
    <p:sldId id="36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 xmlns="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583" autoAdjust="0"/>
    <p:restoredTop sz="95839"/>
  </p:normalViewPr>
  <p:slideViewPr>
    <p:cSldViewPr snapToGrid="0" showGuides="1">
      <p:cViewPr varScale="1">
        <p:scale>
          <a:sx n="111" d="100"/>
          <a:sy n="111" d="100"/>
        </p:scale>
        <p:origin x="-462" y="-90"/>
      </p:cViewPr>
      <p:guideLst>
        <p:guide orient="horz" pos="2160"/>
        <p:guide pos="597"/>
        <p:guide pos="3591"/>
        <p:guide pos="5496"/>
        <p:guide pos="4112"/>
        <p:guide pos="3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>
        <c:manualLayout>
          <c:layoutTarget val="inner"/>
          <c:xMode val="edge"/>
          <c:yMode val="edge"/>
          <c:x val="5.1688300241682347E-2"/>
          <c:y val="0.12693525390367638"/>
          <c:w val="0.92608602339057577"/>
          <c:h val="0.6674714227166116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Базовый вариант из ТЗ</c:v>
                </c:pt>
              </c:strCache>
            </c:strRef>
          </c:tx>
          <c:spPr>
            <a:solidFill>
              <a:srgbClr val="FFD6E3"/>
            </a:solidFill>
            <a:ln w="63500">
              <a:noFill/>
            </a:ln>
            <a:effectLst/>
          </c:spPr>
          <c:dLbls>
            <c:numFmt formatCode="0" sourceLinked="0"/>
            <c:txPr>
              <a:bodyPr/>
              <a:lstStyle/>
              <a:p>
                <a:pPr>
                  <a:defRPr sz="1800" b="1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Восток
66 заявок</c:v>
                </c:pt>
                <c:pt idx="1">
                  <c:v>Юго-восток
83 заявки</c:v>
                </c:pt>
                <c:pt idx="2">
                  <c:v>Югоцентр
56 заявок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Диспетчеры Билайна</c:v>
                </c:pt>
              </c:strCache>
            </c:strRef>
          </c:tx>
          <c:spPr>
            <a:solidFill>
              <a:srgbClr val="8A83D1"/>
            </a:solidFill>
            <a:ln w="63500">
              <a:noFill/>
            </a:ln>
            <a:effectLst/>
          </c:spPr>
          <c:dLbls>
            <c:numFmt formatCode="0" sourceLinked="0"/>
            <c:txPr>
              <a:bodyPr/>
              <a:lstStyle/>
              <a:p>
                <a:pPr>
                  <a:defRPr sz="1800" b="1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Восток
66 заявок</c:v>
                </c:pt>
                <c:pt idx="1">
                  <c:v>Юго-восток
83 заявки</c:v>
                </c:pt>
                <c:pt idx="2">
                  <c:v>Югоцентр
56 заявок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Наш план</c:v>
                </c:pt>
              </c:strCache>
            </c:strRef>
          </c:tx>
          <c:spPr>
            <a:solidFill>
              <a:srgbClr val="FF0053"/>
            </a:solidFill>
            <a:ln w="63500">
              <a:noFill/>
            </a:ln>
            <a:effectLst/>
          </c:spPr>
          <c:dLbls>
            <c:numFmt formatCode="0" sourceLinked="0"/>
            <c:txPr>
              <a:bodyPr/>
              <a:lstStyle/>
              <a:p>
                <a:pPr>
                  <a:defRPr sz="1800" b="1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Восток
66 заявок</c:v>
                </c:pt>
                <c:pt idx="1">
                  <c:v>Юго-восток
83 заявки</c:v>
                </c:pt>
                <c:pt idx="2">
                  <c:v>Югоцентр
56 заявок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8</c:v>
                </c:pt>
                <c:pt idx="1">
                  <c:v>10</c:v>
                </c:pt>
                <c:pt idx="2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Val val="1"/>
        </c:dLbls>
        <c:gapWidth val="80"/>
        <c:overlap val="-15"/>
        <c:axId val="145644544"/>
        <c:axId val="157525888"/>
      </c:barChart>
      <c:catAx>
        <c:axId val="145644544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FFFFFF"/>
                </a:solidFill>
                <a:latin typeface="Montserrat"/>
                <a:ea typeface="+mn-ea"/>
                <a:cs typeface="+mn-cs"/>
              </a:defRPr>
            </a:pPr>
            <a:endParaRPr lang="ru-RU"/>
          </a:p>
        </c:txPr>
        <c:crossAx val="157525888"/>
        <c:crosses val="autoZero"/>
        <c:auto val="1"/>
        <c:lblAlgn val="ctr"/>
        <c:lblOffset val="100"/>
      </c:catAx>
      <c:valAx>
        <c:axId val="157525888"/>
        <c:scaling>
          <c:orientation val="minMax"/>
          <c:max val="14"/>
          <c:min val="0"/>
        </c:scaling>
        <c:delete val="1"/>
        <c:axPos val="l"/>
        <c:numFmt formatCode="0.0" sourceLinked="1"/>
        <c:majorTickMark val="none"/>
        <c:tickLblPos val="none"/>
        <c:crossAx val="14564454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56"/>
          <c:w val="0.94740055839426551"/>
          <c:h val="6.179925714265315E-2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FFFFFF"/>
              </a:solidFill>
              <a:latin typeface="Montserra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FFFFFF"/>
          </a:solidFill>
          <a:latin typeface="Montserrat"/>
        </a:defRPr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/>
      <c:barChart>
        <c:barDir val="bar"/>
        <c:grouping val="clustered"/>
        <c:ser>
          <c:idx val="1"/>
          <c:order val="0"/>
          <c:tx>
            <c:strRef>
              <c:f>Sheet1!$B$1</c:f>
              <c:strCache>
                <c:ptCount val="1"/>
                <c:pt idx="0">
                  <c:v>Базовый вариант из ТЗ</c:v>
                </c:pt>
              </c:strCache>
            </c:strRef>
          </c:tx>
          <c:spPr>
            <a:solidFill>
              <a:srgbClr val="FFD6E3"/>
            </a:solidFill>
            <a:ln w="9525">
              <a:solidFill>
                <a:srgbClr val="E9A5BE"/>
              </a:solidFill>
            </a:ln>
            <a:effectLst/>
          </c:spPr>
          <c:dLbls>
            <c:numFmt formatCode="0" sourceLinked="0"/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359.57</c:v>
                </c:pt>
                <c:pt idx="1">
                  <c:v>1006.69</c:v>
                </c:pt>
                <c:pt idx="2">
                  <c:v>303.78999999999985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Диспетчеры Билайна</c:v>
                </c:pt>
              </c:strCache>
            </c:strRef>
          </c:tx>
          <c:spPr>
            <a:solidFill>
              <a:srgbClr val="8A83D1"/>
            </a:solidFill>
            <a:ln w="63500">
              <a:noFill/>
            </a:ln>
            <a:effectLst/>
          </c:spPr>
          <c:dLbls>
            <c:numFmt formatCode="0" sourceLinked="0"/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282.04000000000002</c:v>
                </c:pt>
                <c:pt idx="1">
                  <c:v>342.92999999999984</c:v>
                </c:pt>
                <c:pt idx="2">
                  <c:v>231.73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ser>
          <c:idx val="3"/>
          <c:order val="2"/>
          <c:tx>
            <c:strRef>
              <c:f>Sheet1!$D$1</c:f>
              <c:strCache>
                <c:ptCount val="1"/>
                <c:pt idx="0">
                  <c:v>Наш план</c:v>
                </c:pt>
              </c:strCache>
            </c:strRef>
          </c:tx>
          <c:spPr>
            <a:solidFill>
              <a:srgbClr val="FF0053"/>
            </a:solidFill>
            <a:ln w="63500">
              <a:noFill/>
            </a:ln>
            <a:effectLst/>
          </c:spPr>
          <c:dLbls>
            <c:numFmt formatCode="0" sourceLinked="0"/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241.8</c:v>
                </c:pt>
                <c:pt idx="1">
                  <c:v>361.87</c:v>
                </c:pt>
                <c:pt idx="2">
                  <c:v>171.79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Val val="1"/>
        </c:dLbls>
        <c:gapWidth val="60"/>
        <c:overlap val="-10"/>
        <c:axId val="183964416"/>
        <c:axId val="185482624"/>
      </c:barChart>
      <c:catAx>
        <c:axId val="183964416"/>
        <c:scaling>
          <c:orientation val="maxMin"/>
        </c:scaling>
        <c:axPos val="l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85482624"/>
        <c:crosses val="autoZero"/>
        <c:auto val="1"/>
        <c:lblAlgn val="ctr"/>
        <c:lblOffset val="100"/>
      </c:catAx>
      <c:valAx>
        <c:axId val="185482624"/>
        <c:scaling>
          <c:orientation val="minMax"/>
          <c:max val="1180"/>
          <c:min val="0"/>
        </c:scaling>
        <c:delete val="1"/>
        <c:axPos val="t"/>
        <c:numFmt formatCode="0.0" sourceLinked="1"/>
        <c:majorTickMark val="none"/>
        <c:tickLblPos val="none"/>
        <c:crossAx val="18396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</c:legend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  <a:latin typeface="Montserrat"/>
        </a:defRPr>
      </a:pPr>
      <a:endParaRPr lang="ru-RU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>
        <c:manualLayout>
          <c:layoutTarget val="inner"/>
          <c:xMode val="edge"/>
          <c:yMode val="edge"/>
          <c:x val="4.0000000000000022E-2"/>
          <c:y val="4.0000000000000022E-2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Базовый вариант из ТЗ</c:v>
                </c:pt>
              </c:strCache>
            </c:strRef>
          </c:tx>
          <c:spPr>
            <a:ln w="63500"/>
          </c:spPr>
          <c:dPt>
            <c:idx val="0"/>
            <c:spPr>
              <a:solidFill>
                <a:srgbClr val="FF0053"/>
              </a:solidFill>
              <a:ln w="63500" cap="rnd">
                <a:solidFill>
                  <a:srgbClr val="FF0053"/>
                </a:solidFill>
              </a:ln>
            </c:spPr>
          </c:dPt>
          <c:dPt>
            <c:idx val="1"/>
            <c:spPr>
              <a:solidFill>
                <a:srgbClr val="8A83D1"/>
              </a:solidFill>
              <a:ln>
                <a:noFill/>
              </a:ln>
            </c:spPr>
          </c:dPt>
          <c:dPt>
            <c:idx val="2"/>
            <c:spPr>
              <a:solidFill>
                <a:srgbClr val="FFD6E3"/>
              </a:solidFill>
              <a:ln w="63500" cap="rnd">
                <a:solidFill>
                  <a:srgbClr val="FFD6E3"/>
                </a:solidFill>
              </a:ln>
            </c:spPr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>
                      <a:solidFill>
                        <a:srgbClr val="FFFFFF"/>
                      </a:solidFill>
                      <a:latin typeface="Montserrat"/>
                    </a:defRPr>
                  </a:pPr>
                  <a:endParaRPr lang="ru-RU"/>
                </a:p>
              </c:txPr>
            </c:dLbl>
            <c:dLbl>
              <c:idx val="1"/>
              <c:delete val="1"/>
            </c:dLbl>
            <c:dLbl>
              <c:idx val="2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>
                      <a:solidFill>
                        <a:srgbClr val="1C1D22"/>
                      </a:solidFill>
                      <a:latin typeface="Montserrat"/>
                    </a:defRPr>
                  </a:pPr>
                  <a:endParaRPr lang="ru-RU"/>
                </a:p>
              </c:txPr>
            </c:dLbl>
            <c:numFmt formatCode="0%" sourceLinked="0"/>
            <c:spPr>
              <a:noFill/>
              <a:ln>
                <a:noFill/>
              </a:ln>
            </c:spPr>
            <c:showPercent val="1"/>
          </c:dLbls>
          <c:cat>
            <c:strRef>
              <c:f>Sheet1!$A$2:$A$4</c:f>
              <c:strCache>
                <c:ptCount val="3"/>
                <c:pt idx="0">
                  <c:v>без нарушений</c:v>
                </c:pt>
                <c:pt idx="1">
                  <c:v>с нарушением окна, смены или плеча</c:v>
                </c:pt>
                <c:pt idx="2">
                  <c:v>без исполнителя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144</c:v>
                </c:pt>
                <c:pt idx="1">
                  <c:v>0</c:v>
                </c:pt>
                <c:pt idx="2">
                  <c:v>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zero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1C1D22"/>
          </a:solidFill>
          <a:latin typeface="Montserrat"/>
        </a:defRPr>
      </a:pPr>
      <a:endParaRPr lang="ru-RU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>
        <c:manualLayout>
          <c:layoutTarget val="inner"/>
          <c:xMode val="edge"/>
          <c:yMode val="edge"/>
          <c:x val="4.0000000000000022E-2"/>
          <c:y val="4.0000000000000022E-2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Диспетчеры Билайна</c:v>
                </c:pt>
              </c:strCache>
            </c:strRef>
          </c:tx>
          <c:spPr>
            <a:ln w="63500"/>
          </c:spPr>
          <c:dPt>
            <c:idx val="0"/>
            <c:spPr>
              <a:solidFill>
                <a:srgbClr val="FF0053"/>
              </a:solidFill>
              <a:ln w="63500" cap="rnd">
                <a:solidFill>
                  <a:srgbClr val="FF0053"/>
                </a:solidFill>
              </a:ln>
            </c:spPr>
          </c:dPt>
          <c:dPt>
            <c:idx val="1"/>
            <c:spPr>
              <a:solidFill>
                <a:srgbClr val="8A83D1"/>
              </a:solidFill>
              <a:ln w="63500" cap="rnd">
                <a:solidFill>
                  <a:srgbClr val="8A83D1"/>
                </a:solidFill>
              </a:ln>
            </c:spPr>
          </c:dPt>
          <c:dPt>
            <c:idx val="2"/>
            <c:spPr>
              <a:solidFill>
                <a:srgbClr val="FFD6E3"/>
              </a:solidFill>
              <a:ln w="63500" cap="rnd">
                <a:solidFill>
                  <a:srgbClr val="FFD6E3"/>
                </a:solidFill>
              </a:ln>
            </c:spPr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>
                      <a:solidFill>
                        <a:srgbClr val="FFFFFF"/>
                      </a:solidFill>
                      <a:latin typeface="Montserrat"/>
                    </a:defRPr>
                  </a:pPr>
                  <a:endParaRPr lang="ru-RU"/>
                </a:p>
              </c:txPr>
            </c:dLbl>
            <c:dLbl>
              <c:idx val="1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>
                      <a:solidFill>
                        <a:srgbClr val="FFFFFF"/>
                      </a:solidFill>
                      <a:latin typeface="Montserrat"/>
                    </a:defRPr>
                  </a:pPr>
                  <a:endParaRPr lang="ru-RU"/>
                </a:p>
              </c:txPr>
            </c:dLbl>
            <c:dLbl>
              <c:idx val="2"/>
              <c:delete val="1"/>
            </c:dLbl>
            <c:numFmt formatCode="0%" sourceLinked="0"/>
            <c:spPr>
              <a:noFill/>
              <a:ln>
                <a:noFill/>
              </a:ln>
            </c:spPr>
            <c:showPercent val="1"/>
          </c:dLbls>
          <c:cat>
            <c:strRef>
              <c:f>Sheet1!$A$2:$A$4</c:f>
              <c:strCache>
                <c:ptCount val="3"/>
                <c:pt idx="0">
                  <c:v>без нарушений</c:v>
                </c:pt>
                <c:pt idx="1">
                  <c:v>с нарушением окна, смены или плеча</c:v>
                </c:pt>
                <c:pt idx="2">
                  <c:v>без исполнителя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170</c:v>
                </c:pt>
                <c:pt idx="1">
                  <c:v>33</c:v>
                </c:pt>
                <c:pt idx="2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zero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1C1D22"/>
          </a:solidFill>
          <a:latin typeface="Montserrat"/>
        </a:defRPr>
      </a:pPr>
      <a:endParaRPr lang="ru-RU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>
        <c:manualLayout>
          <c:layoutTarget val="inner"/>
          <c:xMode val="edge"/>
          <c:yMode val="edge"/>
          <c:x val="4.0000000000000022E-2"/>
          <c:y val="4.0000000000000022E-2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Наш план</c:v>
                </c:pt>
              </c:strCache>
            </c:strRef>
          </c:tx>
          <c:spPr>
            <a:ln w="63500"/>
          </c:spPr>
          <c:dPt>
            <c:idx val="0"/>
            <c:spPr>
              <a:solidFill>
                <a:srgbClr val="FF0053"/>
              </a:solidFill>
              <a:ln w="63500" cap="rnd">
                <a:solidFill>
                  <a:srgbClr val="FF0053"/>
                </a:solidFill>
              </a:ln>
            </c:spPr>
          </c:dPt>
          <c:dPt>
            <c:idx val="1"/>
            <c:spPr>
              <a:solidFill>
                <a:srgbClr val="8A83D1"/>
              </a:solidFill>
              <a:ln>
                <a:noFill/>
              </a:ln>
            </c:spPr>
          </c:dPt>
          <c:dPt>
            <c:idx val="2"/>
            <c:spPr>
              <a:solidFill>
                <a:srgbClr val="FFD6E3"/>
              </a:solidFill>
              <a:ln>
                <a:noFill/>
              </a:ln>
            </c:spPr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>
                      <a:solidFill>
                        <a:srgbClr val="FFFFFF"/>
                      </a:solidFill>
                      <a:latin typeface="Montserrat"/>
                    </a:defRPr>
                  </a:pPr>
                  <a:endParaRPr lang="ru-RU"/>
                </a:p>
              </c:txPr>
            </c:dLbl>
            <c:dLbl>
              <c:idx val="1"/>
              <c:delete val="1"/>
            </c:dLbl>
            <c:dLbl>
              <c:idx val="2"/>
              <c:delete val="1"/>
            </c:dLbl>
            <c:numFmt formatCode="0%" sourceLinked="0"/>
            <c:spPr>
              <a:noFill/>
              <a:ln>
                <a:noFill/>
              </a:ln>
            </c:spPr>
            <c:showPercent val="1"/>
          </c:dLbls>
          <c:cat>
            <c:strRef>
              <c:f>Sheet1!$A$2:$A$4</c:f>
              <c:strCache>
                <c:ptCount val="3"/>
                <c:pt idx="0">
                  <c:v>без нарушений</c:v>
                </c:pt>
                <c:pt idx="1">
                  <c:v>с нарушением окна, смены или плеча</c:v>
                </c:pt>
                <c:pt idx="2">
                  <c:v>без исполнителя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205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zero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1C1D22"/>
          </a:solidFill>
          <a:latin typeface="Montserrat"/>
        </a:defRPr>
      </a:pPr>
      <a:endParaRPr lang="ru-RU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xmlns="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xmlns="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xmlns="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xmlns="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xmlns="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xmlns="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xmlns="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xmlns="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xmlns="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xmlns="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xmlns="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xmlns="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xmlns="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xmlns="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xmlns="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xmlns="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xmlns="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xmlns="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xmlns="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xmlns="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xmlns="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xmlns="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xmlns="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xmlns="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xmlns="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xmlns="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xmlns="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xmlns="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xmlns="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xmlns="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xmlns="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xmlns="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xmlns="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xmlns="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xmlns="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xmlns="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xmlns="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xmlns="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xmlns="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xmlns="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xmlns="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xmlns="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xmlns="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xmlns="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xmlns="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xmlns="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xmlns="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xmlns="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xmlns="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xmlns="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xmlns="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xmlns="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xmlns="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xmlns="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xmlns="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xmlns="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xmlns="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xmlns="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xmlns="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xmlns="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xmlns="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xmlns="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xmlns="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xmlns="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xmlns="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xmlns="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xmlns="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xmlns="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xmlns="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xmlns="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xmlns="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xmlns="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xmlns="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xmlns="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xmlns="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xmlns="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xmlns="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xmlns="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xmlns="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xmlns="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xmlns="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xmlns="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xmlns="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xmlns="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xmlns="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xmlns="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xmlns="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xmlns="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xmlns="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xmlns="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xmlns="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xmlns="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xmlns="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xmlns="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xmlns="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xmlns="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xmlns="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xmlns="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xmlns="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xmlns="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xmlns="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xmlns="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xmlns="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xmlns="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xmlns="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xmlns="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xmlns="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xmlns="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xmlns="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xmlns="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xmlns="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xmlns="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000" dirty="0" smtClean="0"/>
              <a:t>Двое из ларца</a:t>
            </a:r>
            <a:endParaRPr lang="ru-RU" sz="40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/>
          </a:bodyPr>
          <a:lstStyle/>
          <a:p>
            <a:pPr indent="268288"/>
            <a:r>
              <a:rPr lang="ru-RU" sz="1400" dirty="0" smtClean="0"/>
              <a:t>Задача бизнеса №3 </a:t>
            </a:r>
            <a:r>
              <a:rPr lang="en-US" sz="1400" dirty="0" smtClean="0"/>
              <a:t>- </a:t>
            </a:r>
            <a:r>
              <a:rPr lang="ru-RU" sz="1400" dirty="0" smtClean="0"/>
              <a:t>Интеллектуальный сервис планирования рабочих маршрутов для инженеров с учетом временных окон и сложности проводимых </a:t>
            </a:r>
            <a:r>
              <a:rPr lang="ru-RU" sz="1400" dirty="0" smtClean="0"/>
              <a:t>работ</a:t>
            </a:r>
            <a:endParaRPr lang="ru-RU" sz="1400" dirty="0" smtClean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8" name="Image 18" descr=" ">
            <a:extLst>
              <a:ext uri="{FF2B5EF4-FFF2-40B4-BE49-F238E27FC236}">
                <a16:creationId xmlns:a16="http://schemas.microsoft.com/office/drawing/2014/main" xmlns="" id="{C2BC9203-CF6F-6C1A-1FE4-63D3D384E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298" y="429398"/>
            <a:ext cx="2573227" cy="8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8066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0" name="Рисунок 19" descr="Снимок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2305" b="12305"/>
          <a:stretch>
            <a:fillRect/>
          </a:stretch>
        </p:blipFill>
        <p:spPr>
          <a:xfrm>
            <a:off x="0" y="334963"/>
            <a:ext cx="6456363" cy="2971800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xmlns="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xmlns="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 Каждое решение объяснено</a:t>
            </a:r>
            <a:r>
              <a:rPr lang="en-US" sz="1000" dirty="0" smtClean="0">
                <a:solidFill>
                  <a:schemeClr val="tx1"/>
                </a:solidFill>
              </a:rPr>
              <a:t>: </a:t>
            </a:r>
            <a:r>
              <a:rPr lang="ru-RU" sz="1000" dirty="0" smtClean="0">
                <a:solidFill>
                  <a:schemeClr val="tx1"/>
                </a:solidFill>
              </a:rPr>
              <a:t>приведены причины выбора той или иной бригады на заявку</a:t>
            </a:r>
          </a:p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 </a:t>
            </a:r>
            <a:r>
              <a:rPr lang="ru-RU" sz="1000" dirty="0" smtClean="0">
                <a:solidFill>
                  <a:schemeClr val="tx1"/>
                </a:solidFill>
              </a:rPr>
              <a:t>Присутствует </a:t>
            </a:r>
            <a:r>
              <a:rPr lang="en-US" sz="1000" dirty="0" smtClean="0">
                <a:solidFill>
                  <a:schemeClr val="tx1"/>
                </a:solidFill>
              </a:rPr>
              <a:t>AI</a:t>
            </a:r>
            <a:r>
              <a:rPr lang="en-US" sz="1000" dirty="0" smtClean="0">
                <a:solidFill>
                  <a:schemeClr val="tx1"/>
                </a:solidFill>
              </a:rPr>
              <a:t>-</a:t>
            </a:r>
            <a:r>
              <a:rPr lang="ru-RU" sz="1000" dirty="0" smtClean="0">
                <a:solidFill>
                  <a:schemeClr val="tx1"/>
                </a:solidFill>
              </a:rPr>
              <a:t>помощник – переводит естественный язык в события на временной шкале</a:t>
            </a:r>
            <a:endParaRPr lang="en-US" sz="1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Диспетчер может выбрать способ перераспределения бригад в результате события</a:t>
            </a:r>
            <a:r>
              <a:rPr lang="en-US" sz="1000" dirty="0" smtClean="0">
                <a:solidFill>
                  <a:schemeClr val="tx1"/>
                </a:solidFill>
              </a:rPr>
              <a:t>, </a:t>
            </a:r>
            <a:r>
              <a:rPr lang="ru-RU" sz="1000" dirty="0" smtClean="0">
                <a:solidFill>
                  <a:schemeClr val="tx1"/>
                </a:solidFill>
              </a:rPr>
              <a:t>либо вручную отдать заявку нужной бригаде</a:t>
            </a:r>
          </a:p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 </a:t>
            </a:r>
            <a:r>
              <a:rPr lang="ru-RU" sz="1000" dirty="0" smtClean="0">
                <a:solidFill>
                  <a:schemeClr val="tx1"/>
                </a:solidFill>
              </a:rPr>
              <a:t>Возможность выбора уровня загрузки инженеров, а также переключение обеда в течение дня</a:t>
            </a:r>
          </a:p>
          <a:p>
            <a:pPr marL="0" indent="0">
              <a:lnSpc>
                <a:spcPct val="100000"/>
              </a:lnSpc>
              <a:buFontTx/>
              <a:buChar char="-"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xmlns="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smtClean="0">
                <a:solidFill>
                  <a:schemeClr val="tx1"/>
                </a:solidFill>
              </a:rPr>
              <a:t>Радченко Руслан Дмитриевич</a:t>
            </a:r>
            <a:r>
              <a:rPr lang="en-US" dirty="0" smtClean="0">
                <a:solidFill>
                  <a:schemeClr val="tx1"/>
                </a:solidFill>
              </a:rPr>
              <a:t>, backend+</a:t>
            </a:r>
            <a:r>
              <a:rPr lang="ru-RU" dirty="0" smtClean="0">
                <a:solidFill>
                  <a:schemeClr val="tx1"/>
                </a:solidFill>
              </a:rPr>
              <a:t>алгоритмы</a:t>
            </a: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 smtClean="0">
                <a:solidFill>
                  <a:schemeClr val="tx1"/>
                </a:solidFill>
              </a:rPr>
              <a:t>2 человека</a:t>
            </a: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 smtClean="0">
                <a:solidFill>
                  <a:schemeClr val="tx1"/>
                </a:solidFill>
              </a:rPr>
              <a:t>Познакомились в чате по </a:t>
            </a:r>
            <a:r>
              <a:rPr lang="en-US" i="1" dirty="0" smtClean="0">
                <a:solidFill>
                  <a:schemeClr val="tx1"/>
                </a:solidFill>
              </a:rPr>
              <a:t>Python</a:t>
            </a:r>
            <a:r>
              <a:rPr lang="ru-RU" i="1" dirty="0" smtClean="0">
                <a:solidFill>
                  <a:schemeClr val="tx1"/>
                </a:solidFill>
              </a:rPr>
              <a:t> </a:t>
            </a:r>
            <a:endParaRPr lang="ru-RU" i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 smtClean="0">
                <a:solidFill>
                  <a:schemeClr val="tx1"/>
                </a:solidFill>
              </a:rPr>
              <a:t>Руслан работает на </a:t>
            </a:r>
            <a:r>
              <a:rPr lang="ru-RU" i="1" dirty="0" err="1" smtClean="0">
                <a:solidFill>
                  <a:schemeClr val="tx1"/>
                </a:solidFill>
              </a:rPr>
              <a:t>фрилансе</a:t>
            </a:r>
            <a:r>
              <a:rPr lang="en-US" i="1" dirty="0" smtClean="0">
                <a:solidFill>
                  <a:schemeClr val="tx1"/>
                </a:solidFill>
              </a:rPr>
              <a:t>, </a:t>
            </a:r>
            <a:r>
              <a:rPr lang="ru-RU" i="1" dirty="0" smtClean="0">
                <a:solidFill>
                  <a:schemeClr val="tx1"/>
                </a:solidFill>
              </a:rPr>
              <a:t>Мария работает не в </a:t>
            </a:r>
            <a:r>
              <a:rPr lang="en-US" i="1" dirty="0" smtClean="0">
                <a:solidFill>
                  <a:schemeClr val="tx1"/>
                </a:solidFill>
              </a:rPr>
              <a:t>IT</a:t>
            </a:r>
            <a:endParaRPr lang="ru-RU" i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</a:t>
            </a:r>
            <a:r>
              <a:rPr lang="ru-RU" b="1" dirty="0" smtClean="0">
                <a:solidFill>
                  <a:schemeClr val="tx1"/>
                </a:solidFill>
              </a:rPr>
              <a:t>: </a:t>
            </a:r>
            <a:r>
              <a:rPr lang="ru-RU" dirty="0" smtClean="0">
                <a:solidFill>
                  <a:schemeClr val="tx1"/>
                </a:solidFill>
              </a:rPr>
              <a:t>Москва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xmlns="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xmlns="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КОМАНДА </a:t>
            </a:r>
            <a:r>
              <a:rPr lang="en-US" sz="2400" dirty="0" smtClean="0">
                <a:solidFill>
                  <a:schemeClr val="accent5"/>
                </a:solidFill>
                <a:latin typeface="+mn-lt"/>
              </a:rPr>
              <a:t>“</a:t>
            </a:r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ДВОЕ ИЗ ЛАРЦА</a:t>
            </a:r>
            <a:r>
              <a:rPr lang="en-US" sz="2400" dirty="0" smtClean="0">
                <a:solidFill>
                  <a:schemeClr val="accent5"/>
                </a:solidFill>
                <a:latin typeface="+mn-lt"/>
              </a:rPr>
              <a:t>”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xmlns="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xmlns="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Решающий алгоритм на </a:t>
            </a:r>
            <a:r>
              <a:rPr lang="en-US" sz="1000" dirty="0" smtClean="0">
                <a:solidFill>
                  <a:schemeClr val="tx1"/>
                </a:solidFill>
              </a:rPr>
              <a:t>OR-tools, </a:t>
            </a:r>
            <a:r>
              <a:rPr lang="ru-RU" sz="1000" dirty="0" smtClean="0">
                <a:solidFill>
                  <a:schemeClr val="tx1"/>
                </a:solidFill>
              </a:rPr>
              <a:t>стек – </a:t>
            </a:r>
            <a:r>
              <a:rPr lang="en-US" sz="1000" dirty="0" smtClean="0">
                <a:solidFill>
                  <a:schemeClr val="tx1"/>
                </a:solidFill>
              </a:rPr>
              <a:t>Python</a:t>
            </a:r>
            <a:r>
              <a:rPr lang="en-US" sz="1000" dirty="0" smtClean="0">
                <a:solidFill>
                  <a:schemeClr val="tx1"/>
                </a:solidFill>
              </a:rPr>
              <a:t>, </a:t>
            </a:r>
            <a:r>
              <a:rPr lang="en-US" sz="1000" dirty="0" err="1" smtClean="0">
                <a:solidFill>
                  <a:schemeClr val="tx1"/>
                </a:solidFill>
              </a:rPr>
              <a:t>FastAPI</a:t>
            </a:r>
            <a:r>
              <a:rPr lang="en-US" sz="1000" dirty="0" smtClean="0">
                <a:solidFill>
                  <a:schemeClr val="tx1"/>
                </a:solidFill>
              </a:rPr>
              <a:t>, </a:t>
            </a:r>
            <a:r>
              <a:rPr lang="en-US" sz="1000" dirty="0" err="1" smtClean="0">
                <a:solidFill>
                  <a:schemeClr val="tx1"/>
                </a:solidFill>
              </a:rPr>
              <a:t>Postgres</a:t>
            </a:r>
            <a:r>
              <a:rPr lang="en-US" sz="1000" dirty="0" smtClean="0">
                <a:solidFill>
                  <a:schemeClr val="tx1"/>
                </a:solidFill>
              </a:rPr>
              <a:t>, </a:t>
            </a:r>
            <a:r>
              <a:rPr lang="en-US" sz="1000" dirty="0" smtClean="0">
                <a:solidFill>
                  <a:schemeClr val="tx1"/>
                </a:solidFill>
              </a:rPr>
              <a:t>React</a:t>
            </a:r>
            <a:r>
              <a:rPr lang="ru-RU" sz="1000" dirty="0" smtClean="0">
                <a:solidFill>
                  <a:schemeClr val="tx1"/>
                </a:solidFill>
              </a:rPr>
              <a:t>, использовали</a:t>
            </a:r>
            <a:r>
              <a:rPr lang="en-US" sz="1000" dirty="0" smtClean="0">
                <a:solidFill>
                  <a:schemeClr val="tx1"/>
                </a:solidFill>
              </a:rPr>
              <a:t> </a:t>
            </a:r>
            <a:r>
              <a:rPr lang="en-US" sz="1000" dirty="0" smtClean="0">
                <a:solidFill>
                  <a:schemeClr val="tx1"/>
                </a:solidFill>
              </a:rPr>
              <a:t>Claude Code </a:t>
            </a:r>
            <a:endParaRPr lang="ru-RU" sz="1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 </a:t>
            </a:r>
            <a:r>
              <a:rPr lang="ru-RU" sz="1000" dirty="0" smtClean="0">
                <a:solidFill>
                  <a:schemeClr val="tx1"/>
                </a:solidFill>
              </a:rPr>
              <a:t>Есть временная шкала с ползунком, показывающая состояние на любой момент времени</a:t>
            </a:r>
          </a:p>
          <a:p>
            <a:pPr marL="0" indent="0">
              <a:lnSpc>
                <a:spcPct val="100000"/>
              </a:lnSpc>
              <a:buFontTx/>
              <a:buChar char="-"/>
            </a:pPr>
            <a:r>
              <a:rPr lang="ru-RU" sz="1000" dirty="0" smtClean="0">
                <a:solidFill>
                  <a:schemeClr val="tx1"/>
                </a:solidFill>
              </a:rPr>
              <a:t> </a:t>
            </a:r>
            <a:r>
              <a:rPr lang="ru-RU" sz="1000" dirty="0" smtClean="0">
                <a:solidFill>
                  <a:schemeClr val="tx1"/>
                </a:solidFill>
              </a:rPr>
              <a:t>Поддерживается множество типов</a:t>
            </a:r>
            <a:r>
              <a:rPr lang="en-US" sz="1000" dirty="0" smtClean="0">
                <a:solidFill>
                  <a:schemeClr val="tx1"/>
                </a:solidFill>
              </a:rPr>
              <a:t> </a:t>
            </a:r>
            <a:r>
              <a:rPr lang="ru-RU" sz="1000" dirty="0" smtClean="0">
                <a:solidFill>
                  <a:schemeClr val="tx1"/>
                </a:solidFill>
              </a:rPr>
              <a:t>событий</a:t>
            </a:r>
            <a:r>
              <a:rPr lang="en-US" sz="1000" dirty="0" smtClean="0">
                <a:solidFill>
                  <a:schemeClr val="tx1"/>
                </a:solidFill>
              </a:rPr>
              <a:t>,</a:t>
            </a:r>
            <a:r>
              <a:rPr lang="ru-RU" sz="1000" dirty="0" smtClean="0">
                <a:solidFill>
                  <a:schemeClr val="tx1"/>
                </a:solidFill>
              </a:rPr>
              <a:t> ломающих расписание</a:t>
            </a:r>
            <a:r>
              <a:rPr lang="en-US" sz="1000" dirty="0" smtClean="0">
                <a:solidFill>
                  <a:schemeClr val="tx1"/>
                </a:solidFill>
              </a:rPr>
              <a:t>: </a:t>
            </a:r>
            <a:r>
              <a:rPr lang="ru-RU" sz="1000" dirty="0" smtClean="0">
                <a:solidFill>
                  <a:schemeClr val="tx1"/>
                </a:solidFill>
              </a:rPr>
              <a:t>поломка транспорта, недоступность инженера, срочная авария</a:t>
            </a:r>
            <a:r>
              <a:rPr lang="en-US" sz="1000" dirty="0" smtClean="0">
                <a:solidFill>
                  <a:schemeClr val="tx1"/>
                </a:solidFill>
              </a:rPr>
              <a:t>, …</a:t>
            </a:r>
          </a:p>
          <a:p>
            <a:pPr marL="0" indent="0">
              <a:lnSpc>
                <a:spcPct val="100000"/>
              </a:lnSpc>
              <a:buFontTx/>
              <a:buChar char="-"/>
            </a:pPr>
            <a:r>
              <a:rPr lang="en-US" sz="1000" dirty="0" smtClean="0">
                <a:solidFill>
                  <a:schemeClr val="tx1"/>
                </a:solidFill>
              </a:rPr>
              <a:t> </a:t>
            </a:r>
            <a:r>
              <a:rPr lang="ru-RU" sz="1000" dirty="0" smtClean="0">
                <a:solidFill>
                  <a:schemeClr val="tx1"/>
                </a:solidFill>
              </a:rPr>
              <a:t>Подробная визуализация происходящего на карте Москвы и области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xmlns="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977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xmlns="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xmlns="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UX, product design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chemeClr val="tx1"/>
                </a:solidFill>
              </a:rPr>
              <a:t>tg</a:t>
            </a:r>
            <a:r>
              <a:rPr lang="en-US" sz="1200" dirty="0" smtClean="0">
                <a:solidFill>
                  <a:schemeClr val="tx1"/>
                </a:solidFill>
              </a:rPr>
              <a:t> @</a:t>
            </a:r>
            <a:r>
              <a:rPr lang="en-US" sz="1200" dirty="0" err="1" smtClean="0">
                <a:solidFill>
                  <a:schemeClr val="tx1"/>
                </a:solidFill>
              </a:rPr>
              <a:t>polessshhh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+79777196837</a:t>
            </a:r>
            <a:endParaRPr lang="en-US" sz="1200" dirty="0" smtClean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Работает не в </a:t>
            </a:r>
            <a:r>
              <a:rPr lang="en-US" sz="1200" dirty="0" smtClean="0">
                <a:solidFill>
                  <a:schemeClr val="tx1"/>
                </a:solidFill>
              </a:rPr>
              <a:t>IT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xmlns="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Мария </a:t>
            </a:r>
            <a:r>
              <a:rPr lang="ru-RU" sz="1600" b="1" dirty="0" err="1" smtClean="0">
                <a:solidFill>
                  <a:schemeClr val="accent5"/>
                </a:solidFill>
              </a:rPr>
              <a:t>Выштак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xmlns="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xmlns="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5" name="Рисунок 24" descr="ЯЯЯЯ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5914" b="5914"/>
          <a:stretch>
            <a:fillRect/>
          </a:stretch>
        </p:blipFill>
        <p:spPr>
          <a:xfrm>
            <a:off x="581025" y="1816100"/>
            <a:ext cx="1722438" cy="1552575"/>
          </a:xfrm>
        </p:spPr>
      </p:pic>
      <p:pic>
        <p:nvPicPr>
          <p:cNvPr id="26" name="Рисунок 25" descr="МАРИЯ ХАКАТОН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5960" b="5960"/>
          <a:stretch>
            <a:fillRect/>
          </a:stretch>
        </p:blipFill>
        <p:spPr>
          <a:xfrm>
            <a:off x="2886075" y="1827213"/>
            <a:ext cx="1722438" cy="1541462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sz="1800" dirty="0" smtClean="0">
                <a:latin typeface="+mn-lt"/>
              </a:rPr>
              <a:t>КОМАНДА </a:t>
            </a:r>
            <a:r>
              <a:rPr lang="en-US" sz="1800" dirty="0" smtClean="0">
                <a:latin typeface="+mn-lt"/>
              </a:rPr>
              <a:t>“</a:t>
            </a:r>
            <a:r>
              <a:rPr lang="ru-RU" sz="1800" dirty="0" smtClean="0">
                <a:latin typeface="+mn-lt"/>
              </a:rPr>
              <a:t>ДВОЕ ИЗ ЛАРЦА</a:t>
            </a:r>
            <a:r>
              <a:rPr lang="en-US" sz="1800" dirty="0" smtClean="0">
                <a:latin typeface="+mn-lt"/>
              </a:rPr>
              <a:t>”</a:t>
            </a:r>
            <a:endParaRPr lang="ru-RU" sz="1800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err="1" smtClean="0">
                <a:solidFill>
                  <a:schemeClr val="tx1"/>
                </a:solidFill>
              </a:rPr>
              <a:t>Бэкенд+алгоритмы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chemeClr val="tx1"/>
                </a:solidFill>
              </a:rPr>
              <a:t>tg</a:t>
            </a:r>
            <a:r>
              <a:rPr lang="en-US" sz="1200" dirty="0" smtClean="0">
                <a:solidFill>
                  <a:schemeClr val="tx1"/>
                </a:solidFill>
              </a:rPr>
              <a:t> @</a:t>
            </a:r>
            <a:r>
              <a:rPr lang="en-US" sz="1200" dirty="0" err="1" smtClean="0">
                <a:solidFill>
                  <a:schemeClr val="tx1"/>
                </a:solidFill>
              </a:rPr>
              <a:t>kfkfkfo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+79167758044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err="1" smtClean="0">
                <a:solidFill>
                  <a:schemeClr val="tx1"/>
                </a:solidFill>
              </a:rPr>
              <a:t>Фриланс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xmlns="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Радченко Руслан</a:t>
            </a: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214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sz="1800" dirty="0" smtClean="0"/>
              <a:t>КОМАНДА </a:t>
            </a:r>
            <a:r>
              <a:rPr lang="en-US" sz="1800" dirty="0" smtClean="0"/>
              <a:t>“</a:t>
            </a:r>
            <a:r>
              <a:rPr lang="ru-RU" sz="1800" dirty="0" smtClean="0"/>
              <a:t>ДВОЕ ИЗ ЛАРЦА</a:t>
            </a:r>
            <a:r>
              <a:rPr lang="en-US" sz="1800" dirty="0" smtClean="0"/>
              <a:t>”</a:t>
            </a:r>
            <a:endParaRPr lang="ru-RU" sz="1800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xmlns="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>
                <a:solidFill>
                  <a:schemeClr val="tx1"/>
                </a:solidFill>
              </a:rPr>
              <a:t>Познакомились в чате по </a:t>
            </a:r>
            <a:r>
              <a:rPr lang="en-US" dirty="0" smtClean="0">
                <a:solidFill>
                  <a:schemeClr val="tx1"/>
                </a:solidFill>
              </a:rPr>
              <a:t>Python, </a:t>
            </a:r>
            <a:r>
              <a:rPr lang="ru-RU" dirty="0" smtClean="0">
                <a:solidFill>
                  <a:schemeClr val="tx1"/>
                </a:solidFill>
              </a:rPr>
              <a:t>это наш первый совместный </a:t>
            </a:r>
            <a:r>
              <a:rPr lang="ru-RU" dirty="0" err="1" smtClean="0">
                <a:solidFill>
                  <a:schemeClr val="tx1"/>
                </a:solidFill>
              </a:rPr>
              <a:t>хакатон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xmlns="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xmlns="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ru-RU" sz="1000" dirty="0" smtClean="0">
                <a:solidFill>
                  <a:srgbClr val="1C1D22"/>
                </a:solidFill>
              </a:rPr>
              <a:t>Выбор алгоритма. Перебрали варианты и остановились на поиске с временными окнами, а потом добирали качество: до четырёх стратегий поиска в отдельных процессах за тот же лимит времени.</a:t>
            </a:r>
          </a:p>
          <a:p>
            <a:pPr>
              <a:buClr>
                <a:schemeClr val="accent1"/>
              </a:buClr>
            </a:pPr>
            <a:r>
              <a:rPr lang="ru-RU" sz="1000" dirty="0" smtClean="0">
                <a:solidFill>
                  <a:srgbClr val="1C1D22"/>
                </a:solidFill>
              </a:rPr>
              <a:t>Подбор </a:t>
            </a:r>
            <a:r>
              <a:rPr lang="ru-RU" sz="1000" dirty="0" err="1" smtClean="0">
                <a:solidFill>
                  <a:srgbClr val="1C1D22"/>
                </a:solidFill>
              </a:rPr>
              <a:t>киллер-фич</a:t>
            </a:r>
            <a:r>
              <a:rPr lang="ru-RU" sz="1000" dirty="0" smtClean="0">
                <a:solidFill>
                  <a:srgbClr val="1C1D22"/>
                </a:solidFill>
              </a:rPr>
              <a:t>. Решали, что из задуманного действительно нужно диспетчеру: так появились варианты исправления с ценой решения, объяснения и шкала дня.</a:t>
            </a:r>
          </a:p>
          <a:p>
            <a:pPr>
              <a:buClr>
                <a:schemeClr val="accent1"/>
              </a:buClr>
            </a:pPr>
            <a:r>
              <a:rPr lang="ru-RU" sz="1000" dirty="0" smtClean="0">
                <a:solidFill>
                  <a:srgbClr val="1C1D22"/>
                </a:solidFill>
              </a:rPr>
              <a:t>В данных не было ни инженеров, ни длительностей, ни координат. Восстанавливали их по контрольному распределению и нормативам организаторов и описали каждое допущение.</a:t>
            </a:r>
          </a:p>
          <a:p>
            <a:pPr>
              <a:buClr>
                <a:schemeClr val="accent1"/>
              </a:buClr>
            </a:pPr>
            <a:r>
              <a:rPr lang="ru-RU" sz="1000" dirty="0" smtClean="0">
                <a:solidFill>
                  <a:srgbClr val="1C1D22"/>
                </a:solidFill>
              </a:rPr>
              <a:t>Адреса из выгрузки </a:t>
            </a:r>
            <a:r>
              <a:rPr lang="ru-RU" sz="1000" dirty="0" err="1" smtClean="0">
                <a:solidFill>
                  <a:srgbClr val="1C1D22"/>
                </a:solidFill>
              </a:rPr>
              <a:t>геокодер</a:t>
            </a:r>
            <a:r>
              <a:rPr lang="ru-RU" sz="1000" dirty="0" smtClean="0">
                <a:solidFill>
                  <a:srgbClr val="1C1D22"/>
                </a:solidFill>
              </a:rPr>
              <a:t> понимал через раз — написали свой разбор адреса и </a:t>
            </a:r>
            <a:r>
              <a:rPr lang="ru-RU" sz="1000" dirty="0" err="1" smtClean="0">
                <a:solidFill>
                  <a:srgbClr val="1C1D22"/>
                </a:solidFill>
              </a:rPr>
              <a:t>закэшировали</a:t>
            </a:r>
            <a:r>
              <a:rPr lang="ru-RU" sz="1000" dirty="0" smtClean="0">
                <a:solidFill>
                  <a:srgbClr val="1C1D22"/>
                </a:solidFill>
              </a:rPr>
              <a:t> результаты.</a:t>
            </a:r>
            <a:endParaRPr lang="ru-RU" sz="1000" dirty="0">
              <a:solidFill>
                <a:srgbClr val="1C1D22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xmlns="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xmlns="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mtClean="0">
                <a:solidFill>
                  <a:srgbClr val="1C1D22"/>
                </a:solidFill>
              </a:rPr>
              <a:t>Задачу выбрали потому, что у неё есть проверяемый ответ: в данных лежит распределение живых диспетчеров, и с ним можно честно сравниться.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xmlns="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xmlns="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xmlns="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xmlns="" val="203551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xmlns="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xmlns="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xmlns="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</a:pPr>
            <a:r>
              <a:rPr lang="ru-RU" sz="1400" dirty="0" smtClean="0">
                <a:solidFill>
                  <a:srgbClr val="1C1D22"/>
                </a:solidFill>
              </a:rPr>
              <a:t>Задача маршрутизации с окнами в </a:t>
            </a:r>
            <a:r>
              <a:rPr lang="ru-RU" sz="1400" dirty="0" err="1" smtClean="0">
                <a:solidFill>
                  <a:srgbClr val="1C1D22"/>
                </a:solidFill>
              </a:rPr>
              <a:t>OR-Tools</a:t>
            </a:r>
            <a:r>
              <a:rPr lang="ru-RU" sz="1400" dirty="0" smtClean="0">
                <a:solidFill>
                  <a:srgbClr val="1C1D22"/>
                </a:solidFill>
              </a:rPr>
              <a:t>: навыки, окна, смены, транспорт и оборудование; до четырёх стратегий поиска разом.</a:t>
            </a:r>
          </a:p>
          <a:p>
            <a:pPr>
              <a:buClr>
                <a:schemeClr val="accent1"/>
              </a:buClr>
            </a:pPr>
            <a:r>
              <a:rPr lang="ru-RU" sz="1400" dirty="0" smtClean="0">
                <a:solidFill>
                  <a:srgbClr val="1C1D22"/>
                </a:solidFill>
              </a:rPr>
              <a:t>Время и пробег по дорогам: OSRM с графом Москвы и области, общественный транспорт — </a:t>
            </a:r>
            <a:r>
              <a:rPr lang="ru-RU" sz="1400" dirty="0" smtClean="0">
                <a:solidFill>
                  <a:srgbClr val="1C1D22"/>
                </a:solidFill>
              </a:rPr>
              <a:t>данные из открытого </a:t>
            </a:r>
            <a:r>
              <a:rPr lang="en-US" sz="1400" dirty="0" smtClean="0">
                <a:solidFill>
                  <a:srgbClr val="1C1D22"/>
                </a:solidFill>
              </a:rPr>
              <a:t>API</a:t>
            </a:r>
            <a:r>
              <a:rPr lang="ru-RU" sz="1400" dirty="0" smtClean="0">
                <a:solidFill>
                  <a:srgbClr val="1C1D22"/>
                </a:solidFill>
              </a:rPr>
              <a:t>.</a:t>
            </a:r>
            <a:endParaRPr lang="ru-RU" sz="1400" dirty="0" smtClean="0">
              <a:solidFill>
                <a:srgbClr val="1C1D22"/>
              </a:solidFill>
            </a:endParaRPr>
          </a:p>
          <a:p>
            <a:pPr>
              <a:buClr>
                <a:schemeClr val="accent1"/>
              </a:buClr>
            </a:pPr>
            <a:r>
              <a:rPr lang="ru-RU" sz="1400" dirty="0" smtClean="0">
                <a:solidFill>
                  <a:srgbClr val="1C1D22"/>
                </a:solidFill>
              </a:rPr>
              <a:t>Утренний план ищется </a:t>
            </a:r>
            <a:r>
              <a:rPr lang="ru-RU" sz="1400" dirty="0" smtClean="0">
                <a:solidFill>
                  <a:srgbClr val="1C1D22"/>
                </a:solidFill>
              </a:rPr>
              <a:t>заранее, </a:t>
            </a:r>
            <a:r>
              <a:rPr lang="ru-RU" sz="1400" dirty="0" smtClean="0">
                <a:solidFill>
                  <a:srgbClr val="1C1D22"/>
                </a:solidFill>
              </a:rPr>
              <a:t>событие дня пересчитывается за секунды: начатые визиты закреплены, остаток дня решается заново.</a:t>
            </a:r>
          </a:p>
          <a:p>
            <a:pPr>
              <a:buClr>
                <a:schemeClr val="accent1"/>
              </a:buClr>
            </a:pPr>
            <a:r>
              <a:rPr lang="ru-RU" sz="1400" dirty="0" err="1" smtClean="0">
                <a:solidFill>
                  <a:srgbClr val="1C1D22"/>
                </a:solidFill>
              </a:rPr>
              <a:t>FastAPI</a:t>
            </a:r>
            <a:r>
              <a:rPr lang="ru-RU" sz="1400" dirty="0" smtClean="0">
                <a:solidFill>
                  <a:srgbClr val="1C1D22"/>
                </a:solidFill>
              </a:rPr>
              <a:t> и </a:t>
            </a:r>
            <a:r>
              <a:rPr lang="ru-RU" sz="1400" dirty="0" err="1" smtClean="0">
                <a:solidFill>
                  <a:srgbClr val="1C1D22"/>
                </a:solidFill>
              </a:rPr>
              <a:t>React</a:t>
            </a:r>
            <a:r>
              <a:rPr lang="ru-RU" sz="1400" dirty="0" smtClean="0">
                <a:solidFill>
                  <a:srgbClr val="1C1D22"/>
                </a:solidFill>
              </a:rPr>
              <a:t>, </a:t>
            </a:r>
            <a:r>
              <a:rPr lang="ru-RU" sz="1400" dirty="0" err="1" smtClean="0">
                <a:solidFill>
                  <a:srgbClr val="1C1D22"/>
                </a:solidFill>
              </a:rPr>
              <a:t>Postgres</a:t>
            </a:r>
            <a:r>
              <a:rPr lang="ru-RU" sz="1400" dirty="0" smtClean="0">
                <a:solidFill>
                  <a:srgbClr val="1C1D22"/>
                </a:solidFill>
              </a:rPr>
              <a:t>, </a:t>
            </a:r>
            <a:r>
              <a:rPr lang="ru-RU" sz="1400" dirty="0" err="1" smtClean="0">
                <a:solidFill>
                  <a:srgbClr val="1C1D22"/>
                </a:solidFill>
              </a:rPr>
              <a:t>Docker</a:t>
            </a:r>
            <a:r>
              <a:rPr lang="ru-RU" sz="1400" dirty="0" smtClean="0">
                <a:solidFill>
                  <a:srgbClr val="1C1D22"/>
                </a:solidFill>
              </a:rPr>
              <a:t>. Помощник на LLM только предлагает события — план меняет диспетчер.</a:t>
            </a:r>
            <a:endParaRPr lang="ru-RU" sz="1400" dirty="0">
              <a:solidFill>
                <a:srgbClr val="1C1D22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</a:pPr>
            <a:r>
              <a:rPr lang="ru-RU" sz="1400" dirty="0" smtClean="0">
                <a:solidFill>
                  <a:srgbClr val="1C1D22"/>
                </a:solidFill>
              </a:rPr>
              <a:t>−11 бригад в день на трёх регионах и −81 км </a:t>
            </a:r>
            <a:r>
              <a:rPr lang="ru-RU" sz="1400" dirty="0" smtClean="0">
                <a:solidFill>
                  <a:srgbClr val="1C1D22"/>
                </a:solidFill>
              </a:rPr>
              <a:t>по сравнению с  диспетчерами: </a:t>
            </a:r>
            <a:r>
              <a:rPr lang="ru-RU" sz="1400" dirty="0" smtClean="0">
                <a:solidFill>
                  <a:srgbClr val="1C1D22"/>
                </a:solidFill>
              </a:rPr>
              <a:t>освободившиеся смены — запас на аварии и новые заявки.</a:t>
            </a:r>
          </a:p>
          <a:p>
            <a:pPr>
              <a:buClr>
                <a:schemeClr val="accent1"/>
              </a:buClr>
            </a:pPr>
            <a:r>
              <a:rPr lang="ru-RU" sz="1400" dirty="0" smtClean="0">
                <a:solidFill>
                  <a:srgbClr val="1C1D22"/>
                </a:solidFill>
              </a:rPr>
              <a:t>Диспетчер видит, почему заявка у этой бригады, кому из клиентов позвонить и итоги дня.</a:t>
            </a:r>
          </a:p>
          <a:p>
            <a:pPr>
              <a:buClr>
                <a:schemeClr val="accent1"/>
              </a:buClr>
            </a:pPr>
            <a:r>
              <a:rPr lang="ru-RU" sz="1400" dirty="0" smtClean="0">
                <a:solidFill>
                  <a:srgbClr val="1C1D22"/>
                </a:solidFill>
              </a:rPr>
              <a:t>Развитие: модель помощника внутри контура </a:t>
            </a:r>
            <a:r>
              <a:rPr lang="ru-RU" sz="1400" dirty="0" err="1" smtClean="0">
                <a:solidFill>
                  <a:srgbClr val="1C1D22"/>
                </a:solidFill>
              </a:rPr>
              <a:t>Билайна</a:t>
            </a:r>
            <a:r>
              <a:rPr lang="ru-RU" sz="1400" dirty="0" smtClean="0">
                <a:solidFill>
                  <a:srgbClr val="1C1D22"/>
                </a:solidFill>
              </a:rPr>
              <a:t>, события от самих инженеров, пробки по моменту выезда, несколько регионов сразу</a:t>
            </a:r>
            <a:r>
              <a:rPr lang="ru-RU" sz="1400" dirty="0" smtClean="0">
                <a:solidFill>
                  <a:srgbClr val="1C1D22"/>
                </a:solidFill>
              </a:rPr>
              <a:t>. Расчет графа </a:t>
            </a:r>
            <a:r>
              <a:rPr lang="en-US" sz="1400" dirty="0" smtClean="0">
                <a:solidFill>
                  <a:srgbClr val="1C1D22"/>
                </a:solidFill>
              </a:rPr>
              <a:t>OSRM</a:t>
            </a:r>
            <a:r>
              <a:rPr lang="ru-RU" sz="1400" dirty="0" smtClean="0">
                <a:solidFill>
                  <a:srgbClr val="1C1D22"/>
                </a:solidFill>
              </a:rPr>
              <a:t> и маршрутов ночью</a:t>
            </a:r>
            <a:r>
              <a:rPr lang="en-US" sz="1400" dirty="0" smtClean="0">
                <a:solidFill>
                  <a:srgbClr val="1C1D22"/>
                </a:solidFill>
              </a:rPr>
              <a:t>. </a:t>
            </a:r>
            <a:r>
              <a:rPr lang="ru-RU" sz="1400" dirty="0" smtClean="0">
                <a:solidFill>
                  <a:srgbClr val="1C1D22"/>
                </a:solidFill>
              </a:rPr>
              <a:t>Исследование возможности динамического расчета времени в пути и планирования с учетом этого</a:t>
            </a:r>
            <a:r>
              <a:rPr lang="en-US" sz="1400" dirty="0" smtClean="0">
                <a:solidFill>
                  <a:srgbClr val="1C1D22"/>
                </a:solidFill>
              </a:rPr>
              <a:t>. </a:t>
            </a:r>
            <a:endParaRPr lang="ru-RU" sz="1400" dirty="0" smtClean="0">
              <a:solidFill>
                <a:srgbClr val="1C1D22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sz="2000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877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16" name="Карточка pill"/>
          <p:cNvSpPr/>
          <p:nvPr/>
        </p:nvSpPr>
        <p:spPr>
          <a:xfrm>
            <a:off x="347472" y="320040"/>
            <a:ext cx="383590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+mj-lt"/>
              </a:rPr>
              <a:t>ПРОБЛЕМА И РЕШЕНИЕ</a:t>
            </a:r>
          </a:p>
        </p:txBody>
      </p:sp>
      <p:sp>
        <p:nvSpPr>
          <p:cNvPr id="17" name="Карточка"/>
          <p:cNvSpPr/>
          <p:nvPr/>
        </p:nvSpPr>
        <p:spPr>
          <a:xfrm>
            <a:off x="548640" y="1325880"/>
            <a:ext cx="3566160" cy="4846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160020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15628" y="1554480"/>
            <a:ext cx="824852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7" y="2560320"/>
            <a:ext cx="3017520" cy="3710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 smtClean="0">
                <a:solidFill>
                  <a:srgbClr val="310F53"/>
                </a:solidFill>
                <a:latin typeface="+mj-lt"/>
              </a:rPr>
              <a:t>Проблема</a:t>
            </a:r>
            <a:endParaRPr sz="2100" b="1">
              <a:solidFill>
                <a:srgbClr val="310F53"/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7" y="3050286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</a:rPr>
              <a:t>Диспетчер вручную раскладывает </a:t>
            </a:r>
            <a:r>
              <a:rPr sz="1500" b="1">
                <a:solidFill>
                  <a:srgbClr val="FF0053"/>
                </a:solidFill>
              </a:rPr>
              <a:t>56–83 заявки</a:t>
            </a:r>
            <a:r>
              <a:rPr sz="1500" b="0">
                <a:solidFill>
                  <a:srgbClr val="1C1D22"/>
                </a:solidFill>
              </a:rPr>
              <a:t> в день на </a:t>
            </a:r>
            <a:r>
              <a:rPr sz="1500" b="1">
                <a:solidFill>
                  <a:srgbClr val="FF0053"/>
                </a:solidFill>
              </a:rPr>
              <a:t>11–12 бригад</a:t>
            </a:r>
            <a:r>
              <a:rPr sz="1500" b="0">
                <a:solidFill>
                  <a:srgbClr val="1C1D22"/>
                </a:solidFill>
              </a:rPr>
              <a:t>: окна клиентов, навыки, транспорт, смены.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C1D22"/>
                </a:solidFill>
              </a:rPr>
              <a:t>Базовый способ из ТЗ — «первой подходящей бригаде по порядку» — на Юго-востоке оставляет без исполнителя </a:t>
            </a:r>
            <a:r>
              <a:rPr sz="1500" b="1">
                <a:solidFill>
                  <a:srgbClr val="FF0053"/>
                </a:solidFill>
              </a:rPr>
              <a:t>34 заявки из 83</a:t>
            </a:r>
            <a:r>
              <a:rPr sz="1500" b="0">
                <a:solidFill>
                  <a:srgbClr val="1C1D22"/>
                </a:solidFill>
              </a:rPr>
              <a:t> и гоняет бригады на </a:t>
            </a:r>
            <a:r>
              <a:rPr sz="1500" b="1">
                <a:solidFill>
                  <a:srgbClr val="FF0053"/>
                </a:solidFill>
              </a:rPr>
              <a:t>1007 км</a:t>
            </a:r>
            <a:r>
              <a:rPr sz="1500" b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22" name="Карточка"/>
          <p:cNvSpPr/>
          <p:nvPr/>
        </p:nvSpPr>
        <p:spPr>
          <a:xfrm>
            <a:off x="4361688" y="1325880"/>
            <a:ext cx="3566160" cy="4846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54296" y="160020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87389" y="1554480"/>
            <a:ext cx="766138" cy="8686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54296" y="2560320"/>
            <a:ext cx="3017520" cy="3710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>
                <a:solidFill>
                  <a:srgbClr val="310F53"/>
                </a:solidFill>
                <a:latin typeface="+mj-lt"/>
              </a:rPr>
              <a:t>Что есть на рынке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050286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</a:rPr>
              <a:t>Платформы маршрутизации — Яндекс Маршрутизация, Veeroute, Relog — внешние сервисы: им отдают заявки и получают готовые маршруты.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C1D22"/>
                </a:solidFill>
              </a:rPr>
              <a:t>Объяснений решения на языке диспетчера мы у них </a:t>
            </a:r>
            <a:r>
              <a:rPr sz="1500" b="1">
                <a:solidFill>
                  <a:srgbClr val="FF0053"/>
                </a:solidFill>
              </a:rPr>
              <a:t>не нашли</a:t>
            </a:r>
            <a:r>
              <a:rPr sz="1500" b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27" name="Карточка"/>
          <p:cNvSpPr/>
          <p:nvPr/>
        </p:nvSpPr>
        <p:spPr>
          <a:xfrm>
            <a:off x="8174736" y="1325880"/>
            <a:ext cx="3566160" cy="4846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67344" y="160020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97896" y="1554480"/>
            <a:ext cx="868680" cy="868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67344" y="2560320"/>
            <a:ext cx="3017520" cy="3710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>
                <a:solidFill>
                  <a:srgbClr val="310F53"/>
                </a:solidFill>
                <a:latin typeface="Montserrat"/>
              </a:rPr>
              <a:t>Наше решение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050286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  <a:latin typeface="Montserrat"/>
              </a:rPr>
              <a:t>Помощник диспетчера: раскладывает день по бригадам, строит маршруты по дорогам Москвы и области, </a:t>
            </a:r>
            <a:r>
              <a:rPr sz="1500" b="1">
                <a:solidFill>
                  <a:srgbClr val="FF0053"/>
                </a:solidFill>
                <a:latin typeface="Montserrat"/>
              </a:rPr>
              <a:t>объясняет каждое назначение</a:t>
            </a:r>
            <a:r>
              <a:rPr sz="1500" b="0">
                <a:solidFill>
                  <a:srgbClr val="1C1D22"/>
                </a:solidFill>
                <a:latin typeface="Montserrat"/>
              </a:rPr>
              <a:t> и пересчитывает день на любое событие — </a:t>
            </a:r>
            <a:r>
              <a:rPr sz="1500" b="1">
                <a:solidFill>
                  <a:srgbClr val="FF0053"/>
                </a:solidFill>
                <a:latin typeface="Montserrat"/>
              </a:rPr>
              <a:t>с вариантами и ценой решения</a:t>
            </a:r>
            <a:r>
              <a:rPr sz="1500" b="0">
                <a:solidFill>
                  <a:srgbClr val="1C1D22"/>
                </a:solidFill>
                <a:latin typeface="Montserrat"/>
              </a:rPr>
              <a:t>.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310F53"/>
                </a:solidFill>
                <a:latin typeface="Montserrat"/>
              </a:rPr>
              <a:t>Последнее слово — за человеком.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Панель"/>
          <p:cNvSpPr/>
          <p:nvPr/>
        </p:nvSpPr>
        <p:spPr>
          <a:xfrm>
            <a:off x="0" y="0"/>
            <a:ext cx="6455664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310F53"/>
                </a:solidFill>
                <a:latin typeface="+mj-lt"/>
              </a:rPr>
              <a:t>ЭФФЕКТ НА ДАННЫХ БИЛАЙНА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A5670"/>
                </a:solidFill>
                <a:latin typeface="Montserrat"/>
              </a:rPr>
              <a:t>Один день — 17.08.2026, три настоящих региона: Восток, Юго-восток, Югоцентр, 205 заявок. Сравниваем с решениями живых диспетчеров.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2270" y="2377440"/>
            <a:ext cx="892820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2286000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600" b="1">
                <a:solidFill>
                  <a:srgbClr val="FF0053"/>
                </a:solidFill>
                <a:latin typeface="Montserrat"/>
              </a:rPr>
              <a:t>24</a:t>
            </a:r>
            <a:r>
              <a:rPr sz="1900" b="1">
                <a:solidFill>
                  <a:srgbClr val="310F53"/>
                </a:solidFill>
                <a:latin typeface="Montserrat"/>
              </a:rPr>
              <a:t> бригады вместо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71216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1C1D22"/>
                </a:solidFill>
                <a:latin typeface="Montserrat"/>
              </a:rPr>
              <a:t>−11 смен в день: у диспетчеров и базового варианта — все 35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3201" y="3355848"/>
            <a:ext cx="470958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326440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600" b="1">
                <a:solidFill>
                  <a:srgbClr val="FF0053"/>
                </a:solidFill>
                <a:latin typeface="Montserrat"/>
              </a:rPr>
              <a:t>775,5 км</a:t>
            </a:r>
            <a:r>
              <a:rPr sz="1900" b="1">
                <a:solidFill>
                  <a:srgbClr val="310F53"/>
                </a:solidFill>
                <a:latin typeface="Montserrat"/>
              </a:rPr>
              <a:t> вместо 856,7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49624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1C1D22"/>
                </a:solidFill>
                <a:latin typeface="Montserrat"/>
              </a:rPr>
              <a:t>−81 км к диспетчерам, −895 км к базовому варианту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0204" y="4334256"/>
            <a:ext cx="956952" cy="658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424281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600" b="1">
                <a:solidFill>
                  <a:srgbClr val="FF0053"/>
                </a:solidFill>
                <a:latin typeface="Montserrat"/>
              </a:rPr>
              <a:t>205</a:t>
            </a:r>
            <a:r>
              <a:rPr sz="1900" b="1">
                <a:solidFill>
                  <a:srgbClr val="310F53"/>
                </a:solidFill>
                <a:latin typeface="Montserrat"/>
              </a:rPr>
              <a:t> из 205 заявок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2803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1C1D22"/>
                </a:solidFill>
                <a:latin typeface="Montserrat"/>
              </a:rPr>
              <a:t>у диспетчеров — 203, у базового варианта — 144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43291" y="5312664"/>
            <a:ext cx="650777" cy="658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040" y="5221224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600" b="1">
                <a:solidFill>
                  <a:srgbClr val="FF0053"/>
                </a:solidFill>
                <a:latin typeface="Montserrat"/>
              </a:rPr>
              <a:t>0</a:t>
            </a:r>
            <a:r>
              <a:rPr sz="1900" b="1">
                <a:solidFill>
                  <a:srgbClr val="310F53"/>
                </a:solidFill>
                <a:latin typeface="Montserrat"/>
              </a:rPr>
              <a:t> нарушений окна, смены и плеча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806440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1C1D22"/>
                </a:solidFill>
                <a:latin typeface="Montserrat"/>
              </a:rPr>
              <a:t>у диспетчеров — 35 таких записей у 33 заявок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9963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A5670"/>
                </a:solidFill>
                <a:latin typeface="Montserrat"/>
              </a:rPr>
              <a:t>Нарушения — по нашей модели времени в пути (дороги OSRM). План диспетчеров — как в выгрузке, без обеда.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4" name="Карточка pill"/>
          <p:cNvSpPr/>
          <p:nvPr/>
        </p:nvSpPr>
        <p:spPr>
          <a:xfrm>
            <a:off x="347472" y="320040"/>
            <a:ext cx="395655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БРИГАДЫ: 24 ВМЕСТО 35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14300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440680"/>
            <a:ext cx="57150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9E4F2"/>
                </a:solidFill>
                <a:latin typeface="Montserrat"/>
              </a:rPr>
              <a:t>17.08.2026 · бригада = один выездной инженер. Базовый вариант из ТЗ: заявки по порядку поступления — первой подходящей бригаде. Дороги OSRM — у всех планов; план диспетчеров — как в выгрузке, без обеда.</a:t>
            </a:r>
          </a:p>
        </p:txBody>
      </p:sp>
      <p:sp>
        <p:nvSpPr>
          <p:cNvPr id="7" name="Карточка"/>
          <p:cNvSpPr/>
          <p:nvPr/>
        </p:nvSpPr>
        <p:spPr>
          <a:xfrm>
            <a:off x="6291072" y="1097280"/>
            <a:ext cx="5568696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65392" y="1344168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29844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0053"/>
                </a:solidFill>
                <a:latin typeface="Montserrat"/>
              </a:rPr>
              <a:t>−11 бригад в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847088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310F53"/>
                </a:solidFill>
                <a:latin typeface="Montserrat"/>
              </a:rPr>
              <a:t>24 вместо 35</a:t>
            </a:r>
            <a:r>
              <a:rPr sz="1400" b="0">
                <a:solidFill>
                  <a:srgbClr val="1C1D22"/>
                </a:solidFill>
                <a:latin typeface="Montserrat"/>
              </a:rPr>
              <a:t> на трёх регионах. Свободные смены — запас на аварии и новые заявки.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6291072" y="2788920"/>
            <a:ext cx="5568696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65392" y="3035808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299008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0053"/>
                </a:solidFill>
                <a:latin typeface="Montserrat"/>
              </a:rPr>
              <a:t>Меньше в каждом регионе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538727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Восток — </a:t>
            </a:r>
            <a:r>
              <a:rPr sz="1400" b="1">
                <a:solidFill>
                  <a:srgbClr val="FF0053"/>
                </a:solidFill>
                <a:latin typeface="Montserrat"/>
              </a:rPr>
              <a:t>8</a:t>
            </a:r>
            <a:r>
              <a:rPr sz="1400" b="0">
                <a:solidFill>
                  <a:srgbClr val="1C1D22"/>
                </a:solidFill>
                <a:latin typeface="Montserrat"/>
              </a:rPr>
              <a:t> вместо 12</a:t>
            </a:r>
          </a:p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Юго-восток — </a:t>
            </a:r>
            <a:r>
              <a:rPr sz="1400" b="1">
                <a:solidFill>
                  <a:srgbClr val="FF0053"/>
                </a:solidFill>
                <a:latin typeface="Montserrat"/>
              </a:rPr>
              <a:t>10</a:t>
            </a:r>
            <a:r>
              <a:rPr sz="1400" b="0">
                <a:solidFill>
                  <a:srgbClr val="1C1D22"/>
                </a:solidFill>
                <a:latin typeface="Montserrat"/>
              </a:rPr>
              <a:t> вместо 12</a:t>
            </a:r>
          </a:p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Югоцентр — </a:t>
            </a:r>
            <a:r>
              <a:rPr sz="1400" b="1">
                <a:solidFill>
                  <a:srgbClr val="FF0053"/>
                </a:solidFill>
                <a:latin typeface="Montserrat"/>
              </a:rPr>
              <a:t>6</a:t>
            </a:r>
            <a:r>
              <a:rPr sz="1400" b="0">
                <a:solidFill>
                  <a:srgbClr val="1C1D22"/>
                </a:solidFill>
                <a:latin typeface="Montserrat"/>
              </a:rPr>
              <a:t> вместо 11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6291072" y="4480560"/>
            <a:ext cx="5568696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65392" y="4727448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468172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0053"/>
                </a:solidFill>
                <a:latin typeface="Montserrat"/>
              </a:rPr>
              <a:t>И все заявки розданы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230368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0053"/>
                </a:solidFill>
                <a:latin typeface="Montserrat"/>
              </a:rPr>
              <a:t>0</a:t>
            </a:r>
            <a:r>
              <a:rPr sz="1400" b="0">
                <a:solidFill>
                  <a:srgbClr val="1C1D22"/>
                </a:solidFill>
                <a:latin typeface="Montserrat"/>
              </a:rPr>
              <a:t> без исполнителя. У базового варианта из ТЗ — 61, у диспетчеров —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Карточка pill"/>
          <p:cNvSpPr/>
          <p:nvPr/>
        </p:nvSpPr>
        <p:spPr>
          <a:xfrm>
            <a:off x="347472" y="320040"/>
            <a:ext cx="287451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ПРОБЕГ ЗА ДЕНЬ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612648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20840" y="120700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42048" y="1188720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0053"/>
                </a:solidFill>
                <a:latin typeface="Montserrat"/>
              </a:rPr>
              <a:t>775,5 км — наш план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1645920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chemeClr val="bg1"/>
                </a:solidFill>
                <a:latin typeface="Montserrat"/>
              </a:rPr>
              <a:t>Суммарный пробег трёх регионов за день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20840" y="242316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42048" y="2404872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0053"/>
                </a:solidFill>
                <a:latin typeface="Montserrat"/>
              </a:rPr>
              <a:t>−81 км к диспетчерам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862072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chemeClr val="bg1"/>
                </a:solidFill>
                <a:latin typeface="Montserrat"/>
              </a:rPr>
              <a:t>У живых диспетчеров Билайна — 856,7 км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720840" y="363931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42048" y="3621024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0053"/>
                </a:solidFill>
                <a:latin typeface="Montserrat"/>
              </a:rPr>
              <a:t>В 2,2 раза меньше базового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4078224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chemeClr val="bg1"/>
                </a:solidFill>
                <a:latin typeface="Montserrat"/>
              </a:rPr>
              <a:t>У базового варианта из ТЗ — 1670,1 км: −895 км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20840" y="4855464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42048" y="4837176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520977"/>
                </a:solidFill>
                <a:latin typeface="Montserrat"/>
              </a:rPr>
              <a:t>Юго-восток — честно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5294376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chemeClr val="bg1"/>
                </a:solidFill>
                <a:latin typeface="Montserrat"/>
              </a:rPr>
              <a:t>362 км против 343 у диспетчеров, зато 10 бригад вместо 12 и ни одного нарушения окна или смены против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Карточка pill"/>
          <p:cNvSpPr/>
          <p:nvPr/>
        </p:nvSpPr>
        <p:spPr>
          <a:xfrm>
            <a:off x="347472" y="320040"/>
            <a:ext cx="315772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205 ИЗ 205 ЗАЯВОК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Все заявки дня получают исполнителя — и ни одна не выходит за окно клиента, смену инженера или предел плеча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0100" y="1572768"/>
          <a:ext cx="26974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34440" y="2318004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sz="3800" b="1">
                <a:solidFill>
                  <a:schemeClr val="bg1"/>
                </a:solidFill>
                <a:latin typeface="Montserrat"/>
              </a:rP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032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без нарушений</a:t>
            </a:r>
          </a:p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из 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40740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700" b="1">
                <a:solidFill>
                  <a:schemeClr val="bg1"/>
                </a:solidFill>
                <a:latin typeface="Montserrat"/>
              </a:rPr>
              <a:t>Базовый вариант из ТЗ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47731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144 розданы</a:t>
            </a:r>
          </a:p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61 — без исполнителя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732020" y="1572768"/>
          <a:ext cx="26974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66360" y="2318004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sz="3800" b="1">
                <a:solidFill>
                  <a:schemeClr val="bg1"/>
                </a:solidFill>
                <a:latin typeface="Montserrat"/>
              </a:rPr>
              <a:t>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9032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без нарушений</a:t>
            </a:r>
          </a:p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из 205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40740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700" b="1">
                <a:solidFill>
                  <a:schemeClr val="bg1"/>
                </a:solidFill>
                <a:latin typeface="Montserrat"/>
              </a:rPr>
              <a:t>Диспетчеры Билайна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7731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203 розданы</a:t>
            </a:r>
          </a:p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у 33 — нарушение окна, смены или плеча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663940" y="1572768"/>
          <a:ext cx="26974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098280" y="2318004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sz="3800" b="1">
                <a:solidFill>
                  <a:schemeClr val="bg1"/>
                </a:solidFill>
                <a:latin typeface="Montserrat"/>
              </a:rPr>
              <a:t>205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9032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без нарушений</a:t>
            </a:r>
          </a:p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из 205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440740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700" b="1">
                <a:solidFill>
                  <a:srgbClr val="FF0053"/>
                </a:solidFill>
                <a:latin typeface="Montserrat"/>
              </a:rPr>
              <a:t>Наш план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78794" y="4389120"/>
            <a:ext cx="411480" cy="2830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2440" y="47731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205 розданы</a:t>
            </a:r>
          </a:p>
          <a:p>
            <a:pPr algn="ctr"/>
            <a:r>
              <a:rPr sz="1200" b="0">
                <a:solidFill>
                  <a:schemeClr val="bg1"/>
                </a:solidFill>
                <a:latin typeface="Montserrat"/>
              </a:rPr>
              <a:t>0 нарушений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56029" y="54772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12061" y="5422392"/>
            <a:ext cx="25679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chemeClr val="bg1"/>
                </a:solidFill>
                <a:latin typeface="Montserrat"/>
              </a:rPr>
              <a:t>назначены без нарушений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0001" y="54772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6033" y="5422392"/>
            <a:ext cx="4165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chemeClr val="bg1"/>
                </a:solidFill>
                <a:latin typeface="Montserrat"/>
              </a:rPr>
              <a:t>с нарушением окна, смены или предела плеча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01633" y="54772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D6E3"/>
          </a:solidFill>
          <a:ln w="6350">
            <a:solidFill>
              <a:srgbClr val="E7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57665" y="5422392"/>
            <a:ext cx="1778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chemeClr val="bg1"/>
                </a:solidFill>
                <a:latin typeface="Montserrat"/>
              </a:rPr>
              <a:t>без исполнителя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833872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chemeClr val="bg1"/>
                </a:solidFill>
                <a:latin typeface="Montserrat"/>
              </a:rPr>
              <a:t>Нарушения — по нашей модели времени в пути: у диспетчеров 35 записей у 33 из 203 розданных заявок. В самой выгрузке Билайна просрочено 10 заявок — диспетчеры работали по своим оценкам.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14" name="Карточка pill"/>
          <p:cNvSpPr/>
          <p:nvPr/>
        </p:nvSpPr>
        <p:spPr>
          <a:xfrm>
            <a:off x="347472" y="320040"/>
            <a:ext cx="354888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КАК ПРОХОДИТ ДЕНЬ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63040" y="3712463"/>
            <a:ext cx="9372600" cy="0"/>
          </a:xfrm>
          <a:prstGeom prst="line">
            <a:avLst/>
          </a:prstGeom>
          <a:ln w="2222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40" y="3090672"/>
            <a:ext cx="0" cy="356616"/>
          </a:xfrm>
          <a:prstGeom prst="line">
            <a:avLst/>
          </a:prstGeom>
          <a:ln w="1905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Карточка"/>
          <p:cNvSpPr/>
          <p:nvPr/>
        </p:nvSpPr>
        <p:spPr>
          <a:xfrm>
            <a:off x="365760" y="1188720"/>
            <a:ext cx="3566160" cy="1901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360" y="1389888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" y="13716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Загрузка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3154679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CSV выгрузки Билайна: регион — по адресу офиса, адреса — на карте, время в пути между всеми точками</a:t>
            </a:r>
          </a:p>
        </p:txBody>
      </p:sp>
      <p:sp>
        <p:nvSpPr>
          <p:cNvPr id="21" name="Шаг 1"/>
          <p:cNvSpPr/>
          <p:nvPr/>
        </p:nvSpPr>
        <p:spPr>
          <a:xfrm>
            <a:off x="1133856" y="3447288"/>
            <a:ext cx="658368" cy="53035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0" y="3977639"/>
            <a:ext cx="0" cy="338329"/>
          </a:xfrm>
          <a:prstGeom prst="line">
            <a:avLst/>
          </a:prstGeom>
          <a:ln w="1905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Карточка"/>
          <p:cNvSpPr/>
          <p:nvPr/>
        </p:nvSpPr>
        <p:spPr>
          <a:xfrm>
            <a:off x="365760" y="4315968"/>
            <a:ext cx="3566160" cy="1901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4360" y="4517136"/>
            <a:ext cx="42062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3000" y="44988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Ночной план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47488"/>
            <a:ext cx="3154679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Утренний план ищется ночью, как ежедневный батч: ≈4 ч 47 мин на регион. Утром он готов сразу</a:t>
            </a:r>
          </a:p>
        </p:txBody>
      </p:sp>
      <p:sp>
        <p:nvSpPr>
          <p:cNvPr id="27" name="Шаг 2"/>
          <p:cNvSpPr/>
          <p:nvPr/>
        </p:nvSpPr>
        <p:spPr>
          <a:xfrm>
            <a:off x="3008376" y="3447288"/>
            <a:ext cx="658368" cy="53035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79" y="3090672"/>
            <a:ext cx="0" cy="356616"/>
          </a:xfrm>
          <a:prstGeom prst="line">
            <a:avLst/>
          </a:prstGeom>
          <a:ln w="1905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Карточка"/>
          <p:cNvSpPr/>
          <p:nvPr/>
        </p:nvSpPr>
        <p:spPr>
          <a:xfrm>
            <a:off x="4206240" y="1188720"/>
            <a:ext cx="3566160" cy="1901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34840" y="1389888"/>
            <a:ext cx="420624" cy="4206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83479" y="13716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Карта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1920240"/>
            <a:ext cx="3154679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Маршруты бригад по дорогам, у каждой свой цвет. Метрики и сравнение с базовым вариантом и диспетчерами</a:t>
            </a:r>
          </a:p>
        </p:txBody>
      </p:sp>
      <p:sp>
        <p:nvSpPr>
          <p:cNvPr id="33" name="Шаг 3"/>
          <p:cNvSpPr/>
          <p:nvPr/>
        </p:nvSpPr>
        <p:spPr>
          <a:xfrm>
            <a:off x="4882895" y="3447288"/>
            <a:ext cx="658368" cy="53035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86600" y="3977639"/>
            <a:ext cx="0" cy="338329"/>
          </a:xfrm>
          <a:prstGeom prst="line">
            <a:avLst/>
          </a:prstGeom>
          <a:ln w="1905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Карточка"/>
          <p:cNvSpPr/>
          <p:nvPr/>
        </p:nvSpPr>
        <p:spPr>
          <a:xfrm>
            <a:off x="4206240" y="4315968"/>
            <a:ext cx="3566160" cy="1901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34840" y="4517136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83479" y="44988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«Почему?»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047488"/>
            <a:ext cx="3154679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Какие ограничения проверены, кто ещё мог взять заявку и во сколько км это обошлось бы</a:t>
            </a:r>
          </a:p>
        </p:txBody>
      </p:sp>
      <p:sp>
        <p:nvSpPr>
          <p:cNvPr id="39" name="Шаг 4"/>
          <p:cNvSpPr/>
          <p:nvPr/>
        </p:nvSpPr>
        <p:spPr>
          <a:xfrm>
            <a:off x="6757416" y="3447288"/>
            <a:ext cx="658368" cy="53035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961119" y="3090672"/>
            <a:ext cx="0" cy="356616"/>
          </a:xfrm>
          <a:prstGeom prst="line">
            <a:avLst/>
          </a:prstGeom>
          <a:ln w="1905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Карточка"/>
          <p:cNvSpPr/>
          <p:nvPr/>
        </p:nvSpPr>
        <p:spPr>
          <a:xfrm>
            <a:off x="8046720" y="1188720"/>
            <a:ext cx="3566160" cy="1901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275320" y="1389888"/>
            <a:ext cx="420624" cy="4206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823960" y="13716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Событие дня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1920240"/>
            <a:ext cx="3154679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Авария, болезнь, задержка, отмена. Если план ломается — часы останавливаются, сервис считает варианты, выбирает диспетчер</a:t>
            </a:r>
          </a:p>
        </p:txBody>
      </p:sp>
      <p:sp>
        <p:nvSpPr>
          <p:cNvPr id="45" name="Шаг 5"/>
          <p:cNvSpPr/>
          <p:nvPr/>
        </p:nvSpPr>
        <p:spPr>
          <a:xfrm>
            <a:off x="8631936" y="3447288"/>
            <a:ext cx="658368" cy="53035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835640" y="3977639"/>
            <a:ext cx="0" cy="338329"/>
          </a:xfrm>
          <a:prstGeom prst="line">
            <a:avLst/>
          </a:prstGeom>
          <a:ln w="1905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Карточка"/>
          <p:cNvSpPr/>
          <p:nvPr/>
        </p:nvSpPr>
        <p:spPr>
          <a:xfrm>
            <a:off x="8046720" y="4315968"/>
            <a:ext cx="3566160" cy="1901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275320" y="4517136"/>
            <a:ext cx="420624" cy="42062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23960" y="44988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Итоги дня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047488"/>
            <a:ext cx="3154679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1C1D22"/>
                </a:solidFill>
                <a:latin typeface="Montserrat"/>
              </a:rPr>
              <a:t>Утро против итога, события дня и звонки клиентам</a:t>
            </a:r>
          </a:p>
        </p:txBody>
      </p:sp>
      <p:sp>
        <p:nvSpPr>
          <p:cNvPr id="51" name="Шаг 6"/>
          <p:cNvSpPr/>
          <p:nvPr/>
        </p:nvSpPr>
        <p:spPr>
          <a:xfrm>
            <a:off x="10506456" y="3447288"/>
            <a:ext cx="658368" cy="53035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Карточка pill"/>
          <p:cNvSpPr/>
          <p:nvPr/>
        </p:nvSpPr>
        <p:spPr>
          <a:xfrm>
            <a:off x="347472" y="320040"/>
            <a:ext cx="5169408" cy="621792"/>
          </a:xfrm>
          <a:prstGeom prst="roundRect">
            <a:avLst>
              <a:gd name="adj" fmla="val 20588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СОБЫТИЕ ДНЯ И ЦЕНА РЕШЕНИЯ</a:t>
            </a:r>
          </a:p>
        </p:txBody>
      </p:sp>
      <p:sp>
        <p:nvSpPr>
          <p:cNvPr id="5" name="Карточка"/>
          <p:cNvSpPr/>
          <p:nvPr/>
        </p:nvSpPr>
        <p:spPr>
          <a:xfrm>
            <a:off x="347472" y="1234440"/>
            <a:ext cx="635508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399032"/>
            <a:ext cx="6025896" cy="2429288"/>
          </a:xfrm>
          <a:prstGeom prst="rect">
            <a:avLst/>
          </a:prstGeom>
          <a:ln w="9525">
            <a:solidFill>
              <a:srgbClr val="DCD6E6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6072" y="4139215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6152" y="4102639"/>
            <a:ext cx="5257800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310F53"/>
                </a:solidFill>
                <a:latin typeface="Montserrat"/>
              </a:rPr>
              <a:t>Восток, 10:00. Бригада Арташкин задерживается на 120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761007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Часы дня останавливаются на событии, сервис считает варианты и помечает рекомендуемый.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C1D22"/>
                </a:solidFill>
                <a:latin typeface="Montserrat"/>
              </a:rPr>
              <a:t>Выбирает диспетчер. Ползунок часов вернёт день до события.</a:t>
            </a:r>
          </a:p>
        </p:txBody>
      </p:sp>
      <p:sp>
        <p:nvSpPr>
          <p:cNvPr id="10" name="Чип"/>
          <p:cNvSpPr/>
          <p:nvPr/>
        </p:nvSpPr>
        <p:spPr>
          <a:xfrm>
            <a:off x="6885432" y="1234440"/>
            <a:ext cx="4974336" cy="914400"/>
          </a:xfrm>
          <a:prstGeom prst="roundRect">
            <a:avLst>
              <a:gd name="adj" fmla="val 14000"/>
            </a:avLst>
          </a:prstGeom>
          <a:solidFill>
            <a:srgbClr val="FFD6E4"/>
          </a:solidFill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86600" y="1490472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2672" y="1307592"/>
            <a:ext cx="40599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310F53"/>
                </a:solidFill>
                <a:latin typeface="Montserrat"/>
              </a:rPr>
              <a:t>Оптимально по дню</a:t>
            </a:r>
          </a:p>
        </p:txBody>
      </p:sp>
      <p:sp>
        <p:nvSpPr>
          <p:cNvPr id="13" name="Рекомендуем"/>
          <p:cNvSpPr/>
          <p:nvPr/>
        </p:nvSpPr>
        <p:spPr>
          <a:xfrm>
            <a:off x="9830562" y="1325880"/>
            <a:ext cx="1180846" cy="2468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Рекомендуем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1618488"/>
            <a:ext cx="4059936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8 бригад · 0 опозданий</a:t>
            </a:r>
          </a:p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7 переносов · 241,8 км</a:t>
            </a:r>
          </a:p>
        </p:txBody>
      </p:sp>
      <p:sp>
        <p:nvSpPr>
          <p:cNvPr id="15" name="Чип"/>
          <p:cNvSpPr/>
          <p:nvPr/>
        </p:nvSpPr>
        <p:spPr>
          <a:xfrm>
            <a:off x="6885432" y="2251710"/>
            <a:ext cx="497433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86600" y="2507742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62672" y="2324862"/>
            <a:ext cx="40599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310F53"/>
                </a:solidFill>
                <a:latin typeface="Montserrat"/>
              </a:rPr>
              <a:t>Минимум перестановок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2635758"/>
            <a:ext cx="4059936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9 бригад (+1) · 0 опозданий</a:t>
            </a:r>
          </a:p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2 переноса · 244,2 км</a:t>
            </a:r>
          </a:p>
        </p:txBody>
      </p:sp>
      <p:sp>
        <p:nvSpPr>
          <p:cNvPr id="19" name="Чип"/>
          <p:cNvSpPr/>
          <p:nvPr/>
        </p:nvSpPr>
        <p:spPr>
          <a:xfrm>
            <a:off x="6885432" y="3268980"/>
            <a:ext cx="497433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86600" y="3525012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62672" y="3342132"/>
            <a:ext cx="40599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310F53"/>
                </a:solidFill>
                <a:latin typeface="Montserrat"/>
              </a:rPr>
              <a:t>Ничего не менять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653028"/>
            <a:ext cx="4059936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8 бригад · </a:t>
            </a:r>
            <a:r>
              <a:rPr sz="1400" b="1">
                <a:solidFill>
                  <a:srgbClr val="FF0053"/>
                </a:solidFill>
                <a:latin typeface="Montserrat"/>
              </a:rPr>
              <a:t>4 опоздания</a:t>
            </a:r>
          </a:p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0 переносов · 241,8 км</a:t>
            </a:r>
          </a:p>
        </p:txBody>
      </p:sp>
      <p:sp>
        <p:nvSpPr>
          <p:cNvPr id="23" name="Чип"/>
          <p:cNvSpPr/>
          <p:nvPr/>
        </p:nvSpPr>
        <p:spPr>
          <a:xfrm>
            <a:off x="6885432" y="4286250"/>
            <a:ext cx="497433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86600" y="4542282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62672" y="4359402"/>
            <a:ext cx="40599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310F53"/>
                </a:solidFill>
                <a:latin typeface="Montserrat"/>
              </a:rPr>
              <a:t>Своя бригада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670298"/>
            <a:ext cx="4059936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Срочную заявку — бригаде по выбору диспетчера, с ценой против оптимума</a:t>
            </a:r>
          </a:p>
        </p:txBody>
      </p:sp>
      <p:sp>
        <p:nvSpPr>
          <p:cNvPr id="27" name="Чип"/>
          <p:cNvSpPr/>
          <p:nvPr/>
        </p:nvSpPr>
        <p:spPr>
          <a:xfrm>
            <a:off x="6885432" y="5303520"/>
            <a:ext cx="497433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86600" y="5559552"/>
            <a:ext cx="402336" cy="4023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62672" y="5376672"/>
            <a:ext cx="40599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310F53"/>
                </a:solidFill>
                <a:latin typeface="Montserrat"/>
              </a:rPr>
              <a:t>Словами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5687568"/>
            <a:ext cx="4059936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>
                <a:solidFill>
                  <a:srgbClr val="1C1D22"/>
                </a:solidFill>
                <a:latin typeface="Montserrat"/>
              </a:rPr>
              <a:t>«Арташкин заболел после обеда» — помощник предложит событие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16" name="Карточка pill"/>
          <p:cNvSpPr/>
          <p:nvPr/>
        </p:nvSpPr>
        <p:spPr>
          <a:xfrm>
            <a:off x="347472" y="320040"/>
            <a:ext cx="3691127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ЧЕМ МЫ ОТЛИЧАЕМСЯ</a:t>
            </a:r>
          </a:p>
        </p:txBody>
      </p:sp>
      <p:sp>
        <p:nvSpPr>
          <p:cNvPr id="17" name="Карточка"/>
          <p:cNvSpPr/>
          <p:nvPr/>
        </p:nvSpPr>
        <p:spPr>
          <a:xfrm>
            <a:off x="347472" y="1234440"/>
            <a:ext cx="2670048" cy="4937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Подложка иконки"/>
          <p:cNvSpPr/>
          <p:nvPr/>
        </p:nvSpPr>
        <p:spPr>
          <a:xfrm>
            <a:off x="576072" y="149047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1520" y="1645920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74519" y="15087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30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2606040"/>
            <a:ext cx="2258568" cy="8359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Сравнение с живыми диспетчерами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579114"/>
            <a:ext cx="2258568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  <a:latin typeface="Montserrat"/>
              </a:rPr>
              <a:t>Сравниваем не только с базовым вариантом из ТЗ, но и с тем, что в этот день сделали диспетчеры Билайна: </a:t>
            </a:r>
            <a:r>
              <a:rPr sz="1500" b="1">
                <a:solidFill>
                  <a:srgbClr val="FF0053"/>
                </a:solidFill>
                <a:latin typeface="Montserrat"/>
              </a:rPr>
              <a:t>24 бригады вместо 35</a:t>
            </a:r>
            <a:r>
              <a:rPr sz="1500" b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  <p:sp>
        <p:nvSpPr>
          <p:cNvPr id="23" name="Карточка"/>
          <p:cNvSpPr/>
          <p:nvPr/>
        </p:nvSpPr>
        <p:spPr>
          <a:xfrm>
            <a:off x="3291840" y="1234440"/>
            <a:ext cx="2670048" cy="4937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Подложка иконки"/>
          <p:cNvSpPr/>
          <p:nvPr/>
        </p:nvSpPr>
        <p:spPr>
          <a:xfrm>
            <a:off x="3520440" y="149047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75888" y="1645920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18888" y="15087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30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606040"/>
            <a:ext cx="2258568" cy="8359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Объяснение вместо чёрного ящика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579114"/>
            <a:ext cx="2258568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  <a:latin typeface="Montserrat"/>
              </a:rPr>
              <a:t>«Почему?» у каждой заявки и маршрута: проверки, кто ещё мог взять и за сколько км. Считается </a:t>
            </a:r>
            <a:r>
              <a:rPr sz="1500" b="1">
                <a:solidFill>
                  <a:srgbClr val="FF0053"/>
                </a:solidFill>
                <a:latin typeface="Montserrat"/>
              </a:rPr>
              <a:t>без нейросети</a:t>
            </a:r>
            <a:r>
              <a:rPr sz="1500" b="0">
                <a:solidFill>
                  <a:srgbClr val="1C1D22"/>
                </a:solidFill>
                <a:latin typeface="Montserrat"/>
              </a:rPr>
              <a:t>, теми же проверками, что и план.</a:t>
            </a:r>
          </a:p>
        </p:txBody>
      </p:sp>
      <p:sp>
        <p:nvSpPr>
          <p:cNvPr id="29" name="Карточка"/>
          <p:cNvSpPr/>
          <p:nvPr/>
        </p:nvSpPr>
        <p:spPr>
          <a:xfrm>
            <a:off x="6227064" y="1234440"/>
            <a:ext cx="2670048" cy="4937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Подложка иконки"/>
          <p:cNvSpPr/>
          <p:nvPr/>
        </p:nvSpPr>
        <p:spPr>
          <a:xfrm>
            <a:off x="6455664" y="149047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11112" y="1645920"/>
            <a:ext cx="512064" cy="5120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54112" y="15087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30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2606040"/>
            <a:ext cx="2258568" cy="8359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Цена решения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579114"/>
            <a:ext cx="2258568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  <a:latin typeface="Montserrat"/>
              </a:rPr>
              <a:t>Диспетчер не согласен с оптимизатором? Он отдаёт заявку своей бригаде и видит, </a:t>
            </a:r>
            <a:r>
              <a:rPr sz="1500" b="1">
                <a:solidFill>
                  <a:srgbClr val="FF0053"/>
                </a:solidFill>
                <a:latin typeface="Montserrat"/>
              </a:rPr>
              <a:t>во сколько км и переносов</a:t>
            </a:r>
            <a:r>
              <a:rPr sz="1500" b="0">
                <a:solidFill>
                  <a:srgbClr val="1C1D22"/>
                </a:solidFill>
                <a:latin typeface="Montserrat"/>
              </a:rPr>
              <a:t> это обходится против оптимума.</a:t>
            </a:r>
          </a:p>
        </p:txBody>
      </p:sp>
      <p:sp>
        <p:nvSpPr>
          <p:cNvPr id="35" name="Карточка"/>
          <p:cNvSpPr/>
          <p:nvPr/>
        </p:nvSpPr>
        <p:spPr>
          <a:xfrm>
            <a:off x="9171432" y="1234440"/>
            <a:ext cx="2670048" cy="4937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Подложка иконки"/>
          <p:cNvSpPr/>
          <p:nvPr/>
        </p:nvSpPr>
        <p:spPr>
          <a:xfrm>
            <a:off x="9400032" y="149047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555480" y="1645920"/>
            <a:ext cx="512064" cy="5120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698480" y="15087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30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2606040"/>
            <a:ext cx="2258568" cy="8359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Весь день на шкале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3579114"/>
            <a:ext cx="2258568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1C1D22"/>
                </a:solidFill>
                <a:latin typeface="Montserrat"/>
              </a:rPr>
              <a:t>План = утро + события до ползунка. Отвели часы назад — события нет. День можно </a:t>
            </a:r>
            <a:r>
              <a:rPr sz="1500" b="1">
                <a:solidFill>
                  <a:srgbClr val="FF0053"/>
                </a:solidFill>
                <a:latin typeface="Montserrat"/>
              </a:rPr>
              <a:t>проиграть и разобрать</a:t>
            </a:r>
            <a:r>
              <a:rPr sz="1500" b="0">
                <a:solidFill>
                  <a:srgbClr val="1C1D22"/>
                </a:solidFill>
                <a:latin typeface="Montserrat"/>
              </a:rPr>
              <a:t> по шагам.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16" name="Карточка pill"/>
          <p:cNvSpPr/>
          <p:nvPr/>
        </p:nvSpPr>
        <p:spPr>
          <a:xfrm>
            <a:off x="347472" y="320040"/>
            <a:ext cx="327202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КАК ЭТО УСТРОЕНО</a:t>
            </a:r>
          </a:p>
        </p:txBody>
      </p:sp>
      <p:sp>
        <p:nvSpPr>
          <p:cNvPr id="17" name="Подложка иконки"/>
          <p:cNvSpPr/>
          <p:nvPr/>
        </p:nvSpPr>
        <p:spPr>
          <a:xfrm>
            <a:off x="457200" y="1325880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2648" y="1481328"/>
            <a:ext cx="475488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44752" y="12618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151790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chemeClr val="bg1"/>
                </a:solidFill>
                <a:latin typeface="Montserrat"/>
              </a:rPr>
              <a:t>Оптимизатор OR-Tools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1975104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chemeClr val="bg1"/>
                </a:solidFill>
                <a:latin typeface="Montserrat"/>
              </a:rPr>
              <a:t>Маршрутизация с временными окнами: навыки, смены, транспорт, оборудование, обед. Цель: все заявки → меньше бригад → меньше км.</a:t>
            </a:r>
          </a:p>
        </p:txBody>
      </p:sp>
      <p:sp>
        <p:nvSpPr>
          <p:cNvPr id="22" name="Подложка иконки"/>
          <p:cNvSpPr/>
          <p:nvPr/>
        </p:nvSpPr>
        <p:spPr>
          <a:xfrm>
            <a:off x="457200" y="2971800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2648" y="3127248"/>
            <a:ext cx="47548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44752" y="29077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16382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chemeClr val="bg1"/>
                </a:solidFill>
                <a:latin typeface="Montserrat"/>
              </a:rPr>
              <a:t>До четырёх стратегий разом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621024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chemeClr val="bg1"/>
                </a:solidFill>
                <a:latin typeface="Montserrat"/>
              </a:rPr>
              <a:t>Сколько ядер — столько процессов за тот же лимит: направленный локальный поиск с двух стартов, отжиг, табу. Берём план с наименьшей стоимостью.</a:t>
            </a:r>
          </a:p>
        </p:txBody>
      </p:sp>
      <p:sp>
        <p:nvSpPr>
          <p:cNvPr id="27" name="Подложка иконки"/>
          <p:cNvSpPr/>
          <p:nvPr/>
        </p:nvSpPr>
        <p:spPr>
          <a:xfrm>
            <a:off x="457200" y="4617720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2648" y="4773168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44752" y="45537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80974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chemeClr val="bg1"/>
                </a:solidFill>
                <a:latin typeface="Montserrat"/>
              </a:rPr>
              <a:t>Ночной батч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5266944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ru-RU" sz="1350" dirty="0" smtClean="0">
                <a:solidFill>
                  <a:schemeClr val="bg1"/>
                </a:solidFill>
                <a:latin typeface="Montserrat"/>
              </a:rPr>
              <a:t>3ч </a:t>
            </a:r>
            <a:r>
              <a:rPr sz="1350" b="0" smtClean="0">
                <a:solidFill>
                  <a:schemeClr val="bg1"/>
                </a:solidFill>
                <a:latin typeface="Montserrat"/>
              </a:rPr>
              <a:t>поиска </a:t>
            </a:r>
            <a:r>
              <a:rPr sz="1350" b="0">
                <a:solidFill>
                  <a:schemeClr val="bg1"/>
                </a:solidFill>
                <a:latin typeface="Montserrat"/>
              </a:rPr>
              <a:t>на регион. За 30 секунд на Югоцентре выходит 7 бригад, за ночь — 6; на Юго-востоке 11 → 10.</a:t>
            </a:r>
          </a:p>
        </p:txBody>
      </p:sp>
      <p:sp>
        <p:nvSpPr>
          <p:cNvPr id="32" name="Подложка иконки"/>
          <p:cNvSpPr/>
          <p:nvPr/>
        </p:nvSpPr>
        <p:spPr>
          <a:xfrm>
            <a:off x="6263640" y="1325880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19088" y="1481328"/>
            <a:ext cx="475488" cy="4754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51192" y="12618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151790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chemeClr val="bg1"/>
                </a:solidFill>
                <a:latin typeface="Montserrat"/>
              </a:rPr>
              <a:t>Пересчёт за 5 секунд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1975104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chemeClr val="bg1"/>
                </a:solidFill>
                <a:latin typeface="Montserrat"/>
              </a:rPr>
              <a:t>Начатые визиты закреплены, остаток дня решается заново от текущей точки. Два варианта считаются одновременно.</a:t>
            </a:r>
          </a:p>
        </p:txBody>
      </p:sp>
      <p:sp>
        <p:nvSpPr>
          <p:cNvPr id="37" name="Подложка иконки"/>
          <p:cNvSpPr/>
          <p:nvPr/>
        </p:nvSpPr>
        <p:spPr>
          <a:xfrm>
            <a:off x="6263640" y="2971800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19088" y="3127248"/>
            <a:ext cx="475488" cy="4754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51192" y="29077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316382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chemeClr val="bg1"/>
                </a:solidFill>
                <a:latin typeface="Montserrat"/>
              </a:rPr>
              <a:t>Дороги, а не прямые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3621024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chemeClr val="bg1"/>
                </a:solidFill>
                <a:latin typeface="Montserrat"/>
              </a:rPr>
              <a:t>OSRM на графе Москвы и области из OpenStreetMap, пробки — коэффициентом часа. Общественный транспорт — матрицы 2ГИС.</a:t>
            </a:r>
          </a:p>
        </p:txBody>
      </p:sp>
      <p:sp>
        <p:nvSpPr>
          <p:cNvPr id="42" name="Подложка иконки"/>
          <p:cNvSpPr/>
          <p:nvPr/>
        </p:nvSpPr>
        <p:spPr>
          <a:xfrm>
            <a:off x="6263640" y="4617720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19088" y="4773168"/>
            <a:ext cx="475488" cy="47548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51192" y="45537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1192" y="480974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chemeClr val="bg1"/>
                </a:solidFill>
                <a:latin typeface="Montserrat"/>
              </a:rPr>
              <a:t>Воспроизводимо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5266944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chemeClr val="bg1"/>
                </a:solidFill>
                <a:latin typeface="Montserrat"/>
              </a:rPr>
              <a:t>Граф стенда — в публичном бакете, ночные планы — в репозитории: чистый клон показывает те же цифры. Выкат — только после зелёных тестов.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Карточка pill"/>
          <p:cNvSpPr/>
          <p:nvPr/>
        </p:nvSpPr>
        <p:spPr>
          <a:xfrm>
            <a:off x="347472" y="320040"/>
            <a:ext cx="493318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ОТЕЧЕСТВЕННОЕ ОБЛАКО И ИИ</a:t>
            </a:r>
          </a:p>
        </p:txBody>
      </p:sp>
      <p:cxnSp>
        <p:nvCxnSpPr>
          <p:cNvPr id="5" name="Google Shape;2799;p94">
            <a:extLst>
              <a:ext uri="{FF2B5EF4-FFF2-40B4-BE49-F238E27FC236}">
                <a16:creationId xmlns:a16="http://schemas.microsoft.com/office/drawing/2014/main" xmlns="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2980944" y="1819656"/>
            <a:ext cx="2523744" cy="9144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oogle Shape;2799;p94">
            <a:extLst>
              <a:ext uri="{FF2B5EF4-FFF2-40B4-BE49-F238E27FC236}">
                <a16:creationId xmlns:a16="http://schemas.microsoft.com/office/drawing/2014/main" xmlns="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76288" y="1819656"/>
            <a:ext cx="2532887" cy="9144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xmlns="" id="{2E5EC51C-6A42-A386-6730-F35F8E0CF56A}"/>
              </a:ext>
            </a:extLst>
          </p:cNvPr>
          <p:cNvSpPr/>
          <p:nvPr/>
        </p:nvSpPr>
        <p:spPr>
          <a:xfrm>
            <a:off x="1609343" y="1188720"/>
            <a:ext cx="1371600" cy="1261872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56815" y="1481328"/>
            <a:ext cx="676656" cy="676656"/>
          </a:xfrm>
          <a:prstGeom prst="rect">
            <a:avLst/>
          </a:prstGeom>
        </p:spPr>
      </p:pic>
      <p:sp>
        <p:nvSpPr>
          <p:cNvPr id="9" name="Карточка"/>
          <p:cNvSpPr/>
          <p:nvPr/>
        </p:nvSpPr>
        <p:spPr>
          <a:xfrm>
            <a:off x="429768" y="2697480"/>
            <a:ext cx="3730752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953512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Стенд в Yandex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75888"/>
            <a:ext cx="3182112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>
                <a:solidFill>
                  <a:srgbClr val="1C1D22"/>
                </a:solidFill>
                <a:latin typeface="Montserrat"/>
              </a:rPr>
              <a:t>Сервис, база дня и граф дорог — на одной машине в Yandex Cloud. HTTPS и закрытый доступ, выкат из GitHub Actions только после зелёных тестов, без долгоживущих ключей от облака.</a:t>
            </a:r>
          </a:p>
        </p:txBody>
      </p:sp>
      <p:sp>
        <p:nvSpPr>
          <p:cNvPr id="12" name="Скругленный прямоугольник 16">
            <a:extLst>
              <a:ext uri="{FF2B5EF4-FFF2-40B4-BE49-F238E27FC236}">
                <a16:creationId xmlns:a16="http://schemas.microsoft.com/office/drawing/2014/main" xmlns="" id="{10651A50-CFFD-C440-F1DF-F703C14C9202}"/>
              </a:ext>
            </a:extLst>
          </p:cNvPr>
          <p:cNvSpPr/>
          <p:nvPr/>
        </p:nvSpPr>
        <p:spPr>
          <a:xfrm>
            <a:off x="5504688" y="1188720"/>
            <a:ext cx="1371600" cy="1261872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81328"/>
            <a:ext cx="676656" cy="676656"/>
          </a:xfrm>
          <a:prstGeom prst="rect">
            <a:avLst/>
          </a:prstGeom>
        </p:spPr>
      </p:pic>
      <p:sp>
        <p:nvSpPr>
          <p:cNvPr id="14" name="Карточка"/>
          <p:cNvSpPr/>
          <p:nvPr/>
        </p:nvSpPr>
        <p:spPr>
          <a:xfrm>
            <a:off x="4325112" y="2697480"/>
            <a:ext cx="3730752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953512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Помощник на Yandex AI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675888"/>
            <a:ext cx="3182112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>
                <a:solidFill>
                  <a:srgbClr val="1C1D22"/>
                </a:solidFill>
                <a:latin typeface="Montserrat"/>
              </a:rPr>
              <a:t>Модель YandexGPT, запасная — там же. Модель только предлагает: каждое предложение проверяет код, план меняет диспетчер кнопкой «Применить».</a:t>
            </a:r>
          </a:p>
        </p:txBody>
      </p:sp>
      <p:sp>
        <p:nvSpPr>
          <p:cNvPr id="17" name="Скругленный прямоугольник 17">
            <a:extLst>
              <a:ext uri="{FF2B5EF4-FFF2-40B4-BE49-F238E27FC236}">
                <a16:creationId xmlns:a16="http://schemas.microsoft.com/office/drawing/2014/main" xmlns="" id="{4E66C5A3-A3C5-30B4-C393-E9B38DD05805}"/>
              </a:ext>
            </a:extLst>
          </p:cNvPr>
          <p:cNvSpPr/>
          <p:nvPr/>
        </p:nvSpPr>
        <p:spPr>
          <a:xfrm>
            <a:off x="9409176" y="1188720"/>
            <a:ext cx="1371600" cy="1261872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56648" y="1481328"/>
            <a:ext cx="676656" cy="676656"/>
          </a:xfrm>
          <a:prstGeom prst="rect">
            <a:avLst/>
          </a:prstGeom>
        </p:spPr>
      </p:pic>
      <p:sp>
        <p:nvSpPr>
          <p:cNvPr id="19" name="Карточка"/>
          <p:cNvSpPr/>
          <p:nvPr/>
        </p:nvSpPr>
        <p:spPr>
          <a:xfrm>
            <a:off x="8229600" y="2697480"/>
            <a:ext cx="3730752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953512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310F53"/>
                </a:solidFill>
                <a:latin typeface="Montserrat"/>
              </a:rPr>
              <a:t>Маршруты считаем сами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75888"/>
            <a:ext cx="3182112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>
                <a:solidFill>
                  <a:srgbClr val="1C1D22"/>
                </a:solidFill>
                <a:latin typeface="Montserrat"/>
              </a:rPr>
              <a:t>OR-Tools и OSRM — открытый код на нашем сервере: планы и пересчёты не уходят во внешние сервисы маршрутизации. Карта — Яндекс Карты, общественный транспорт — матрицы 2ГИС.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58978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Модель подключается по стандартному API — в промышленной версии её можно поставить </a:t>
            </a:r>
            <a:r>
              <a:rPr sz="1300" b="1">
                <a:solidFill>
                  <a:srgbClr val="FFD6E4"/>
                </a:solidFill>
                <a:latin typeface="Montserrat"/>
              </a:rPr>
              <a:t>внутрь контура Билайна</a:t>
            </a:r>
            <a:r>
              <a:rPr sz="1300" b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Карточка pill"/>
          <p:cNvSpPr/>
          <p:nvPr/>
        </p:nvSpPr>
        <p:spPr>
          <a:xfrm>
            <a:off x="347472" y="320040"/>
            <a:ext cx="3863848" cy="621792"/>
          </a:xfrm>
          <a:prstGeom prst="roundRect">
            <a:avLst>
              <a:gd name="adj" fmla="val 20588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ЧТО ЭТО ДАЁТ БИЗНЕСУ</a:t>
            </a:r>
          </a:p>
        </p:txBody>
      </p:sp>
      <p:grpSp>
        <p:nvGrpSpPr>
          <p:cNvPr id="2" name="Google Shape;2818;p94">
            <a:extLst>
              <a:ext uri="{FF2B5EF4-FFF2-40B4-BE49-F238E27FC236}">
                <a16:creationId xmlns:a16="http://schemas.microsoft.com/office/drawing/2014/main" xmlns="" id="{C0241749-B161-4D51-AE4A-9F151E800A9E}"/>
              </a:ext>
            </a:extLst>
          </p:cNvPr>
          <p:cNvGrpSpPr/>
          <p:nvPr/>
        </p:nvGrpSpPr>
        <p:grpSpPr>
          <a:xfrm>
            <a:off x="548640" y="1310713"/>
            <a:ext cx="658368" cy="652125"/>
            <a:chOff x="4078718" y="2222819"/>
            <a:chExt cx="340504" cy="339803"/>
          </a:xfrm>
        </p:grpSpPr>
        <p:sp>
          <p:nvSpPr>
            <p:cNvPr id="6" name="Google Shape;2819;p94">
              <a:extLst>
                <a:ext uri="{FF2B5EF4-FFF2-40B4-BE49-F238E27FC236}">
                  <a16:creationId xmlns:a16="http://schemas.microsoft.com/office/drawing/2014/main" xmlns="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" name="Google Shape;2820;p94">
              <a:extLst>
                <a:ext uri="{FF2B5EF4-FFF2-40B4-BE49-F238E27FC236}">
                  <a16:creationId xmlns:a16="http://schemas.microsoft.com/office/drawing/2014/main" xmlns="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2821;p94">
              <a:extLst>
                <a:ext uri="{FF2B5EF4-FFF2-40B4-BE49-F238E27FC236}">
                  <a16:creationId xmlns:a16="http://schemas.microsoft.com/office/drawing/2014/main" xmlns="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2822;p94">
              <a:extLst>
                <a:ext uri="{FF2B5EF4-FFF2-40B4-BE49-F238E27FC236}">
                  <a16:creationId xmlns:a16="http://schemas.microsoft.com/office/drawing/2014/main" xmlns="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2823;p94">
              <a:extLst>
                <a:ext uri="{FF2B5EF4-FFF2-40B4-BE49-F238E27FC236}">
                  <a16:creationId xmlns:a16="http://schemas.microsoft.com/office/drawing/2014/main" xmlns="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2824;p94">
              <a:extLst>
                <a:ext uri="{FF2B5EF4-FFF2-40B4-BE49-F238E27FC236}">
                  <a16:creationId xmlns:a16="http://schemas.microsoft.com/office/drawing/2014/main" xmlns="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2825;p94">
              <a:extLst>
                <a:ext uri="{FF2B5EF4-FFF2-40B4-BE49-F238E27FC236}">
                  <a16:creationId xmlns:a16="http://schemas.microsoft.com/office/drawing/2014/main" xmlns="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2826;p94">
              <a:extLst>
                <a:ext uri="{FF2B5EF4-FFF2-40B4-BE49-F238E27FC236}">
                  <a16:creationId xmlns:a16="http://schemas.microsoft.com/office/drawing/2014/main" xmlns="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2827;p94">
              <a:extLst>
                <a:ext uri="{FF2B5EF4-FFF2-40B4-BE49-F238E27FC236}">
                  <a16:creationId xmlns:a16="http://schemas.microsoft.com/office/drawing/2014/main" xmlns="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463040" y="1170432"/>
            <a:ext cx="3931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>
                <a:solidFill>
                  <a:srgbClr val="FF0053"/>
                </a:solidFill>
                <a:latin typeface="Montserrat"/>
              </a:rPr>
              <a:t>−11 смен в день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170432"/>
            <a:ext cx="6217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0">
                <a:solidFill>
                  <a:schemeClr val="bg1"/>
                </a:solidFill>
                <a:latin typeface="Montserrat"/>
              </a:rPr>
              <a:t>24 бригады вместо 35 закрывают все 205 заявок трёх регионов. Свободные смены — запас на аварии и новые заявки.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2103120"/>
            <a:ext cx="11292840" cy="0"/>
          </a:xfrm>
          <a:prstGeom prst="line">
            <a:avLst/>
          </a:prstGeom>
          <a:ln w="1270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oogle Shape;2829;p94">
            <a:extLst>
              <a:ext uri="{FF2B5EF4-FFF2-40B4-BE49-F238E27FC236}">
                <a16:creationId xmlns:a16="http://schemas.microsoft.com/office/drawing/2014/main" xmlns="" id="{4C77747E-B18D-4A2B-BA4F-6DC51DACDF20}"/>
              </a:ext>
            </a:extLst>
          </p:cNvPr>
          <p:cNvGrpSpPr/>
          <p:nvPr/>
        </p:nvGrpSpPr>
        <p:grpSpPr>
          <a:xfrm>
            <a:off x="548640" y="2262843"/>
            <a:ext cx="658368" cy="613240"/>
            <a:chOff x="3385734" y="2233242"/>
            <a:chExt cx="340504" cy="319542"/>
          </a:xfrm>
        </p:grpSpPr>
        <p:sp>
          <p:nvSpPr>
            <p:cNvPr id="19" name="Google Shape;2830;p94">
              <a:extLst>
                <a:ext uri="{FF2B5EF4-FFF2-40B4-BE49-F238E27FC236}">
                  <a16:creationId xmlns:a16="http://schemas.microsoft.com/office/drawing/2014/main" xmlns="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831;p94">
              <a:extLst>
                <a:ext uri="{FF2B5EF4-FFF2-40B4-BE49-F238E27FC236}">
                  <a16:creationId xmlns:a16="http://schemas.microsoft.com/office/drawing/2014/main" xmlns="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832;p94">
              <a:extLst>
                <a:ext uri="{FF2B5EF4-FFF2-40B4-BE49-F238E27FC236}">
                  <a16:creationId xmlns:a16="http://schemas.microsoft.com/office/drawing/2014/main" xmlns="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833;p94">
              <a:extLst>
                <a:ext uri="{FF2B5EF4-FFF2-40B4-BE49-F238E27FC236}">
                  <a16:creationId xmlns:a16="http://schemas.microsoft.com/office/drawing/2014/main" xmlns="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834;p94">
              <a:extLst>
                <a:ext uri="{FF2B5EF4-FFF2-40B4-BE49-F238E27FC236}">
                  <a16:creationId xmlns:a16="http://schemas.microsoft.com/office/drawing/2014/main" xmlns="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835;p94">
              <a:extLst>
                <a:ext uri="{FF2B5EF4-FFF2-40B4-BE49-F238E27FC236}">
                  <a16:creationId xmlns:a16="http://schemas.microsoft.com/office/drawing/2014/main" xmlns="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836;p94">
              <a:extLst>
                <a:ext uri="{FF2B5EF4-FFF2-40B4-BE49-F238E27FC236}">
                  <a16:creationId xmlns:a16="http://schemas.microsoft.com/office/drawing/2014/main" xmlns="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837;p94">
              <a:extLst>
                <a:ext uri="{FF2B5EF4-FFF2-40B4-BE49-F238E27FC236}">
                  <a16:creationId xmlns:a16="http://schemas.microsoft.com/office/drawing/2014/main" xmlns="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838;p94">
              <a:extLst>
                <a:ext uri="{FF2B5EF4-FFF2-40B4-BE49-F238E27FC236}">
                  <a16:creationId xmlns:a16="http://schemas.microsoft.com/office/drawing/2014/main" xmlns="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39;p94">
              <a:extLst>
                <a:ext uri="{FF2B5EF4-FFF2-40B4-BE49-F238E27FC236}">
                  <a16:creationId xmlns:a16="http://schemas.microsoft.com/office/drawing/2014/main" xmlns="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840;p94">
              <a:extLst>
                <a:ext uri="{FF2B5EF4-FFF2-40B4-BE49-F238E27FC236}">
                  <a16:creationId xmlns:a16="http://schemas.microsoft.com/office/drawing/2014/main" xmlns="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2841;p94">
              <a:extLst>
                <a:ext uri="{FF2B5EF4-FFF2-40B4-BE49-F238E27FC236}">
                  <a16:creationId xmlns:a16="http://schemas.microsoft.com/office/drawing/2014/main" xmlns="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2842;p94">
              <a:extLst>
                <a:ext uri="{FF2B5EF4-FFF2-40B4-BE49-F238E27FC236}">
                  <a16:creationId xmlns:a16="http://schemas.microsoft.com/office/drawing/2014/main" xmlns="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2843;p94">
              <a:extLst>
                <a:ext uri="{FF2B5EF4-FFF2-40B4-BE49-F238E27FC236}">
                  <a16:creationId xmlns:a16="http://schemas.microsoft.com/office/drawing/2014/main" xmlns="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463040" y="2103120"/>
            <a:ext cx="3931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>
                <a:solidFill>
                  <a:srgbClr val="FF0053"/>
                </a:solidFill>
                <a:latin typeface="Montserrat"/>
              </a:rPr>
              <a:t>−81 км в день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103120"/>
            <a:ext cx="6217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0">
                <a:solidFill>
                  <a:schemeClr val="bg1"/>
                </a:solidFill>
                <a:latin typeface="Montserrat"/>
              </a:rPr>
              <a:t>775,5 км против 856,7 у диспетчеров Билайна; против базового варианта из ТЗ — −895 км.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3035808"/>
            <a:ext cx="11292840" cy="0"/>
          </a:xfrm>
          <a:prstGeom prst="line">
            <a:avLst/>
          </a:prstGeom>
          <a:ln w="1270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360" y="3218688"/>
            <a:ext cx="566928" cy="5669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63040" y="3035808"/>
            <a:ext cx="3931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>
                <a:solidFill>
                  <a:srgbClr val="FF0053"/>
                </a:solidFill>
                <a:latin typeface="Montserrat"/>
              </a:rPr>
              <a:t>0 заявок вне окна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035808"/>
            <a:ext cx="6217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0">
                <a:solidFill>
                  <a:schemeClr val="bg1"/>
                </a:solidFill>
                <a:latin typeface="Montserrat"/>
              </a:rPr>
              <a:t>Обещанное клиенту окно держится. Кому всё-таки позвонить, собирает вкладка «Коммуникации».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3968496"/>
            <a:ext cx="11292840" cy="0"/>
          </a:xfrm>
          <a:prstGeom prst="line">
            <a:avLst/>
          </a:prstGeom>
          <a:ln w="1270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oogle Shape;2805;p94">
            <a:extLst>
              <a:ext uri="{FF2B5EF4-FFF2-40B4-BE49-F238E27FC236}">
                <a16:creationId xmlns:a16="http://schemas.microsoft.com/office/drawing/2014/main" xmlns="" id="{5E434E9D-30AC-45F0-A79E-53D93704F0BF}"/>
              </a:ext>
            </a:extLst>
          </p:cNvPr>
          <p:cNvGrpSpPr/>
          <p:nvPr/>
        </p:nvGrpSpPr>
        <p:grpSpPr>
          <a:xfrm>
            <a:off x="548640" y="4125114"/>
            <a:ext cx="658368" cy="619450"/>
            <a:chOff x="4754041" y="2231625"/>
            <a:chExt cx="340538" cy="322810"/>
          </a:xfrm>
        </p:grpSpPr>
        <p:sp>
          <p:nvSpPr>
            <p:cNvPr id="41" name="Google Shape;2806;p94">
              <a:extLst>
                <a:ext uri="{FF2B5EF4-FFF2-40B4-BE49-F238E27FC236}">
                  <a16:creationId xmlns:a16="http://schemas.microsoft.com/office/drawing/2014/main" xmlns="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2807;p94">
              <a:extLst>
                <a:ext uri="{FF2B5EF4-FFF2-40B4-BE49-F238E27FC236}">
                  <a16:creationId xmlns:a16="http://schemas.microsoft.com/office/drawing/2014/main" xmlns="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2808;p94">
              <a:extLst>
                <a:ext uri="{FF2B5EF4-FFF2-40B4-BE49-F238E27FC236}">
                  <a16:creationId xmlns:a16="http://schemas.microsoft.com/office/drawing/2014/main" xmlns="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2809;p94">
              <a:extLst>
                <a:ext uri="{FF2B5EF4-FFF2-40B4-BE49-F238E27FC236}">
                  <a16:creationId xmlns:a16="http://schemas.microsoft.com/office/drawing/2014/main" xmlns="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2810;p94">
              <a:extLst>
                <a:ext uri="{FF2B5EF4-FFF2-40B4-BE49-F238E27FC236}">
                  <a16:creationId xmlns:a16="http://schemas.microsoft.com/office/drawing/2014/main" xmlns="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2811;p94">
              <a:extLst>
                <a:ext uri="{FF2B5EF4-FFF2-40B4-BE49-F238E27FC236}">
                  <a16:creationId xmlns:a16="http://schemas.microsoft.com/office/drawing/2014/main" xmlns="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2812;p94">
              <a:extLst>
                <a:ext uri="{FF2B5EF4-FFF2-40B4-BE49-F238E27FC236}">
                  <a16:creationId xmlns:a16="http://schemas.microsoft.com/office/drawing/2014/main" xmlns="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2813;p94">
              <a:extLst>
                <a:ext uri="{FF2B5EF4-FFF2-40B4-BE49-F238E27FC236}">
                  <a16:creationId xmlns:a16="http://schemas.microsoft.com/office/drawing/2014/main" xmlns="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2814;p94">
              <a:extLst>
                <a:ext uri="{FF2B5EF4-FFF2-40B4-BE49-F238E27FC236}">
                  <a16:creationId xmlns:a16="http://schemas.microsoft.com/office/drawing/2014/main" xmlns="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2815;p94">
              <a:extLst>
                <a:ext uri="{FF2B5EF4-FFF2-40B4-BE49-F238E27FC236}">
                  <a16:creationId xmlns:a16="http://schemas.microsoft.com/office/drawing/2014/main" xmlns="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2816;p94">
              <a:extLst>
                <a:ext uri="{FF2B5EF4-FFF2-40B4-BE49-F238E27FC236}">
                  <a16:creationId xmlns:a16="http://schemas.microsoft.com/office/drawing/2014/main" xmlns="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5209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1463040" y="3968496"/>
            <a:ext cx="3931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>
                <a:solidFill>
                  <a:srgbClr val="FF0053"/>
                </a:solidFill>
                <a:latin typeface="Montserrat"/>
              </a:rPr>
              <a:t>План готов к утру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2120" y="3968496"/>
            <a:ext cx="6217920" cy="9326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0">
                <a:solidFill>
                  <a:schemeClr val="bg1"/>
                </a:solidFill>
                <a:latin typeface="Montserrat"/>
              </a:rPr>
              <a:t>Каждый регион ищется ночью, регионы параллельно; днём событие — за 5 секунд. Стенд — одна машина: 2 ядра, 4 ГБ памяти.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7200" y="4901183"/>
            <a:ext cx="11292840" cy="0"/>
          </a:xfrm>
          <a:prstGeom prst="line">
            <a:avLst/>
          </a:prstGeom>
          <a:ln w="1270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Формула"/>
          <p:cNvSpPr/>
          <p:nvPr/>
        </p:nvSpPr>
        <p:spPr>
          <a:xfrm>
            <a:off x="457200" y="5084064"/>
            <a:ext cx="11292840" cy="1179575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5800" y="5390388"/>
            <a:ext cx="566928" cy="5669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63040" y="5248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310F53"/>
                </a:solidFill>
                <a:latin typeface="Montserrat"/>
              </a:rPr>
              <a:t>Экономия в день = </a:t>
            </a:r>
            <a:r>
              <a:rPr sz="3000" b="1">
                <a:solidFill>
                  <a:srgbClr val="FF0053"/>
                </a:solidFill>
                <a:latin typeface="Montserrat"/>
              </a:rPr>
              <a:t>11</a:t>
            </a:r>
            <a:r>
              <a:rPr sz="2400" b="1">
                <a:solidFill>
                  <a:srgbClr val="310F53"/>
                </a:solidFill>
                <a:latin typeface="Montserrat"/>
              </a:rPr>
              <a:t> × смена бригады + </a:t>
            </a:r>
            <a:r>
              <a:rPr sz="3000" b="1">
                <a:solidFill>
                  <a:srgbClr val="FF0053"/>
                </a:solidFill>
                <a:latin typeface="Montserrat"/>
              </a:rPr>
              <a:t>81</a:t>
            </a:r>
            <a:r>
              <a:rPr sz="2400" b="1">
                <a:solidFill>
                  <a:srgbClr val="310F53"/>
                </a:solidFill>
                <a:latin typeface="Montserrat"/>
              </a:rPr>
              <a:t> × км пробега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86130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5A5670"/>
                </a:solidFill>
                <a:latin typeface="Montserrat"/>
              </a:rPr>
              <a:t>Ставок в данных нет — их подставит финансовая служба.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Карточка pill"/>
          <p:cNvSpPr/>
          <p:nvPr/>
        </p:nvSpPr>
        <p:spPr>
          <a:xfrm>
            <a:off x="347472" y="320040"/>
            <a:ext cx="3179318" cy="621792"/>
          </a:xfrm>
          <a:prstGeom prst="roundRect">
            <a:avLst>
              <a:gd name="adj" fmla="val 2058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1110" y="39319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>
                <a:solidFill>
                  <a:srgbClr val="E9E4F2"/>
                </a:solidFill>
                <a:latin typeface="Montserrat"/>
              </a:rPr>
              <a:t>Путь к промышленной версии</a:t>
            </a:r>
          </a:p>
        </p:txBody>
      </p:sp>
      <p:grpSp>
        <p:nvGrpSpPr>
          <p:cNvPr id="5" name="Google Shape;1509;p43">
            <a:extLst>
              <a:ext uri="{FF2B5EF4-FFF2-40B4-BE49-F238E27FC236}">
                <a16:creationId xmlns:a16="http://schemas.microsoft.com/office/drawing/2014/main" xmlns="" id="{6AD20828-2DC9-DF88-57BD-DA77E58AE56E}"/>
              </a:ext>
            </a:extLst>
          </p:cNvPr>
          <p:cNvGrpSpPr/>
          <p:nvPr/>
        </p:nvGrpSpPr>
        <p:grpSpPr>
          <a:xfrm flipH="1">
            <a:off x="4617720" y="1097280"/>
            <a:ext cx="2926080" cy="5257800"/>
            <a:chOff x="3088670" y="1930338"/>
            <a:chExt cx="380983" cy="684491"/>
          </a:xfrm>
          <a:solidFill>
            <a:schemeClr val="bg1">
              <a:alpha val="0"/>
            </a:schemeClr>
          </a:solidFill>
        </p:grpSpPr>
        <p:sp>
          <p:nvSpPr>
            <p:cNvPr id="6" name="Google Shape;1510;p43">
              <a:extLst>
                <a:ext uri="{FF2B5EF4-FFF2-40B4-BE49-F238E27FC236}">
                  <a16:creationId xmlns:a16="http://schemas.microsoft.com/office/drawing/2014/main" xmlns="" id="{69265BB5-4D45-FA77-3EF2-6AFCABD0A5F9}"/>
                </a:ext>
              </a:extLst>
            </p:cNvPr>
            <p:cNvSpPr/>
            <p:nvPr/>
          </p:nvSpPr>
          <p:spPr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1511;p43">
              <a:extLst>
                <a:ext uri="{FF2B5EF4-FFF2-40B4-BE49-F238E27FC236}">
                  <a16:creationId xmlns:a16="http://schemas.microsoft.com/office/drawing/2014/main" xmlns="" id="{B82ECF61-D8B3-B62B-83A2-BA74BB260F91}"/>
                </a:ext>
              </a:extLst>
            </p:cNvPr>
            <p:cNvSpPr/>
            <p:nvPr/>
          </p:nvSpPr>
          <p:spPr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1512;p43">
              <a:extLst>
                <a:ext uri="{FF2B5EF4-FFF2-40B4-BE49-F238E27FC236}">
                  <a16:creationId xmlns:a16="http://schemas.microsoft.com/office/drawing/2014/main" xmlns="" id="{FEE0F710-36C7-B271-F04F-0435CF30EE0E}"/>
                </a:ext>
              </a:extLst>
            </p:cNvPr>
            <p:cNvSpPr/>
            <p:nvPr/>
          </p:nvSpPr>
          <p:spPr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1513;p43">
              <a:extLst>
                <a:ext uri="{FF2B5EF4-FFF2-40B4-BE49-F238E27FC236}">
                  <a16:creationId xmlns:a16="http://schemas.microsoft.com/office/drawing/2014/main" xmlns="" id="{AB13CC26-F210-FAB1-31A0-112C2F46DDDF}"/>
                </a:ext>
              </a:extLst>
            </p:cNvPr>
            <p:cNvSpPr/>
            <p:nvPr/>
          </p:nvSpPr>
          <p:spPr>
            <a:xfrm>
              <a:off x="3216795" y="2193083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0"/>
                  </a:moveTo>
                  <a:cubicBezTo>
                    <a:pt x="4125" y="0"/>
                    <a:pt x="2125" y="1195"/>
                    <a:pt x="1306" y="3338"/>
                  </a:cubicBezTo>
                  <a:cubicBezTo>
                    <a:pt x="1" y="6752"/>
                    <a:pt x="2545" y="10371"/>
                    <a:pt x="6134" y="10371"/>
                  </a:cubicBezTo>
                  <a:cubicBezTo>
                    <a:pt x="6238" y="10371"/>
                    <a:pt x="6342" y="10368"/>
                    <a:pt x="6448" y="10362"/>
                  </a:cubicBezTo>
                  <a:lnTo>
                    <a:pt x="3716" y="7631"/>
                  </a:lnTo>
                  <a:lnTo>
                    <a:pt x="3693" y="7608"/>
                  </a:lnTo>
                  <a:cubicBezTo>
                    <a:pt x="2396" y="6242"/>
                    <a:pt x="2419" y="4096"/>
                    <a:pt x="3762" y="2764"/>
                  </a:cubicBezTo>
                  <a:cubicBezTo>
                    <a:pt x="4430" y="2101"/>
                    <a:pt x="5307" y="1769"/>
                    <a:pt x="6185" y="1769"/>
                  </a:cubicBezTo>
                  <a:cubicBezTo>
                    <a:pt x="7055" y="1769"/>
                    <a:pt x="7925" y="2096"/>
                    <a:pt x="8594" y="2753"/>
                  </a:cubicBezTo>
                  <a:lnTo>
                    <a:pt x="11325" y="5484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0"/>
                  </a:lnTo>
                  <a:lnTo>
                    <a:pt x="11325" y="4830"/>
                  </a:lnTo>
                  <a:cubicBezTo>
                    <a:pt x="11245" y="3579"/>
                    <a:pt x="10706" y="2408"/>
                    <a:pt x="9822" y="1525"/>
                  </a:cubicBezTo>
                  <a:cubicBezTo>
                    <a:pt x="8784" y="487"/>
                    <a:pt x="7466" y="0"/>
                    <a:pt x="616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1514;p43">
              <a:extLst>
                <a:ext uri="{FF2B5EF4-FFF2-40B4-BE49-F238E27FC236}">
                  <a16:creationId xmlns:a16="http://schemas.microsoft.com/office/drawing/2014/main" xmlns="" id="{3521F83B-00EE-CFA3-2F73-3E6ADF2D9C05}"/>
                </a:ext>
              </a:extLst>
            </p:cNvPr>
            <p:cNvSpPr/>
            <p:nvPr/>
          </p:nvSpPr>
          <p:spPr>
            <a:xfrm>
              <a:off x="3316610" y="2217792"/>
              <a:ext cx="150177" cy="26672"/>
            </a:xfrm>
            <a:custGeom>
              <a:avLst/>
              <a:gdLst/>
              <a:ahLst/>
              <a:cxnLst/>
              <a:rect l="l" t="t" r="r" b="b"/>
              <a:pathLst>
                <a:path w="20488" h="3640" extrusionOk="0">
                  <a:moveTo>
                    <a:pt x="18650" y="0"/>
                  </a:moveTo>
                  <a:cubicBezTo>
                    <a:pt x="18643" y="0"/>
                    <a:pt x="18636" y="0"/>
                    <a:pt x="18628" y="1"/>
                  </a:cubicBezTo>
                  <a:cubicBezTo>
                    <a:pt x="18043" y="1"/>
                    <a:pt x="17481" y="287"/>
                    <a:pt x="17148" y="781"/>
                  </a:cubicBezTo>
                  <a:cubicBezTo>
                    <a:pt x="16861" y="1194"/>
                    <a:pt x="16390" y="1447"/>
                    <a:pt x="15885" y="1458"/>
                  </a:cubicBezTo>
                  <a:lnTo>
                    <a:pt x="1" y="1458"/>
                  </a:lnTo>
                  <a:lnTo>
                    <a:pt x="1" y="2170"/>
                  </a:lnTo>
                  <a:lnTo>
                    <a:pt x="15885" y="2170"/>
                  </a:lnTo>
                  <a:cubicBezTo>
                    <a:pt x="16379" y="2170"/>
                    <a:pt x="16849" y="2422"/>
                    <a:pt x="17125" y="2835"/>
                  </a:cubicBezTo>
                  <a:cubicBezTo>
                    <a:pt x="17463" y="3342"/>
                    <a:pt x="18044" y="3639"/>
                    <a:pt x="18651" y="3639"/>
                  </a:cubicBezTo>
                  <a:cubicBezTo>
                    <a:pt x="18663" y="3639"/>
                    <a:pt x="18674" y="3639"/>
                    <a:pt x="18686" y="3639"/>
                  </a:cubicBezTo>
                  <a:cubicBezTo>
                    <a:pt x="19684" y="3616"/>
                    <a:pt x="20488" y="2790"/>
                    <a:pt x="20476" y="1791"/>
                  </a:cubicBezTo>
                  <a:cubicBezTo>
                    <a:pt x="20465" y="788"/>
                    <a:pt x="19650" y="0"/>
                    <a:pt x="1865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1515;p43">
              <a:extLst>
                <a:ext uri="{FF2B5EF4-FFF2-40B4-BE49-F238E27FC236}">
                  <a16:creationId xmlns:a16="http://schemas.microsoft.com/office/drawing/2014/main" xmlns="" id="{666AED2A-8FBD-6243-8E73-3C4565608E95}"/>
                </a:ext>
              </a:extLst>
            </p:cNvPr>
            <p:cNvSpPr/>
            <p:nvPr/>
          </p:nvSpPr>
          <p:spPr>
            <a:xfrm>
              <a:off x="3244021" y="2213249"/>
              <a:ext cx="55869" cy="55770"/>
            </a:xfrm>
            <a:custGeom>
              <a:avLst/>
              <a:gdLst/>
              <a:ahLst/>
              <a:cxnLst/>
              <a:rect l="l" t="t" r="r" b="b"/>
              <a:pathLst>
                <a:path w="7622" h="7611" extrusionOk="0">
                  <a:moveTo>
                    <a:pt x="4879" y="1"/>
                  </a:moveTo>
                  <a:lnTo>
                    <a:pt x="5093" y="214"/>
                  </a:lnTo>
                  <a:lnTo>
                    <a:pt x="5093" y="214"/>
                  </a:lnTo>
                  <a:cubicBezTo>
                    <a:pt x="5025" y="140"/>
                    <a:pt x="4954" y="69"/>
                    <a:pt x="4879" y="1"/>
                  </a:cubicBezTo>
                  <a:close/>
                  <a:moveTo>
                    <a:pt x="1" y="4879"/>
                  </a:moveTo>
                  <a:lnTo>
                    <a:pt x="1" y="4879"/>
                  </a:lnTo>
                  <a:cubicBezTo>
                    <a:pt x="64" y="4947"/>
                    <a:pt x="130" y="5012"/>
                    <a:pt x="197" y="5074"/>
                  </a:cubicBezTo>
                  <a:lnTo>
                    <a:pt x="197" y="5074"/>
                  </a:lnTo>
                  <a:lnTo>
                    <a:pt x="1" y="4879"/>
                  </a:lnTo>
                  <a:close/>
                  <a:moveTo>
                    <a:pt x="5093" y="214"/>
                  </a:moveTo>
                  <a:lnTo>
                    <a:pt x="5093" y="214"/>
                  </a:lnTo>
                  <a:cubicBezTo>
                    <a:pt x="6325" y="1553"/>
                    <a:pt x="6288" y="3654"/>
                    <a:pt x="4982" y="4970"/>
                  </a:cubicBezTo>
                  <a:cubicBezTo>
                    <a:pt x="4305" y="5648"/>
                    <a:pt x="3420" y="5984"/>
                    <a:pt x="2536" y="5984"/>
                  </a:cubicBezTo>
                  <a:cubicBezTo>
                    <a:pt x="1695" y="5984"/>
                    <a:pt x="855" y="5679"/>
                    <a:pt x="197" y="5074"/>
                  </a:cubicBezTo>
                  <a:lnTo>
                    <a:pt x="197" y="5074"/>
                  </a:lnTo>
                  <a:lnTo>
                    <a:pt x="2744" y="7610"/>
                  </a:lnTo>
                  <a:cubicBezTo>
                    <a:pt x="5349" y="7461"/>
                    <a:pt x="7438" y="5395"/>
                    <a:pt x="7622" y="2790"/>
                  </a:cubicBezTo>
                  <a:lnTo>
                    <a:pt x="7622" y="2732"/>
                  </a:lnTo>
                  <a:lnTo>
                    <a:pt x="5093" y="21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1516;p43">
              <a:extLst>
                <a:ext uri="{FF2B5EF4-FFF2-40B4-BE49-F238E27FC236}">
                  <a16:creationId xmlns:a16="http://schemas.microsoft.com/office/drawing/2014/main" xmlns="" id="{66D91352-55E4-9FE6-C6E3-F850D153AB7A}"/>
                </a:ext>
              </a:extLst>
            </p:cNvPr>
            <p:cNvSpPr/>
            <p:nvPr/>
          </p:nvSpPr>
          <p:spPr>
            <a:xfrm>
              <a:off x="3234354" y="2206046"/>
              <a:ext cx="55276" cy="50369"/>
            </a:xfrm>
            <a:custGeom>
              <a:avLst/>
              <a:gdLst/>
              <a:ahLst/>
              <a:cxnLst/>
              <a:rect l="l" t="t" r="r" b="b"/>
              <a:pathLst>
                <a:path w="7541" h="6874" extrusionOk="0">
                  <a:moveTo>
                    <a:pt x="3795" y="1"/>
                  </a:moveTo>
                  <a:cubicBezTo>
                    <a:pt x="2915" y="1"/>
                    <a:pt x="2036" y="337"/>
                    <a:pt x="1366" y="1007"/>
                  </a:cubicBezTo>
                  <a:cubicBezTo>
                    <a:pt x="23" y="2327"/>
                    <a:pt x="0" y="4473"/>
                    <a:pt x="1297" y="5839"/>
                  </a:cubicBezTo>
                  <a:lnTo>
                    <a:pt x="1320" y="5862"/>
                  </a:lnTo>
                  <a:cubicBezTo>
                    <a:pt x="1990" y="6537"/>
                    <a:pt x="2871" y="6873"/>
                    <a:pt x="3753" y="6873"/>
                  </a:cubicBezTo>
                  <a:cubicBezTo>
                    <a:pt x="4639" y="6873"/>
                    <a:pt x="5525" y="6534"/>
                    <a:pt x="6198" y="5862"/>
                  </a:cubicBezTo>
                  <a:cubicBezTo>
                    <a:pt x="7541" y="4507"/>
                    <a:pt x="7541" y="2327"/>
                    <a:pt x="6198" y="984"/>
                  </a:cubicBezTo>
                  <a:cubicBezTo>
                    <a:pt x="5531" y="328"/>
                    <a:pt x="4663" y="1"/>
                    <a:pt x="37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1517;p43">
              <a:extLst>
                <a:ext uri="{FF2B5EF4-FFF2-40B4-BE49-F238E27FC236}">
                  <a16:creationId xmlns:a16="http://schemas.microsoft.com/office/drawing/2014/main" xmlns="" id="{5AC70802-4373-914C-E4CB-98820ABC106F}"/>
                </a:ext>
              </a:extLst>
            </p:cNvPr>
            <p:cNvSpPr/>
            <p:nvPr/>
          </p:nvSpPr>
          <p:spPr>
            <a:xfrm>
              <a:off x="3216795" y="1980642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1"/>
                  </a:moveTo>
                  <a:cubicBezTo>
                    <a:pt x="4125" y="1"/>
                    <a:pt x="2125" y="1195"/>
                    <a:pt x="1306" y="3339"/>
                  </a:cubicBezTo>
                  <a:cubicBezTo>
                    <a:pt x="1" y="6752"/>
                    <a:pt x="2545" y="10372"/>
                    <a:pt x="6134" y="10372"/>
                  </a:cubicBezTo>
                  <a:cubicBezTo>
                    <a:pt x="6238" y="10372"/>
                    <a:pt x="6342" y="10369"/>
                    <a:pt x="6448" y="10363"/>
                  </a:cubicBezTo>
                  <a:lnTo>
                    <a:pt x="3716" y="7631"/>
                  </a:lnTo>
                  <a:cubicBezTo>
                    <a:pt x="3716" y="7620"/>
                    <a:pt x="3693" y="7608"/>
                    <a:pt x="3693" y="7608"/>
                  </a:cubicBezTo>
                  <a:cubicBezTo>
                    <a:pt x="2362" y="6242"/>
                    <a:pt x="2385" y="4073"/>
                    <a:pt x="3727" y="2730"/>
                  </a:cubicBezTo>
                  <a:cubicBezTo>
                    <a:pt x="4403" y="2066"/>
                    <a:pt x="5282" y="1733"/>
                    <a:pt x="6159" y="1733"/>
                  </a:cubicBezTo>
                  <a:cubicBezTo>
                    <a:pt x="7041" y="1733"/>
                    <a:pt x="7921" y="2069"/>
                    <a:pt x="8594" y="2742"/>
                  </a:cubicBezTo>
                  <a:lnTo>
                    <a:pt x="11325" y="5485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1"/>
                  </a:lnTo>
                  <a:lnTo>
                    <a:pt x="11325" y="4831"/>
                  </a:lnTo>
                  <a:cubicBezTo>
                    <a:pt x="11245" y="3580"/>
                    <a:pt x="10706" y="2397"/>
                    <a:pt x="9822" y="1525"/>
                  </a:cubicBezTo>
                  <a:cubicBezTo>
                    <a:pt x="8784" y="488"/>
                    <a:pt x="7466" y="1"/>
                    <a:pt x="616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1518;p43">
              <a:extLst>
                <a:ext uri="{FF2B5EF4-FFF2-40B4-BE49-F238E27FC236}">
                  <a16:creationId xmlns:a16="http://schemas.microsoft.com/office/drawing/2014/main" xmlns="" id="{7C54FE29-F223-A0D1-9AF0-D6159803DE3C}"/>
                </a:ext>
              </a:extLst>
            </p:cNvPr>
            <p:cNvSpPr/>
            <p:nvPr/>
          </p:nvSpPr>
          <p:spPr>
            <a:xfrm>
              <a:off x="3316610" y="2005358"/>
              <a:ext cx="153043" cy="26584"/>
            </a:xfrm>
            <a:custGeom>
              <a:avLst/>
              <a:gdLst/>
              <a:ahLst/>
              <a:cxnLst/>
              <a:rect l="l" t="t" r="r" b="b"/>
              <a:pathLst>
                <a:path w="20879" h="3628" extrusionOk="0">
                  <a:moveTo>
                    <a:pt x="18628" y="0"/>
                  </a:moveTo>
                  <a:cubicBezTo>
                    <a:pt x="18043" y="0"/>
                    <a:pt x="17481" y="287"/>
                    <a:pt x="17148" y="769"/>
                  </a:cubicBezTo>
                  <a:cubicBezTo>
                    <a:pt x="16861" y="1194"/>
                    <a:pt x="16390" y="1446"/>
                    <a:pt x="15885" y="1458"/>
                  </a:cubicBezTo>
                  <a:lnTo>
                    <a:pt x="1" y="1458"/>
                  </a:lnTo>
                  <a:lnTo>
                    <a:pt x="1" y="2169"/>
                  </a:lnTo>
                  <a:lnTo>
                    <a:pt x="15885" y="2169"/>
                  </a:lnTo>
                  <a:cubicBezTo>
                    <a:pt x="16379" y="2169"/>
                    <a:pt x="16849" y="2422"/>
                    <a:pt x="17125" y="2823"/>
                  </a:cubicBezTo>
                  <a:cubicBezTo>
                    <a:pt x="17490" y="3363"/>
                    <a:pt x="18064" y="3628"/>
                    <a:pt x="18635" y="3628"/>
                  </a:cubicBezTo>
                  <a:cubicBezTo>
                    <a:pt x="19268" y="3628"/>
                    <a:pt x="19897" y="3302"/>
                    <a:pt x="20235" y="2663"/>
                  </a:cubicBezTo>
                  <a:cubicBezTo>
                    <a:pt x="20878" y="1458"/>
                    <a:pt x="20006" y="0"/>
                    <a:pt x="186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1519;p43">
              <a:extLst>
                <a:ext uri="{FF2B5EF4-FFF2-40B4-BE49-F238E27FC236}">
                  <a16:creationId xmlns:a16="http://schemas.microsoft.com/office/drawing/2014/main" xmlns="" id="{DF4C52A4-58E1-BE43-6334-FD978B1B2C39}"/>
                </a:ext>
              </a:extLst>
            </p:cNvPr>
            <p:cNvSpPr/>
            <p:nvPr/>
          </p:nvSpPr>
          <p:spPr>
            <a:xfrm>
              <a:off x="3244021" y="2000727"/>
              <a:ext cx="55869" cy="55850"/>
            </a:xfrm>
            <a:custGeom>
              <a:avLst/>
              <a:gdLst/>
              <a:ahLst/>
              <a:cxnLst/>
              <a:rect l="l" t="t" r="r" b="b"/>
              <a:pathLst>
                <a:path w="7622" h="7622" extrusionOk="0">
                  <a:moveTo>
                    <a:pt x="4879" y="1"/>
                  </a:moveTo>
                  <a:cubicBezTo>
                    <a:pt x="6141" y="1367"/>
                    <a:pt x="6095" y="3478"/>
                    <a:pt x="4787" y="4787"/>
                  </a:cubicBezTo>
                  <a:cubicBezTo>
                    <a:pt x="4115" y="5459"/>
                    <a:pt x="3232" y="5798"/>
                    <a:pt x="2346" y="5798"/>
                  </a:cubicBezTo>
                  <a:cubicBezTo>
                    <a:pt x="1507" y="5798"/>
                    <a:pt x="666" y="5493"/>
                    <a:pt x="1" y="4879"/>
                  </a:cubicBezTo>
                  <a:lnTo>
                    <a:pt x="1" y="4879"/>
                  </a:lnTo>
                  <a:lnTo>
                    <a:pt x="2744" y="7622"/>
                  </a:lnTo>
                  <a:cubicBezTo>
                    <a:pt x="5349" y="7472"/>
                    <a:pt x="7438" y="5407"/>
                    <a:pt x="7622" y="2801"/>
                  </a:cubicBezTo>
                  <a:lnTo>
                    <a:pt x="7622" y="2732"/>
                  </a:lnTo>
                  <a:lnTo>
                    <a:pt x="48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1520;p43">
              <a:extLst>
                <a:ext uri="{FF2B5EF4-FFF2-40B4-BE49-F238E27FC236}">
                  <a16:creationId xmlns:a16="http://schemas.microsoft.com/office/drawing/2014/main" xmlns="" id="{111A1C22-E18A-CC76-C42A-ABEA1BB7DBE3}"/>
                </a:ext>
              </a:extLst>
            </p:cNvPr>
            <p:cNvSpPr/>
            <p:nvPr/>
          </p:nvSpPr>
          <p:spPr>
            <a:xfrm>
              <a:off x="3234098" y="1993392"/>
              <a:ext cx="55532" cy="50552"/>
            </a:xfrm>
            <a:custGeom>
              <a:avLst/>
              <a:gdLst/>
              <a:ahLst/>
              <a:cxnLst/>
              <a:rect l="l" t="t" r="r" b="b"/>
              <a:pathLst>
                <a:path w="7576" h="6899" extrusionOk="0">
                  <a:moveTo>
                    <a:pt x="3793" y="0"/>
                  </a:moveTo>
                  <a:cubicBezTo>
                    <a:pt x="2917" y="0"/>
                    <a:pt x="2041" y="333"/>
                    <a:pt x="1366" y="1002"/>
                  </a:cubicBezTo>
                  <a:cubicBezTo>
                    <a:pt x="24" y="2333"/>
                    <a:pt x="1" y="4514"/>
                    <a:pt x="1332" y="5868"/>
                  </a:cubicBezTo>
                  <a:cubicBezTo>
                    <a:pt x="1343" y="5880"/>
                    <a:pt x="1343" y="5880"/>
                    <a:pt x="1355" y="5891"/>
                  </a:cubicBezTo>
                  <a:cubicBezTo>
                    <a:pt x="2026" y="6563"/>
                    <a:pt x="2910" y="6898"/>
                    <a:pt x="3794" y="6898"/>
                  </a:cubicBezTo>
                  <a:cubicBezTo>
                    <a:pt x="4678" y="6898"/>
                    <a:pt x="5561" y="6563"/>
                    <a:pt x="6233" y="5891"/>
                  </a:cubicBezTo>
                  <a:cubicBezTo>
                    <a:pt x="7576" y="4537"/>
                    <a:pt x="7576" y="2356"/>
                    <a:pt x="6233" y="1013"/>
                  </a:cubicBezTo>
                  <a:cubicBezTo>
                    <a:pt x="5558" y="339"/>
                    <a:pt x="4676" y="0"/>
                    <a:pt x="379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1521;p43">
              <a:extLst>
                <a:ext uri="{FF2B5EF4-FFF2-40B4-BE49-F238E27FC236}">
                  <a16:creationId xmlns:a16="http://schemas.microsoft.com/office/drawing/2014/main" xmlns="" id="{9A18EE28-E650-4164-7F24-86D4C7141417}"/>
                </a:ext>
              </a:extLst>
            </p:cNvPr>
            <p:cNvSpPr/>
            <p:nvPr/>
          </p:nvSpPr>
          <p:spPr>
            <a:xfrm>
              <a:off x="3088670" y="2111564"/>
              <a:ext cx="139746" cy="26679"/>
            </a:xfrm>
            <a:custGeom>
              <a:avLst/>
              <a:gdLst/>
              <a:ahLst/>
              <a:cxnLst/>
              <a:rect l="l" t="t" r="r" b="b"/>
              <a:pathLst>
                <a:path w="19065" h="3641" extrusionOk="0">
                  <a:moveTo>
                    <a:pt x="2249" y="1"/>
                  </a:moveTo>
                  <a:cubicBezTo>
                    <a:pt x="1614" y="1"/>
                    <a:pt x="981" y="326"/>
                    <a:pt x="643" y="966"/>
                  </a:cubicBezTo>
                  <a:cubicBezTo>
                    <a:pt x="0" y="2171"/>
                    <a:pt x="873" y="3640"/>
                    <a:pt x="2250" y="3640"/>
                  </a:cubicBezTo>
                  <a:cubicBezTo>
                    <a:pt x="2847" y="3640"/>
                    <a:pt x="3409" y="3353"/>
                    <a:pt x="3742" y="2860"/>
                  </a:cubicBezTo>
                  <a:cubicBezTo>
                    <a:pt x="4029" y="2435"/>
                    <a:pt x="4488" y="2182"/>
                    <a:pt x="5004" y="2182"/>
                  </a:cubicBezTo>
                  <a:lnTo>
                    <a:pt x="19064" y="2182"/>
                  </a:lnTo>
                  <a:lnTo>
                    <a:pt x="19064" y="1459"/>
                  </a:lnTo>
                  <a:lnTo>
                    <a:pt x="5004" y="1459"/>
                  </a:lnTo>
                  <a:cubicBezTo>
                    <a:pt x="4499" y="1459"/>
                    <a:pt x="4040" y="1218"/>
                    <a:pt x="3765" y="805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1522;p43">
              <a:extLst>
                <a:ext uri="{FF2B5EF4-FFF2-40B4-BE49-F238E27FC236}">
                  <a16:creationId xmlns:a16="http://schemas.microsoft.com/office/drawing/2014/main" xmlns="" id="{484A8505-FF98-0534-8C42-9005BC1716C7}"/>
                </a:ext>
              </a:extLst>
            </p:cNvPr>
            <p:cNvSpPr/>
            <p:nvPr/>
          </p:nvSpPr>
          <p:spPr>
            <a:xfrm>
              <a:off x="3234603" y="2086687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7"/>
                  </a:lnTo>
                  <a:lnTo>
                    <a:pt x="3283" y="5577"/>
                  </a:lnTo>
                  <a:cubicBezTo>
                    <a:pt x="3471" y="8312"/>
                    <a:pt x="5753" y="10406"/>
                    <a:pt x="8459" y="10406"/>
                  </a:cubicBezTo>
                  <a:cubicBezTo>
                    <a:pt x="8558" y="10406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43"/>
                  </a:lnTo>
                  <a:cubicBezTo>
                    <a:pt x="4672" y="6278"/>
                    <a:pt x="4683" y="4108"/>
                    <a:pt x="6038" y="2766"/>
                  </a:cubicBezTo>
                  <a:cubicBezTo>
                    <a:pt x="6708" y="2101"/>
                    <a:pt x="7586" y="1768"/>
                    <a:pt x="8465" y="1768"/>
                  </a:cubicBezTo>
                  <a:cubicBezTo>
                    <a:pt x="9348" y="1768"/>
                    <a:pt x="10231" y="2104"/>
                    <a:pt x="10904" y="2777"/>
                  </a:cubicBezTo>
                  <a:lnTo>
                    <a:pt x="13635" y="5520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1523;p43">
              <a:extLst>
                <a:ext uri="{FF2B5EF4-FFF2-40B4-BE49-F238E27FC236}">
                  <a16:creationId xmlns:a16="http://schemas.microsoft.com/office/drawing/2014/main" xmlns="" id="{1794A26E-5BF1-101C-78C5-42FCAA655D06}"/>
                </a:ext>
              </a:extLst>
            </p:cNvPr>
            <p:cNvSpPr/>
            <p:nvPr/>
          </p:nvSpPr>
          <p:spPr>
            <a:xfrm>
              <a:off x="3278765" y="2107116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1"/>
                  </a:move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5"/>
                    <a:pt x="2435" y="5885"/>
                  </a:cubicBezTo>
                  <a:cubicBezTo>
                    <a:pt x="1552" y="5885"/>
                    <a:pt x="672" y="5550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1"/>
                    <a:pt x="7460" y="5360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1524;p43">
              <a:extLst>
                <a:ext uri="{FF2B5EF4-FFF2-40B4-BE49-F238E27FC236}">
                  <a16:creationId xmlns:a16="http://schemas.microsoft.com/office/drawing/2014/main" xmlns="" id="{26C30FE8-ABD6-F1F7-6172-5177E3E8DAA2}"/>
                </a:ext>
              </a:extLst>
            </p:cNvPr>
            <p:cNvSpPr/>
            <p:nvPr/>
          </p:nvSpPr>
          <p:spPr>
            <a:xfrm>
              <a:off x="3268754" y="2099693"/>
              <a:ext cx="54938" cy="49864"/>
            </a:xfrm>
            <a:custGeom>
              <a:avLst/>
              <a:gdLst/>
              <a:ahLst/>
              <a:cxnLst/>
              <a:rect l="l" t="t" r="r" b="b"/>
              <a:pathLst>
                <a:path w="7495" h="6805" extrusionOk="0">
                  <a:moveTo>
                    <a:pt x="3792" y="1"/>
                  </a:moveTo>
                  <a:cubicBezTo>
                    <a:pt x="2917" y="1"/>
                    <a:pt x="2040" y="333"/>
                    <a:pt x="1366" y="1002"/>
                  </a:cubicBezTo>
                  <a:cubicBezTo>
                    <a:pt x="23" y="2333"/>
                    <a:pt x="0" y="4514"/>
                    <a:pt x="1332" y="5868"/>
                  </a:cubicBezTo>
                  <a:lnTo>
                    <a:pt x="1332" y="5857"/>
                  </a:lnTo>
                  <a:lnTo>
                    <a:pt x="1355" y="5891"/>
                  </a:lnTo>
                  <a:cubicBezTo>
                    <a:pt x="2019" y="6500"/>
                    <a:pt x="2860" y="6804"/>
                    <a:pt x="3700" y="6804"/>
                  </a:cubicBezTo>
                  <a:cubicBezTo>
                    <a:pt x="4585" y="6804"/>
                    <a:pt x="5469" y="6466"/>
                    <a:pt x="6141" y="5788"/>
                  </a:cubicBezTo>
                  <a:cubicBezTo>
                    <a:pt x="7449" y="4480"/>
                    <a:pt x="7495" y="2368"/>
                    <a:pt x="6232" y="1014"/>
                  </a:cubicBezTo>
                  <a:cubicBezTo>
                    <a:pt x="5558" y="339"/>
                    <a:pt x="4675" y="1"/>
                    <a:pt x="379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1525;p43">
              <a:extLst>
                <a:ext uri="{FF2B5EF4-FFF2-40B4-BE49-F238E27FC236}">
                  <a16:creationId xmlns:a16="http://schemas.microsoft.com/office/drawing/2014/main" xmlns="" id="{5C74BD1F-B2EC-F4B9-2660-DF742533D854}"/>
                </a:ext>
              </a:extLst>
            </p:cNvPr>
            <p:cNvSpPr/>
            <p:nvPr/>
          </p:nvSpPr>
          <p:spPr>
            <a:xfrm>
              <a:off x="3088670" y="2323456"/>
              <a:ext cx="139746" cy="26716"/>
            </a:xfrm>
            <a:custGeom>
              <a:avLst/>
              <a:gdLst/>
              <a:ahLst/>
              <a:cxnLst/>
              <a:rect l="l" t="t" r="r" b="b"/>
              <a:pathLst>
                <a:path w="19065" h="3646" extrusionOk="0">
                  <a:moveTo>
                    <a:pt x="2249" y="1"/>
                  </a:moveTo>
                  <a:cubicBezTo>
                    <a:pt x="1614" y="1"/>
                    <a:pt x="981" y="327"/>
                    <a:pt x="643" y="960"/>
                  </a:cubicBezTo>
                  <a:cubicBezTo>
                    <a:pt x="0" y="2177"/>
                    <a:pt x="873" y="3646"/>
                    <a:pt x="2250" y="3646"/>
                  </a:cubicBezTo>
                  <a:cubicBezTo>
                    <a:pt x="2847" y="3646"/>
                    <a:pt x="3398" y="3347"/>
                    <a:pt x="3742" y="2865"/>
                  </a:cubicBezTo>
                  <a:cubicBezTo>
                    <a:pt x="4029" y="2441"/>
                    <a:pt x="4488" y="2188"/>
                    <a:pt x="5004" y="2177"/>
                  </a:cubicBezTo>
                  <a:lnTo>
                    <a:pt x="19064" y="2177"/>
                  </a:lnTo>
                  <a:lnTo>
                    <a:pt x="19064" y="1465"/>
                  </a:lnTo>
                  <a:lnTo>
                    <a:pt x="5004" y="1465"/>
                  </a:lnTo>
                  <a:cubicBezTo>
                    <a:pt x="4499" y="1465"/>
                    <a:pt x="4040" y="1224"/>
                    <a:pt x="3765" y="811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1526;p43">
              <a:extLst>
                <a:ext uri="{FF2B5EF4-FFF2-40B4-BE49-F238E27FC236}">
                  <a16:creationId xmlns:a16="http://schemas.microsoft.com/office/drawing/2014/main" xmlns="" id="{FED320AC-A606-6321-27B3-23394047C358}"/>
                </a:ext>
              </a:extLst>
            </p:cNvPr>
            <p:cNvSpPr/>
            <p:nvPr/>
          </p:nvSpPr>
          <p:spPr>
            <a:xfrm>
              <a:off x="3234603" y="2298535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313"/>
                    <a:pt x="5753" y="10407"/>
                    <a:pt x="8459" y="10407"/>
                  </a:cubicBezTo>
                  <a:cubicBezTo>
                    <a:pt x="8558" y="10407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32"/>
                  </a:lnTo>
                  <a:cubicBezTo>
                    <a:pt x="4695" y="6278"/>
                    <a:pt x="4729" y="4120"/>
                    <a:pt x="6060" y="2800"/>
                  </a:cubicBezTo>
                  <a:cubicBezTo>
                    <a:pt x="6736" y="2136"/>
                    <a:pt x="7616" y="1803"/>
                    <a:pt x="8495" y="1803"/>
                  </a:cubicBezTo>
                  <a:cubicBezTo>
                    <a:pt x="9363" y="1803"/>
                    <a:pt x="10231" y="2127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1527;p43">
              <a:extLst>
                <a:ext uri="{FF2B5EF4-FFF2-40B4-BE49-F238E27FC236}">
                  <a16:creationId xmlns:a16="http://schemas.microsoft.com/office/drawing/2014/main" xmlns="" id="{5A3A3DE7-5A6C-FCD3-BFEB-7CAFB1327E3E}"/>
                </a:ext>
              </a:extLst>
            </p:cNvPr>
            <p:cNvSpPr/>
            <p:nvPr/>
          </p:nvSpPr>
          <p:spPr>
            <a:xfrm>
              <a:off x="3278765" y="2318964"/>
              <a:ext cx="55781" cy="55770"/>
            </a:xfrm>
            <a:custGeom>
              <a:avLst/>
              <a:gdLst/>
              <a:ahLst/>
              <a:cxnLst/>
              <a:rect l="l" t="t" r="r" b="b"/>
              <a:pathLst>
                <a:path w="7610" h="7611" extrusionOk="0">
                  <a:moveTo>
                    <a:pt x="4878" y="1"/>
                  </a:moveTo>
                  <a:lnTo>
                    <a:pt x="4878" y="1"/>
                  </a:ln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6"/>
                    <a:pt x="2435" y="5886"/>
                  </a:cubicBezTo>
                  <a:cubicBezTo>
                    <a:pt x="1552" y="5886"/>
                    <a:pt x="672" y="5550"/>
                    <a:pt x="0" y="4879"/>
                  </a:cubicBezTo>
                  <a:lnTo>
                    <a:pt x="0" y="4879"/>
                  </a:lnTo>
                  <a:lnTo>
                    <a:pt x="2732" y="7610"/>
                  </a:lnTo>
                  <a:cubicBezTo>
                    <a:pt x="5360" y="7461"/>
                    <a:pt x="7460" y="5361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1528;p43">
              <a:extLst>
                <a:ext uri="{FF2B5EF4-FFF2-40B4-BE49-F238E27FC236}">
                  <a16:creationId xmlns:a16="http://schemas.microsoft.com/office/drawing/2014/main" xmlns="" id="{ECEE0A30-27B8-F1F1-FA71-83B8403E0C1D}"/>
                </a:ext>
              </a:extLst>
            </p:cNvPr>
            <p:cNvSpPr/>
            <p:nvPr/>
          </p:nvSpPr>
          <p:spPr>
            <a:xfrm>
              <a:off x="3269004" y="2311754"/>
              <a:ext cx="56287" cy="51058"/>
            </a:xfrm>
            <a:custGeom>
              <a:avLst/>
              <a:gdLst/>
              <a:ahLst/>
              <a:cxnLst/>
              <a:rect l="l" t="t" r="r" b="b"/>
              <a:pathLst>
                <a:path w="7679" h="6968" extrusionOk="0">
                  <a:moveTo>
                    <a:pt x="3790" y="0"/>
                  </a:moveTo>
                  <a:cubicBezTo>
                    <a:pt x="2912" y="0"/>
                    <a:pt x="2035" y="333"/>
                    <a:pt x="1366" y="996"/>
                  </a:cubicBezTo>
                  <a:cubicBezTo>
                    <a:pt x="24" y="2327"/>
                    <a:pt x="1" y="4474"/>
                    <a:pt x="1298" y="5840"/>
                  </a:cubicBezTo>
                  <a:lnTo>
                    <a:pt x="1298" y="5828"/>
                  </a:lnTo>
                  <a:lnTo>
                    <a:pt x="1321" y="5862"/>
                  </a:lnTo>
                  <a:cubicBezTo>
                    <a:pt x="2002" y="6597"/>
                    <a:pt x="2928" y="6968"/>
                    <a:pt x="3856" y="6968"/>
                  </a:cubicBezTo>
                  <a:cubicBezTo>
                    <a:pt x="4739" y="6968"/>
                    <a:pt x="5624" y="6632"/>
                    <a:pt x="6302" y="5954"/>
                  </a:cubicBezTo>
                  <a:cubicBezTo>
                    <a:pt x="7679" y="4566"/>
                    <a:pt x="7645" y="2316"/>
                    <a:pt x="6198" y="985"/>
                  </a:cubicBezTo>
                  <a:cubicBezTo>
                    <a:pt x="5530" y="328"/>
                    <a:pt x="4659" y="0"/>
                    <a:pt x="379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1529;p43">
              <a:extLst>
                <a:ext uri="{FF2B5EF4-FFF2-40B4-BE49-F238E27FC236}">
                  <a16:creationId xmlns:a16="http://schemas.microsoft.com/office/drawing/2014/main" xmlns="" id="{0A4681CB-9A56-674A-3A10-921F61A415E8}"/>
                </a:ext>
              </a:extLst>
            </p:cNvPr>
            <p:cNvSpPr/>
            <p:nvPr/>
          </p:nvSpPr>
          <p:spPr>
            <a:xfrm>
              <a:off x="3216780" y="2404433"/>
              <a:ext cx="90438" cy="76074"/>
            </a:xfrm>
            <a:custGeom>
              <a:avLst/>
              <a:gdLst/>
              <a:ahLst/>
              <a:cxnLst/>
              <a:rect l="l" t="t" r="r" b="b"/>
              <a:pathLst>
                <a:path w="12338" h="10382" extrusionOk="0">
                  <a:moveTo>
                    <a:pt x="6169" y="0"/>
                  </a:moveTo>
                  <a:cubicBezTo>
                    <a:pt x="4129" y="0"/>
                    <a:pt x="2128" y="1197"/>
                    <a:pt x="1308" y="3349"/>
                  </a:cubicBezTo>
                  <a:cubicBezTo>
                    <a:pt x="1" y="6767"/>
                    <a:pt x="2554" y="10381"/>
                    <a:pt x="6151" y="10381"/>
                  </a:cubicBezTo>
                  <a:cubicBezTo>
                    <a:pt x="6250" y="10381"/>
                    <a:pt x="6349" y="10378"/>
                    <a:pt x="6450" y="10373"/>
                  </a:cubicBezTo>
                  <a:lnTo>
                    <a:pt x="3718" y="7630"/>
                  </a:lnTo>
                  <a:cubicBezTo>
                    <a:pt x="3638" y="7550"/>
                    <a:pt x="3557" y="7458"/>
                    <a:pt x="3477" y="7377"/>
                  </a:cubicBezTo>
                  <a:cubicBezTo>
                    <a:pt x="2318" y="5943"/>
                    <a:pt x="2478" y="3854"/>
                    <a:pt x="3844" y="2626"/>
                  </a:cubicBezTo>
                  <a:cubicBezTo>
                    <a:pt x="4504" y="2033"/>
                    <a:pt x="5332" y="1737"/>
                    <a:pt x="6159" y="1737"/>
                  </a:cubicBezTo>
                  <a:cubicBezTo>
                    <a:pt x="7043" y="1737"/>
                    <a:pt x="7925" y="2076"/>
                    <a:pt x="8596" y="2752"/>
                  </a:cubicBezTo>
                  <a:lnTo>
                    <a:pt x="11327" y="5484"/>
                  </a:lnTo>
                  <a:lnTo>
                    <a:pt x="11327" y="5552"/>
                  </a:lnTo>
                  <a:lnTo>
                    <a:pt x="12337" y="5552"/>
                  </a:lnTo>
                  <a:lnTo>
                    <a:pt x="12337" y="4841"/>
                  </a:lnTo>
                  <a:lnTo>
                    <a:pt x="11327" y="4841"/>
                  </a:lnTo>
                  <a:cubicBezTo>
                    <a:pt x="11247" y="3590"/>
                    <a:pt x="10708" y="2408"/>
                    <a:pt x="9824" y="1524"/>
                  </a:cubicBezTo>
                  <a:cubicBezTo>
                    <a:pt x="8787" y="487"/>
                    <a:pt x="7470" y="0"/>
                    <a:pt x="616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1530;p43">
              <a:extLst>
                <a:ext uri="{FF2B5EF4-FFF2-40B4-BE49-F238E27FC236}">
                  <a16:creationId xmlns:a16="http://schemas.microsoft.com/office/drawing/2014/main" xmlns="" id="{85A190B1-51E7-9661-9A35-CAA74179A202}"/>
                </a:ext>
              </a:extLst>
            </p:cNvPr>
            <p:cNvSpPr/>
            <p:nvPr/>
          </p:nvSpPr>
          <p:spPr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1531;p43">
              <a:extLst>
                <a:ext uri="{FF2B5EF4-FFF2-40B4-BE49-F238E27FC236}">
                  <a16:creationId xmlns:a16="http://schemas.microsoft.com/office/drawing/2014/main" xmlns="" id="{3AED4E28-23C0-8EAB-FFB2-24981CB95215}"/>
                </a:ext>
              </a:extLst>
            </p:cNvPr>
            <p:cNvSpPr/>
            <p:nvPr/>
          </p:nvSpPr>
          <p:spPr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1532;p43">
              <a:extLst>
                <a:ext uri="{FF2B5EF4-FFF2-40B4-BE49-F238E27FC236}">
                  <a16:creationId xmlns:a16="http://schemas.microsoft.com/office/drawing/2014/main" xmlns="" id="{24104419-6C77-E9E0-FA5F-B42B15D8C999}"/>
                </a:ext>
              </a:extLst>
            </p:cNvPr>
            <p:cNvSpPr/>
            <p:nvPr/>
          </p:nvSpPr>
          <p:spPr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1533;p43">
              <a:extLst>
                <a:ext uri="{FF2B5EF4-FFF2-40B4-BE49-F238E27FC236}">
                  <a16:creationId xmlns:a16="http://schemas.microsoft.com/office/drawing/2014/main" xmlns="" id="{044692D3-223B-0ECF-5ADA-44822F1079C5}"/>
                </a:ext>
              </a:extLst>
            </p:cNvPr>
            <p:cNvSpPr/>
            <p:nvPr/>
          </p:nvSpPr>
          <p:spPr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1534;p43">
              <a:extLst>
                <a:ext uri="{FF2B5EF4-FFF2-40B4-BE49-F238E27FC236}">
                  <a16:creationId xmlns:a16="http://schemas.microsoft.com/office/drawing/2014/main" xmlns="" id="{C9F9F130-6EF2-A3ED-1A63-4F0FE72B3F40}"/>
                </a:ext>
              </a:extLst>
            </p:cNvPr>
            <p:cNvSpPr/>
            <p:nvPr/>
          </p:nvSpPr>
          <p:spPr>
            <a:xfrm>
              <a:off x="3234603" y="2510888"/>
              <a:ext cx="101301" cy="76184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1535;p43">
              <a:extLst>
                <a:ext uri="{FF2B5EF4-FFF2-40B4-BE49-F238E27FC236}">
                  <a16:creationId xmlns:a16="http://schemas.microsoft.com/office/drawing/2014/main" xmlns="" id="{EE21FA18-37FC-F176-9C89-8ED6EFBF008A}"/>
                </a:ext>
              </a:extLst>
            </p:cNvPr>
            <p:cNvSpPr/>
            <p:nvPr/>
          </p:nvSpPr>
          <p:spPr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1536;p43">
              <a:extLst>
                <a:ext uri="{FF2B5EF4-FFF2-40B4-BE49-F238E27FC236}">
                  <a16:creationId xmlns:a16="http://schemas.microsoft.com/office/drawing/2014/main" xmlns="" id="{9B5FAEBA-09EB-965A-FA8E-42E3E59BF4CB}"/>
                </a:ext>
              </a:extLst>
            </p:cNvPr>
            <p:cNvSpPr/>
            <p:nvPr/>
          </p:nvSpPr>
          <p:spPr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0791" y="1563624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80" y="131673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sz="1700" b="1">
                <a:solidFill>
                  <a:srgbClr val="FF0053"/>
                </a:solidFill>
                <a:latin typeface="Montserrat"/>
              </a:rPr>
              <a:t>Сегодня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1719072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0">
                <a:solidFill>
                  <a:srgbClr val="FFFFFF"/>
                </a:solidFill>
                <a:latin typeface="Montserrat"/>
              </a:rPr>
              <a:t>Работает стенд: три региона Билайна, ночной план, события с вариантами, «Почему?» и помощник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90104" y="2331720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75320" y="2084831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700" b="1">
                <a:solidFill>
                  <a:srgbClr val="FFD6E4"/>
                </a:solidFill>
                <a:latin typeface="Montserrat"/>
              </a:rPr>
              <a:t>Модель в контуре Билайна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487168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Помощник на модели внутри контура, с инструментами чтения вместо всего дня одним JSON: данные клиентов не покидают контур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50791" y="3154680"/>
            <a:ext cx="420624" cy="4206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11480" y="290779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sz="1700" b="1">
                <a:solidFill>
                  <a:srgbClr val="FFD6E4"/>
                </a:solidFill>
                <a:latin typeface="Montserrat"/>
              </a:rPr>
              <a:t>События от инженеров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31012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0">
                <a:solidFill>
                  <a:srgbClr val="FFFFFF"/>
                </a:solidFill>
                <a:latin typeface="Montserrat"/>
              </a:rPr>
              <a:t>Выехал, на месте, закончил, задерживаюсь — день пересчитывается сам, диспетчер разбирает исключения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90104" y="3977639"/>
            <a:ext cx="420624" cy="4206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75320" y="373075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700" b="1">
                <a:solidFill>
                  <a:srgbClr val="FFD6E4"/>
                </a:solidFill>
                <a:latin typeface="Montserrat"/>
              </a:rPr>
              <a:t>Пробки по времени выезда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133088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Калибровка по истории вместо коэффициента часа; общественный транспорт — по расписаниям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050791" y="4809744"/>
            <a:ext cx="420624" cy="42062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1480" y="456285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sz="1700" b="1">
                <a:solidFill>
                  <a:srgbClr val="FFD6E4"/>
                </a:solidFill>
                <a:latin typeface="Montserrat"/>
              </a:rPr>
              <a:t>Обратная связь диспетчера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4965192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0">
                <a:solidFill>
                  <a:srgbClr val="FFFFFF"/>
                </a:solidFill>
                <a:latin typeface="Montserrat"/>
              </a:rPr>
              <a:t>Что он поменял руками и почему; пополнение оборудования днём, работы на двух инженеров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690104" y="5632703"/>
            <a:ext cx="420624" cy="42062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75320" y="538581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700" b="1">
                <a:solidFill>
                  <a:srgbClr val="FFD6E4"/>
                </a:solidFill>
                <a:latin typeface="Montserrat"/>
              </a:rPr>
              <a:t>Несколько регионов сразу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788152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Бригада на границе района берёт заявки соседнего региона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20977"/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Карточка pill"/>
          <p:cNvSpPr/>
          <p:nvPr/>
        </p:nvSpPr>
        <p:spPr>
          <a:xfrm>
            <a:off x="347472" y="320040"/>
            <a:ext cx="5100828" cy="621792"/>
          </a:xfrm>
          <a:prstGeom prst="roundRect">
            <a:avLst>
              <a:gd name="adj" fmla="val 20588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73152" bIns="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КАК ПОСМОТРЕТЬ И ПРОВЕРИТЬ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84" y="1549224"/>
            <a:ext cx="5037871" cy="37797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" y="1188720"/>
            <a:ext cx="5760720" cy="4502632"/>
          </a:xfrm>
          <a:prstGeom prst="rect">
            <a:avLst/>
          </a:prstGeom>
        </p:spPr>
      </p:pic>
      <p:sp>
        <p:nvSpPr>
          <p:cNvPr id="8" name="Карточка"/>
          <p:cNvSpPr/>
          <p:nvPr/>
        </p:nvSpPr>
        <p:spPr>
          <a:xfrm>
            <a:off x="6537960" y="1216152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66560" y="1371600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Демо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647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FF0053"/>
                </a:solidFill>
                <a:latin typeface="Montserrat"/>
              </a:rPr>
              <a:t>81.26.188.190.nip.io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7568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A5670"/>
                </a:solidFill>
                <a:latin typeface="Montserrat"/>
              </a:rPr>
              <a:t>Логин и пароль — в описании решения на платформе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6537960" y="2679191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766560" y="2834639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278892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Код и видео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2783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FF0053"/>
                </a:solidFill>
                <a:latin typeface="Montserrat"/>
              </a:rPr>
              <a:t>github.com/earlyr1/beeline-routing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538727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A5670"/>
                </a:solidFill>
                <a:latin typeface="Montserrat"/>
              </a:rPr>
              <a:t>Репозиторий </a:t>
            </a:r>
            <a:r>
              <a:rPr lang="ru-RU" sz="1150" b="0" dirty="0" smtClean="0">
                <a:solidFill>
                  <a:srgbClr val="5A5670"/>
                </a:solidFill>
                <a:latin typeface="Montserrat"/>
              </a:rPr>
              <a:t>открытый</a:t>
            </a:r>
            <a:r>
              <a:rPr sz="1150" b="0" smtClean="0">
                <a:solidFill>
                  <a:srgbClr val="5A5670"/>
                </a:solidFill>
                <a:latin typeface="Montserrat"/>
              </a:rPr>
              <a:t>. </a:t>
            </a:r>
            <a:r>
              <a:rPr sz="1150" b="0">
                <a:solidFill>
                  <a:srgbClr val="5A5670"/>
                </a:solidFill>
                <a:latin typeface="Montserrat"/>
              </a:rPr>
              <a:t>Видео 6 мин с субтитрами — в README</a:t>
            </a:r>
          </a:p>
        </p:txBody>
      </p:sp>
      <p:sp>
        <p:nvSpPr>
          <p:cNvPr id="18" name="Карточка"/>
          <p:cNvSpPr/>
          <p:nvPr/>
        </p:nvSpPr>
        <p:spPr>
          <a:xfrm>
            <a:off x="6537960" y="4142232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66560" y="4297680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42519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Команда «Двое из ларца»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9087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FF0053"/>
                </a:solidFill>
                <a:latin typeface="Montserrat"/>
              </a:rPr>
              <a:t>t.me/kfkfkfo · t.me/polessshhh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0017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A5670"/>
                </a:solidFill>
                <a:latin typeface="Montserrat"/>
              </a:rPr>
              <a:t>Контакты в Telegram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11294</TotalTime>
  <Words>2040</Words>
  <Application>Microsoft Macintosh PowerPoint</Application>
  <PresentationFormat>Произвольный</PresentationFormat>
  <Paragraphs>252</Paragraphs>
  <Slides>18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Для Академия инноваторов 16_9</vt:lpstr>
      <vt:lpstr>Двое из ларца</vt:lpstr>
      <vt:lpstr>КОМАНДА “ДВОЕ ИЗ ЛАРЦА”</vt:lpstr>
      <vt:lpstr>КОМАНДА “ДВОЕ ИЗ ЛАРЦА”</vt:lpstr>
      <vt:lpstr>КОМАНДА “ДВОЕ ИЗ ЛАРЦА”</vt:lpstr>
      <vt:lpstr>КОРОТКО О РЕШЕНИИ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Пользователь Windows</cp:lastModifiedBy>
  <cp:revision>122</cp:revision>
  <dcterms:created xsi:type="dcterms:W3CDTF">2023-05-15T07:36:23Z</dcterms:created>
  <dcterms:modified xsi:type="dcterms:W3CDTF">2026-09-27T23:50:00Z</dcterms:modified>
</cp:coreProperties>
</file>